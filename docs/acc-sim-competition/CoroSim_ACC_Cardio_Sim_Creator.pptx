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e1564c6-3138-0b47-946f-52b26341d685}">
          <p14:sldIdLst>
            <p14:sldId id="256"/>
            <p14:sldId id="257"/>
            <p14:sldId id="258"/>
          </p14:sldIdLst>
        </p14:section>
        <p14:section name="01 Problem and efficacy" id="{d3e77ffa-3795-4237-7fc8-5211310b2d8f}">
          <p14:sldIdLst>
            <p14:sldId id="259"/>
            <p14:sldId id="260"/>
            <p14:sldId id="261"/>
            <p14:sldId id="262"/>
            <p14:sldId id="263"/>
            <p14:sldId id="264"/>
            <p14:sldId id="265"/>
            <p14:sldId id="266"/>
            <p14:sldId id="267"/>
          </p14:sldIdLst>
        </p14:section>
        <p14:section name="02 Skillsets" id="{14278f72-47a4-7910-d560-b02376020eb3}">
          <p14:sldIdLst>
            <p14:sldId id="268"/>
          </p14:sldIdLst>
        </p14:section>
        <p14:section name="03 Audience" id="{15563bf6-1dc1-124e-0d3d-698e989bd704}">
          <p14:sldIdLst>
            <p14:sldId id="269"/>
          </p14:sldIdLst>
        </p14:section>
        <p14:section name="04 Assessment" id="{e265cd47-269c-7aeb-8c38-f9f494a48a8d}">
          <p14:sldIdLst>
            <p14:sldId id="270"/>
          </p14:sldIdLst>
        </p14:section>
        <p14:section name="05 Significance and integration" id="{95806d0e-ca2f-8779-f89a-69ff9d3e61ee}">
          <p14:sldIdLst>
            <p14:sldId id="271"/>
            <p14:sldId id="272"/>
          </p14:sldIdLst>
        </p14:section>
        <p14:section name="Close" id="{fe84fa7f-546d-0f3c-b753-4b8294b38f48}">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homepage heart: a weighted Voronoi stipple drawn from the simulator's own coronary tree, colored by nearness to a vessel. One sentence pitch: CoroSim lets a learner block any coronary artery and watch the whole patient respond (ECG, rhythm, pressure, reflexes, infarct), then treat them while the muscle is dying.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page runs on the same simulation core, so the heart, the 12-lead, the angiogram and the pressures all agree with one another. The model is seeded and reproducible; constants are tagged literature-backed or assumed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are about how trainees feel and how they perform: anxiety and low confidence with the ECG (El-Baba 2023; Liang 2025), scarce simulation access (SCAI survey, Lee 2025), and the fact that more lectures raise confidence without raising accuracy (Esomonye 2026). The common thread: learners need repetitions with feedback, and they need to see why a tracing looks the way it does. Full citations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Efficacy argument: CoroSim targets mechanism, not memorization. Because the ECG is computed from the injury current of the ischemic bed, a learner who moves the lesion sees the lead pattern move with it. That is the cause-and-effect loop that lectures and flash cards cannot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corosim.com/sim. The learner chooses a vessel, a position and a stenosis (or occlusion), optionally exertion. Variants include left dominance, ramus intermedius, absent left main, wrap-around LAD, and the origin of the SA- and AV-nodal arteries.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ECG shown is the simulator's own: ST elevation I, aVL, V1 to V6 with reciprocal depression in III and aVF from a proximal LAD occlusion. The Assessment tab lists live problems and, on request, the guideline order of steps, so a learner can decide first and check after. Warnings fire for harmful choices: nitrate in an RV infarct, a pressor in pump failure, dobutamine in ischemic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corosim.com/game. Up to 170 points per case. Every case is checked to be solvable from the physics. The debrief explains what the lesion did to the tracing and compares the infarct with immediate PCI and with no reperfusion. Streaks and a spoiler-free share line encourage daily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corosim.com/ekg. Acute coronary presets take their ST vector from the coronary model with a real lesion. 'Ask Claude' opens the tracing in Claude; an AI can also build tracings the library does not have from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corosim.com/cath. Case library: normal, mid-LAD 50% and 75%, proximal LAD, RCA and circumflex occlusions, left main 90%. The simulator's 'Cath lab' link brings the learner's own patient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corosim.com/structural. Shown: tetralogy of Fallot, with aortic desaturation to 88%, a severe pulmonary gradient and equal LV and RV pressures. Sliders let the learner provoke a tet spell (tighter outflow, lower systemic resistance) and relieve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corosim.com/echo. The loops are real normal studies (ECHOpedia, CC BY-SA). The 3D view shows where the plane cuts the heart, which is what learners usually cannot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map to ACGME Medical Knowledge and Patient Care: clinical reasoning from data (ECG, monitor, angiogram) to diagnosis, then to time-critical management with feedback on harm. Tags show which pages practice each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audience: internal medicine and emergency medicine residents and general cardiology fellows, the learners who read the first ECG and make the first STEMI and shock decisions. Secondary: medical students (physiology and clerkships), nurses and APPs in the CCU and cath lab, and practicing clinicians refreshing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placeholder metrics in italics, to be finalized. The box at the bottom lists what the game already scores, which can serve as objective in-simulation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SUBMISSION TEXT (Significance and Seamless Integration):
Cardiology is learned by connecting cause to effect: an occluded artery to an ischemic wall, that wall to the ST segments, the failing ventricle to the blood pressure, and each treatment to its cost. Most curricula teach these links separately, in lectures, ECG flash cards and occasional mannequin sessions, and trainees report the result: anxiety and low confidence reading ECGs, and too little access to simulation. CoroSim joins the links. One closed-loop model of the coronary tree, the myocardium, the ECG and the circulation drives every page, so a learner who moves a lesion sees the whole patient change, and then has to treat that patient while the muscle is dying.
CoroSim is built to fit into what programs already do rather than replace it. It runs free in any browser with no installation, account or license, so it works on a learner's phone, a conference-room projector or a workstation in the CCU. Faculty can open a specific patient, tracing or cath case from a link and use it in ECG conference, morning report, flipped-classroom pre-work, boot camps or physiology labs, or embed the link in an LMS module or exam. The daily 'Find the culprit' case gives spaced practice with scored feedback, and an optional AI connection lets Claude or ChatGPT run Socratic rounds on the learner's own patient. CoroSim comes before high-fidelity and procedural simulation, so expensive lab time can go to hands-on skills and teamwork while the reasoning is practiced everywhere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corosim.com/sim/#s=… opens a set patient; corosim.com/ekg/#p=stemi-anterior opens a preset; corosim.com/cath/#case=ladocc opens a cath case. Connect AI uses the MCP connector at mcp.corosim.com.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417320"/>
            <a:ext cx="4206240" cy="9144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457200" y="2468880"/>
            <a:ext cx="402336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100" kern="0" dirty="0">
                <a:solidFill>
                  <a:schemeClr val="accent1"/>
                </a:solidFill>
                <a:latin typeface="Courier New" pitchFamily="34" charset="0"/>
                <a:ea typeface="Courier New" pitchFamily="34" charset="-122"/>
                <a:cs typeface="Courier New" pitchFamily="34" charset="-120"/>
              </a:defRPr>
            </a:lvl1pPr>
          </a:lstStyle>
          <a:p>
            <a:pPr indent="0" marL="0">
              <a:buNone/>
            </a:pP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4"/>
                </a:solidFill>
                <a:latin typeface="Courier New" pitchFamily="34" charset="0"/>
                <a:ea typeface="Courier New" pitchFamily="34" charset="-122"/>
                <a:cs typeface="Courier New" pitchFamily="34" charset="-120"/>
              </a:rPr>
              <a:t>CoroSim  ·  ACC Cardio Sim Creator Competition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oronoi-stippled heart" descr="CoroSim's Voronoi-stippled human heart, vessels hot against the muscle">    </p:cNvPr>
          <p:cNvPicPr>
            <a:picLocks noChangeAspect="1"/>
          </p:cNvPicPr>
          <p:nvPr/>
        </p:nvPicPr>
        <p:blipFill>
          <a:blip r:embed="rId1"/>
          <a:stretch>
            <a:fillRect/>
          </a:stretch>
        </p:blipFill>
        <p:spPr>
          <a:xfrm>
            <a:off x="4572000" y="91440"/>
            <a:ext cx="4389120" cy="4591251"/>
          </a:xfrm>
          <a:prstGeom prst="rect">
            <a:avLst/>
          </a:prstGeom>
        </p:spPr>
      </p:pic>
      <p:sp>
        <p:nvSpPr>
          <p:cNvPr id="3" name="Text 0"/>
          <p:cNvSpPr txBox="1"/>
          <p:nvPr/>
        </p:nvSpPr>
        <p:spPr>
          <a:xfrm>
            <a:off x="457200" y="1005840"/>
            <a:ext cx="4023360" cy="274320"/>
          </a:xfrm>
          <a:prstGeom prst="rect">
            <a:avLst/>
          </a:prstGeom>
          <a:noFill/>
          <a:ln/>
        </p:spPr>
        <p:txBody>
          <a:bodyPr wrap="square" lIns="0" tIns="0" rIns="0" bIns="0" rtlCol="0" anchor="ctr"/>
          <a:lstStyle/>
          <a:p>
            <a:pPr indent="0" marL="0">
              <a:buNone/>
            </a:pPr>
            <a:r>
              <a:rPr lang="en-US" sz="1100" b="1" spc="100" kern="0" dirty="0">
                <a:solidFill>
                  <a:schemeClr val="accent2"/>
                </a:solidFill>
                <a:latin typeface="Courier New" pitchFamily="34" charset="0"/>
                <a:ea typeface="Courier New" pitchFamily="34" charset="-122"/>
                <a:cs typeface="Courier New" pitchFamily="34" charset="-120"/>
              </a:rPr>
              <a:t>ACC CARDIO SIM CREATOR COMPETITION</a:t>
            </a:r>
            <a:endParaRPr lang="en-US" sz="1100" dirty="0"/>
          </a:p>
        </p:txBody>
      </p:sp>
      <p:sp>
        <p:nvSpPr>
          <p:cNvPr id="4" name="Text 0"/>
          <p:cNvSpPr/>
          <p:nvPr>
            <p:ph idx="100" type="title" hasCustomPrompt="1"/>
          </p:nvPr>
        </p:nvSpPr>
        <p:spPr>
          <a:xfrm>
            <a:off x="457200" y="1417320"/>
            <a:ext cx="4206240" cy="914400"/>
          </a:xfrm>
          <a:prstGeom prst="rect">
            <a:avLst/>
          </a:prstGeom>
          <a:noFill/>
          <a:ln/>
        </p:spPr>
        <p:txBody>
          <a:bodyPr wrap="square" lIns="0" tIns="0" rIns="0" bIns="0" rtlCol="0" anchor="t"/>
          <a:lstStyle/>
          <a:p>
            <a:pPr algn="l" indent="0" marL="0">
              <a:buNone/>
            </a:pPr>
            <a:r>
              <a:rPr lang="en-US" sz="5400" b="1" dirty="0">
                <a:solidFill>
                  <a:schemeClr val="bg1"/>
                </a:solidFill>
              </a:rPr>
              <a:t>CoroSim</a:t>
            </a:r>
            <a:endParaRPr lang="en-US" sz="5400" dirty="0"/>
          </a:p>
        </p:txBody>
      </p:sp>
      <p:sp>
        <p:nvSpPr>
          <p:cNvPr id="5" name="Text 0"/>
          <p:cNvSpPr/>
          <p:nvPr>
            <p:ph idx="101" type="body" hasCustomPrompt="1"/>
          </p:nvPr>
        </p:nvSpPr>
        <p:spPr>
          <a:xfrm>
            <a:off x="457200" y="2468880"/>
            <a:ext cx="4023360" cy="1097280"/>
          </a:xfrm>
          <a:prstGeom prst="rect">
            <a:avLst/>
          </a:prstGeom>
          <a:noFill/>
          <a:ln/>
        </p:spPr>
        <p:txBody>
          <a:bodyPr wrap="square" lIns="0" tIns="0" rIns="0" bIns="0" rtlCol="0" anchor="t"/>
          <a:lstStyle/>
          <a:p>
            <a:pPr algn="l" indent="0" marL="0">
              <a:buNone/>
            </a:pPr>
            <a:r>
              <a:rPr lang="en-US" sz="1800" dirty="0">
                <a:solidFill>
                  <a:schemeClr val="bg2"/>
                </a:solidFill>
              </a:rPr>
              <a:t>A closed-loop cardiovascular simulator for learning cardiology by doing</a:t>
            </a:r>
            <a:endParaRPr lang="en-US" sz="1800" dirty="0"/>
          </a:p>
        </p:txBody>
      </p:sp>
      <p:sp>
        <p:nvSpPr>
          <p:cNvPr id="6" name="Text 3"/>
          <p:cNvSpPr txBox="1"/>
          <p:nvPr/>
        </p:nvSpPr>
        <p:spPr>
          <a:xfrm>
            <a:off x="457200" y="4160520"/>
            <a:ext cx="3657600" cy="320040"/>
          </a:xfrm>
          <a:prstGeom prst="rect">
            <a:avLst/>
          </a:prstGeom>
          <a:noFill/>
          <a:ln/>
        </p:spPr>
        <p:txBody>
          <a:bodyPr wrap="square" lIns="0" tIns="0" rIns="0" bIns="0" rtlCol="0" anchor="ctr"/>
          <a:lstStyle/>
          <a:p>
            <a:pPr indent="0" marL="0">
              <a:buNone/>
            </a:pPr>
            <a:r>
              <a:rPr lang="en-US" sz="1400" dirty="0">
                <a:solidFill>
                  <a:schemeClr val="accent3"/>
                </a:solidFill>
                <a:latin typeface="Courier New" pitchFamily="34" charset="0"/>
                <a:ea typeface="Courier New" pitchFamily="34" charset="-122"/>
                <a:cs typeface="Courier New" pitchFamily="34" charset="-120"/>
              </a:rPr>
              <a:t>corosim.com</a:t>
            </a:r>
            <a:endParaRPr lang="en-US" sz="1400" dirty="0"/>
          </a:p>
        </p:txBody>
      </p:sp>
      <p:sp>
        <p:nvSpPr>
          <p:cNvPr id="7" name="Text 4"/>
          <p:cNvSpPr txBox="1"/>
          <p:nvPr/>
        </p:nvSpPr>
        <p:spPr>
          <a:xfrm>
            <a:off x="4754880" y="4800600"/>
            <a:ext cx="4114800" cy="228600"/>
          </a:xfrm>
          <a:prstGeom prst="rect">
            <a:avLst/>
          </a:prstGeom>
          <a:noFill/>
          <a:ln/>
        </p:spPr>
        <p:txBody>
          <a:bodyPr wrap="square" lIns="0" tIns="0" rIns="0" bIns="0" rtlCol="0" anchor="ctr"/>
          <a:lstStyle/>
          <a:p>
            <a:pPr algn="r" indent="0" marL="0">
              <a:buNone/>
            </a:pPr>
            <a:r>
              <a:rPr lang="en-US" sz="900" dirty="0">
                <a:solidFill>
                  <a:schemeClr val="accent4"/>
                </a:solidFill>
              </a:rPr>
              <a:t>Heart: weighted Voronoi stipple of CoroSim's own coronary tree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COROSIM AT A GLANCE</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One simulated patient, six ways to learn from it</a:t>
            </a:r>
            <a:endParaRPr lang="en-US" sz="2600" dirty="0"/>
          </a:p>
        </p:txBody>
      </p:sp>
      <p:pic>
        <p:nvPicPr>
          <p:cNvPr id="4" name="Simulator screenshot: occluded LAD" descr="Simulator screenshot: occluded LAD">    </p:cNvPr>
          <p:cNvPicPr>
            <a:picLocks noChangeAspect="1"/>
          </p:cNvPicPr>
          <p:nvPr/>
        </p:nvPicPr>
        <p:blipFill>
          <a:blip r:embed="rId1"/>
          <a:stretch>
            <a:fillRect/>
          </a:stretch>
        </p:blipFill>
        <p:spPr>
          <a:xfrm>
            <a:off x="457200" y="1188720"/>
            <a:ext cx="5394960" cy="309401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457200" y="4343400"/>
            <a:ext cx="5394960" cy="365760"/>
          </a:xfrm>
          <a:prstGeom prst="rect">
            <a:avLst/>
          </a:prstGeom>
          <a:noFill/>
          <a:ln/>
        </p:spPr>
        <p:txBody>
          <a:bodyPr wrap="square" lIns="0" tIns="0" rIns="0" bIns="0" rtlCol="0" anchor="t"/>
          <a:lstStyle/>
          <a:p>
            <a:pPr indent="0" marL="0">
              <a:buNone/>
            </a:pPr>
            <a:r>
              <a:rPr lang="en-US" sz="1000" dirty="0">
                <a:solidFill>
                  <a:schemeClr val="accent4"/>
                </a:solidFill>
              </a:rPr>
              <a:t>Proximal LAD occlusion, 47 clinical minutes in: anterior ST elevation, 43% of myocardium ischemic, LVEF down to 37%.</a:t>
            </a:r>
            <a:endParaRPr lang="en-US" sz="1000" dirty="0"/>
          </a:p>
        </p:txBody>
      </p:sp>
      <p:sp>
        <p:nvSpPr>
          <p:cNvPr id="6" name="Text 3"/>
          <p:cNvSpPr txBox="1"/>
          <p:nvPr/>
        </p:nvSpPr>
        <p:spPr>
          <a:xfrm>
            <a:off x="6217920" y="1188720"/>
            <a:ext cx="2468880" cy="457200"/>
          </a:xfrm>
          <a:prstGeom prst="rect">
            <a:avLst/>
          </a:prstGeom>
          <a:noFill/>
          <a:ln/>
        </p:spPr>
        <p:txBody>
          <a:bodyPr wrap="square" lIns="0" tIns="0" rIns="0" bIns="0" rtlCol="0" anchor="ctr"/>
          <a:lstStyle/>
          <a:p>
            <a:pPr indent="0" marL="0">
              <a:buNone/>
            </a:pPr>
            <a:r>
              <a:rPr lang="en-US" sz="3200" b="1" dirty="0">
                <a:solidFill>
                  <a:schemeClr val="accent1"/>
                </a:solidFill>
              </a:rPr>
              <a:t>6</a:t>
            </a:r>
            <a:endParaRPr lang="en-US" sz="3200" dirty="0"/>
          </a:p>
        </p:txBody>
      </p:sp>
      <p:sp>
        <p:nvSpPr>
          <p:cNvPr id="7" name="Text 4"/>
          <p:cNvSpPr txBox="1"/>
          <p:nvPr/>
        </p:nvSpPr>
        <p:spPr>
          <a:xfrm>
            <a:off x="6217920" y="1645920"/>
            <a:ext cx="2468880" cy="502920"/>
          </a:xfrm>
          <a:prstGeom prst="rect">
            <a:avLst/>
          </a:prstGeom>
          <a:noFill/>
          <a:ln/>
        </p:spPr>
        <p:txBody>
          <a:bodyPr wrap="square" lIns="0" tIns="0" rIns="0" bIns="0" rtlCol="0" anchor="t"/>
          <a:lstStyle/>
          <a:p>
            <a:pPr indent="0" marL="0">
              <a:buNone/>
            </a:pPr>
            <a:r>
              <a:rPr lang="en-US" sz="1200" dirty="0">
                <a:solidFill>
                  <a:schemeClr val="tx1"/>
                </a:solidFill>
              </a:rPr>
              <a:t>linked pages: simulator, daily case, EKG, cath lab, structural, echo</a:t>
            </a:r>
            <a:endParaRPr lang="en-US" sz="1200" dirty="0"/>
          </a:p>
        </p:txBody>
      </p:sp>
      <p:sp>
        <p:nvSpPr>
          <p:cNvPr id="8" name="Text 5"/>
          <p:cNvSpPr txBox="1"/>
          <p:nvPr/>
        </p:nvSpPr>
        <p:spPr>
          <a:xfrm>
            <a:off x="6217920" y="2240280"/>
            <a:ext cx="2468880" cy="457200"/>
          </a:xfrm>
          <a:prstGeom prst="rect">
            <a:avLst/>
          </a:prstGeom>
          <a:noFill/>
          <a:ln/>
        </p:spPr>
        <p:txBody>
          <a:bodyPr wrap="square" lIns="0" tIns="0" rIns="0" bIns="0" rtlCol="0" anchor="ctr"/>
          <a:lstStyle/>
          <a:p>
            <a:pPr indent="0" marL="0">
              <a:buNone/>
            </a:pPr>
            <a:r>
              <a:rPr lang="en-US" sz="3200" b="1" dirty="0">
                <a:solidFill>
                  <a:schemeClr val="accent1"/>
                </a:solidFill>
              </a:rPr>
              <a:t>50+</a:t>
            </a:r>
            <a:endParaRPr lang="en-US" sz="3200" dirty="0"/>
          </a:p>
        </p:txBody>
      </p:sp>
      <p:sp>
        <p:nvSpPr>
          <p:cNvPr id="9" name="Text 6"/>
          <p:cNvSpPr txBox="1"/>
          <p:nvPr/>
        </p:nvSpPr>
        <p:spPr>
          <a:xfrm>
            <a:off x="6217920" y="2697480"/>
            <a:ext cx="2468880" cy="502920"/>
          </a:xfrm>
          <a:prstGeom prst="rect">
            <a:avLst/>
          </a:prstGeom>
          <a:noFill/>
          <a:ln/>
        </p:spPr>
        <p:txBody>
          <a:bodyPr wrap="square" lIns="0" tIns="0" rIns="0" bIns="0" rtlCol="0" anchor="t"/>
          <a:lstStyle/>
          <a:p>
            <a:pPr indent="0" marL="0">
              <a:buNone/>
            </a:pPr>
            <a:r>
              <a:rPr lang="en-US" sz="1200" dirty="0">
                <a:solidFill>
                  <a:schemeClr val="tx1"/>
                </a:solidFill>
              </a:rPr>
              <a:t>EKG presets, plus custom tracings built on request</a:t>
            </a:r>
            <a:endParaRPr lang="en-US" sz="1200" dirty="0"/>
          </a:p>
        </p:txBody>
      </p:sp>
      <p:sp>
        <p:nvSpPr>
          <p:cNvPr id="10" name="Text 7"/>
          <p:cNvSpPr txBox="1"/>
          <p:nvPr/>
        </p:nvSpPr>
        <p:spPr>
          <a:xfrm>
            <a:off x="6217920" y="3291840"/>
            <a:ext cx="2468880" cy="457200"/>
          </a:xfrm>
          <a:prstGeom prst="rect">
            <a:avLst/>
          </a:prstGeom>
          <a:noFill/>
          <a:ln/>
        </p:spPr>
        <p:txBody>
          <a:bodyPr wrap="square" lIns="0" tIns="0" rIns="0" bIns="0" rtlCol="0" anchor="ctr"/>
          <a:lstStyle/>
          <a:p>
            <a:pPr indent="0" marL="0">
              <a:buNone/>
            </a:pPr>
            <a:r>
              <a:rPr lang="en-US" sz="3200" b="1" dirty="0">
                <a:solidFill>
                  <a:schemeClr val="accent1"/>
                </a:solidFill>
              </a:rPr>
              <a:t>$0</a:t>
            </a:r>
            <a:endParaRPr lang="en-US" sz="3200" dirty="0"/>
          </a:p>
        </p:txBody>
      </p:sp>
      <p:sp>
        <p:nvSpPr>
          <p:cNvPr id="11" name="Text 8"/>
          <p:cNvSpPr txBox="1"/>
          <p:nvPr/>
        </p:nvSpPr>
        <p:spPr>
          <a:xfrm>
            <a:off x="6217920" y="3749040"/>
            <a:ext cx="2468880" cy="502920"/>
          </a:xfrm>
          <a:prstGeom prst="rect">
            <a:avLst/>
          </a:prstGeom>
          <a:noFill/>
          <a:ln/>
        </p:spPr>
        <p:txBody>
          <a:bodyPr wrap="square" lIns="0" tIns="0" rIns="0" bIns="0" rtlCol="0" anchor="t"/>
          <a:lstStyle/>
          <a:p>
            <a:pPr indent="0" marL="0">
              <a:buNone/>
            </a:pPr>
            <a:r>
              <a:rPr lang="en-US" sz="1200" dirty="0">
                <a:solidFill>
                  <a:schemeClr val="tx1"/>
                </a:solidFill>
              </a:rPr>
              <a:t>free in any browser: no install, account or license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WHAT THIS SUBMISSION ANSWERS</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The five competition criteria</a:t>
            </a:r>
            <a:endParaRPr lang="en-US" sz="2600" dirty="0"/>
          </a:p>
        </p:txBody>
      </p:sp>
      <p:sp>
        <p:nvSpPr>
          <p:cNvPr id="4" name="criterion card 01"/>
          <p:cNvSpPr/>
          <p:nvPr/>
        </p:nvSpPr>
        <p:spPr>
          <a:xfrm>
            <a:off x="457200" y="1234440"/>
            <a:ext cx="8229600" cy="548640"/>
          </a:xfrm>
          <a:prstGeom prst="roundRect">
            <a:avLst>
              <a:gd name="adj" fmla="val 13333"/>
            </a:avLst>
          </a:prstGeom>
          <a:solidFill>
            <a:schemeClr val="bg2"/>
          </a:solidFill>
          <a:ln/>
        </p:spPr>
      </p:sp>
      <p:sp>
        <p:nvSpPr>
          <p:cNvPr id="5" name="Text 3"/>
          <p:cNvSpPr txBox="1"/>
          <p:nvPr/>
        </p:nvSpPr>
        <p:spPr>
          <a:xfrm>
            <a:off x="640080" y="1234440"/>
            <a:ext cx="6400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01</a:t>
            </a:r>
            <a:endParaRPr lang="en-US" sz="1800" dirty="0"/>
          </a:p>
        </p:txBody>
      </p:sp>
      <p:sp>
        <p:nvSpPr>
          <p:cNvPr id="6" name="Text 4"/>
          <p:cNvSpPr txBox="1"/>
          <p:nvPr/>
        </p:nvSpPr>
        <p:spPr>
          <a:xfrm>
            <a:off x="1325880" y="1234440"/>
            <a:ext cx="3931920" cy="548640"/>
          </a:xfrm>
          <a:prstGeom prst="rect">
            <a:avLst/>
          </a:prstGeom>
          <a:noFill/>
          <a:ln/>
        </p:spPr>
        <p:txBody>
          <a:bodyPr wrap="square" lIns="0" tIns="0" rIns="0" bIns="0" rtlCol="0" anchor="ctr"/>
          <a:lstStyle/>
          <a:p>
            <a:pPr indent="0" marL="0">
              <a:buNone/>
            </a:pPr>
            <a:r>
              <a:rPr lang="en-US" sz="1500" b="1" dirty="0">
                <a:solidFill>
                  <a:schemeClr val="tx1"/>
                </a:solidFill>
              </a:rPr>
              <a:t>Problem solving and efficacy</a:t>
            </a:r>
            <a:endParaRPr lang="en-US" sz="1500" dirty="0"/>
          </a:p>
        </p:txBody>
      </p:sp>
      <p:sp>
        <p:nvSpPr>
          <p:cNvPr id="7" name="Text 5"/>
          <p:cNvSpPr txBox="1"/>
          <p:nvPr/>
        </p:nvSpPr>
        <p:spPr>
          <a:xfrm>
            <a:off x="5303520" y="1234440"/>
            <a:ext cx="3200400" cy="548640"/>
          </a:xfrm>
          <a:prstGeom prst="rect">
            <a:avLst/>
          </a:prstGeom>
          <a:noFill/>
          <a:ln/>
        </p:spPr>
        <p:txBody>
          <a:bodyPr wrap="square" lIns="0" tIns="0" rIns="0" bIns="0" rtlCol="0" anchor="ctr"/>
          <a:lstStyle/>
          <a:p>
            <a:pPr indent="0" marL="0">
              <a:buNone/>
            </a:pPr>
            <a:r>
              <a:rPr lang="en-US" sz="1200" dirty="0">
                <a:solidFill>
                  <a:schemeClr val="accent4"/>
                </a:solidFill>
              </a:rPr>
              <a:t>What trainees struggle with, and how CoroSim addresses it</a:t>
            </a:r>
            <a:endParaRPr lang="en-US" sz="1200" dirty="0"/>
          </a:p>
        </p:txBody>
      </p:sp>
      <p:sp>
        <p:nvSpPr>
          <p:cNvPr id="8" name="criterion card 02"/>
          <p:cNvSpPr/>
          <p:nvPr/>
        </p:nvSpPr>
        <p:spPr>
          <a:xfrm>
            <a:off x="457200" y="1911096"/>
            <a:ext cx="8229600" cy="548640"/>
          </a:xfrm>
          <a:prstGeom prst="roundRect">
            <a:avLst>
              <a:gd name="adj" fmla="val 13333"/>
            </a:avLst>
          </a:prstGeom>
          <a:solidFill>
            <a:schemeClr val="bg2"/>
          </a:solidFill>
          <a:ln/>
        </p:spPr>
      </p:sp>
      <p:sp>
        <p:nvSpPr>
          <p:cNvPr id="9" name="Text 7"/>
          <p:cNvSpPr txBox="1"/>
          <p:nvPr/>
        </p:nvSpPr>
        <p:spPr>
          <a:xfrm>
            <a:off x="640080" y="1911096"/>
            <a:ext cx="6400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02</a:t>
            </a:r>
            <a:endParaRPr lang="en-US" sz="1800" dirty="0"/>
          </a:p>
        </p:txBody>
      </p:sp>
      <p:sp>
        <p:nvSpPr>
          <p:cNvPr id="10" name="Text 8"/>
          <p:cNvSpPr txBox="1"/>
          <p:nvPr/>
        </p:nvSpPr>
        <p:spPr>
          <a:xfrm>
            <a:off x="1325880" y="1911096"/>
            <a:ext cx="3931920" cy="548640"/>
          </a:xfrm>
          <a:prstGeom prst="rect">
            <a:avLst/>
          </a:prstGeom>
          <a:noFill/>
          <a:ln/>
        </p:spPr>
        <p:txBody>
          <a:bodyPr wrap="square" lIns="0" tIns="0" rIns="0" bIns="0" rtlCol="0" anchor="ctr"/>
          <a:lstStyle/>
          <a:p>
            <a:pPr indent="0" marL="0">
              <a:buNone/>
            </a:pPr>
            <a:r>
              <a:rPr lang="en-US" sz="1500" b="1" dirty="0">
                <a:solidFill>
                  <a:schemeClr val="tx1"/>
                </a:solidFill>
              </a:rPr>
              <a:t>Skillsets targeted</a:t>
            </a:r>
            <a:endParaRPr lang="en-US" sz="1500" dirty="0"/>
          </a:p>
        </p:txBody>
      </p:sp>
      <p:sp>
        <p:nvSpPr>
          <p:cNvPr id="11" name="Text 9"/>
          <p:cNvSpPr txBox="1"/>
          <p:nvPr/>
        </p:nvSpPr>
        <p:spPr>
          <a:xfrm>
            <a:off x="5303520" y="1911096"/>
            <a:ext cx="3200400" cy="548640"/>
          </a:xfrm>
          <a:prstGeom prst="rect">
            <a:avLst/>
          </a:prstGeom>
          <a:noFill/>
          <a:ln/>
        </p:spPr>
        <p:txBody>
          <a:bodyPr wrap="square" lIns="0" tIns="0" rIns="0" bIns="0" rtlCol="0" anchor="ctr"/>
          <a:lstStyle/>
          <a:p>
            <a:pPr indent="0" marL="0">
              <a:buNone/>
            </a:pPr>
            <a:r>
              <a:rPr lang="en-US" sz="1200" dirty="0">
                <a:solidFill>
                  <a:schemeClr val="accent4"/>
                </a:solidFill>
              </a:rPr>
              <a:t>Six skill domains across the site</a:t>
            </a:r>
            <a:endParaRPr lang="en-US" sz="1200" dirty="0"/>
          </a:p>
        </p:txBody>
      </p:sp>
      <p:sp>
        <p:nvSpPr>
          <p:cNvPr id="12" name="criterion card 03"/>
          <p:cNvSpPr/>
          <p:nvPr/>
        </p:nvSpPr>
        <p:spPr>
          <a:xfrm>
            <a:off x="457200" y="2587752"/>
            <a:ext cx="8229600" cy="548640"/>
          </a:xfrm>
          <a:prstGeom prst="roundRect">
            <a:avLst>
              <a:gd name="adj" fmla="val 13333"/>
            </a:avLst>
          </a:prstGeom>
          <a:solidFill>
            <a:schemeClr val="bg2"/>
          </a:solidFill>
          <a:ln/>
        </p:spPr>
      </p:sp>
      <p:sp>
        <p:nvSpPr>
          <p:cNvPr id="13" name="Text 11"/>
          <p:cNvSpPr txBox="1"/>
          <p:nvPr/>
        </p:nvSpPr>
        <p:spPr>
          <a:xfrm>
            <a:off x="640080" y="2587752"/>
            <a:ext cx="6400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03</a:t>
            </a:r>
            <a:endParaRPr lang="en-US" sz="1800" dirty="0"/>
          </a:p>
        </p:txBody>
      </p:sp>
      <p:sp>
        <p:nvSpPr>
          <p:cNvPr id="14" name="Text 12"/>
          <p:cNvSpPr txBox="1"/>
          <p:nvPr/>
        </p:nvSpPr>
        <p:spPr>
          <a:xfrm>
            <a:off x="1325880" y="2587752"/>
            <a:ext cx="3931920" cy="548640"/>
          </a:xfrm>
          <a:prstGeom prst="rect">
            <a:avLst/>
          </a:prstGeom>
          <a:noFill/>
          <a:ln/>
        </p:spPr>
        <p:txBody>
          <a:bodyPr wrap="square" lIns="0" tIns="0" rIns="0" bIns="0" rtlCol="0" anchor="ctr"/>
          <a:lstStyle/>
          <a:p>
            <a:pPr indent="0" marL="0">
              <a:buNone/>
            </a:pPr>
            <a:r>
              <a:rPr lang="en-US" sz="1500" b="1" dirty="0">
                <a:solidFill>
                  <a:schemeClr val="tx1"/>
                </a:solidFill>
              </a:rPr>
              <a:t>Intended audience</a:t>
            </a:r>
            <a:endParaRPr lang="en-US" sz="1500" dirty="0"/>
          </a:p>
        </p:txBody>
      </p:sp>
      <p:sp>
        <p:nvSpPr>
          <p:cNvPr id="15" name="Text 13"/>
          <p:cNvSpPr txBox="1"/>
          <p:nvPr/>
        </p:nvSpPr>
        <p:spPr>
          <a:xfrm>
            <a:off x="5303520" y="2587752"/>
            <a:ext cx="3200400" cy="548640"/>
          </a:xfrm>
          <a:prstGeom prst="rect">
            <a:avLst/>
          </a:prstGeom>
          <a:noFill/>
          <a:ln/>
        </p:spPr>
        <p:txBody>
          <a:bodyPr wrap="square" lIns="0" tIns="0" rIns="0" bIns="0" rtlCol="0" anchor="ctr"/>
          <a:lstStyle/>
          <a:p>
            <a:pPr indent="0" marL="0">
              <a:buNone/>
            </a:pPr>
            <a:r>
              <a:rPr lang="en-US" sz="1200" dirty="0">
                <a:solidFill>
                  <a:schemeClr val="accent4"/>
                </a:solidFill>
              </a:rPr>
              <a:t>From medical students to fellows and CCU teams</a:t>
            </a:r>
            <a:endParaRPr lang="en-US" sz="1200" dirty="0"/>
          </a:p>
        </p:txBody>
      </p:sp>
      <p:sp>
        <p:nvSpPr>
          <p:cNvPr id="16" name="criterion card 04"/>
          <p:cNvSpPr/>
          <p:nvPr/>
        </p:nvSpPr>
        <p:spPr>
          <a:xfrm>
            <a:off x="457200" y="3264408"/>
            <a:ext cx="8229600" cy="548640"/>
          </a:xfrm>
          <a:prstGeom prst="roundRect">
            <a:avLst>
              <a:gd name="adj" fmla="val 13333"/>
            </a:avLst>
          </a:prstGeom>
          <a:solidFill>
            <a:schemeClr val="bg2"/>
          </a:solidFill>
          <a:ln/>
        </p:spPr>
      </p:sp>
      <p:sp>
        <p:nvSpPr>
          <p:cNvPr id="17" name="Text 15"/>
          <p:cNvSpPr txBox="1"/>
          <p:nvPr/>
        </p:nvSpPr>
        <p:spPr>
          <a:xfrm>
            <a:off x="640080" y="3264408"/>
            <a:ext cx="6400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04</a:t>
            </a:r>
            <a:endParaRPr lang="en-US" sz="1800" dirty="0"/>
          </a:p>
        </p:txBody>
      </p:sp>
      <p:sp>
        <p:nvSpPr>
          <p:cNvPr id="18" name="Text 16"/>
          <p:cNvSpPr txBox="1"/>
          <p:nvPr/>
        </p:nvSpPr>
        <p:spPr>
          <a:xfrm>
            <a:off x="1325880" y="3264408"/>
            <a:ext cx="3931920" cy="548640"/>
          </a:xfrm>
          <a:prstGeom prst="rect">
            <a:avLst/>
          </a:prstGeom>
          <a:noFill/>
          <a:ln/>
        </p:spPr>
        <p:txBody>
          <a:bodyPr wrap="square" lIns="0" tIns="0" rIns="0" bIns="0" rtlCol="0" anchor="ctr"/>
          <a:lstStyle/>
          <a:p>
            <a:pPr indent="0" marL="0">
              <a:buNone/>
            </a:pPr>
            <a:r>
              <a:rPr lang="en-US" sz="1500" b="1" dirty="0">
                <a:solidFill>
                  <a:schemeClr val="tx1"/>
                </a:solidFill>
              </a:rPr>
              <a:t>Assessment metrics and competency evaluation</a:t>
            </a:r>
            <a:endParaRPr lang="en-US" sz="1500" dirty="0"/>
          </a:p>
        </p:txBody>
      </p:sp>
      <p:sp>
        <p:nvSpPr>
          <p:cNvPr id="19" name="Text 17"/>
          <p:cNvSpPr txBox="1"/>
          <p:nvPr/>
        </p:nvSpPr>
        <p:spPr>
          <a:xfrm>
            <a:off x="5303520" y="3264408"/>
            <a:ext cx="3200400" cy="548640"/>
          </a:xfrm>
          <a:prstGeom prst="rect">
            <a:avLst/>
          </a:prstGeom>
          <a:noFill/>
          <a:ln/>
        </p:spPr>
        <p:txBody>
          <a:bodyPr wrap="square" lIns="0" tIns="0" rIns="0" bIns="0" rtlCol="0" anchor="ctr"/>
          <a:lstStyle/>
          <a:p>
            <a:pPr indent="0" marL="0">
              <a:buNone/>
            </a:pPr>
            <a:r>
              <a:rPr lang="en-US" sz="1200" dirty="0">
                <a:solidFill>
                  <a:schemeClr val="accent4"/>
                </a:solidFill>
              </a:rPr>
              <a:t>Proposed framework (draft)</a:t>
            </a:r>
            <a:endParaRPr lang="en-US" sz="1200" dirty="0"/>
          </a:p>
        </p:txBody>
      </p:sp>
      <p:sp>
        <p:nvSpPr>
          <p:cNvPr id="20" name="criterion card 05"/>
          <p:cNvSpPr/>
          <p:nvPr/>
        </p:nvSpPr>
        <p:spPr>
          <a:xfrm>
            <a:off x="457200" y="3941064"/>
            <a:ext cx="8229600" cy="548640"/>
          </a:xfrm>
          <a:prstGeom prst="roundRect">
            <a:avLst>
              <a:gd name="adj" fmla="val 13333"/>
            </a:avLst>
          </a:prstGeom>
          <a:solidFill>
            <a:schemeClr val="bg2"/>
          </a:solidFill>
          <a:ln/>
        </p:spPr>
      </p:sp>
      <p:sp>
        <p:nvSpPr>
          <p:cNvPr id="21" name="Text 19"/>
          <p:cNvSpPr txBox="1"/>
          <p:nvPr/>
        </p:nvSpPr>
        <p:spPr>
          <a:xfrm>
            <a:off x="640080" y="3941064"/>
            <a:ext cx="6400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05</a:t>
            </a:r>
            <a:endParaRPr lang="en-US" sz="1800" dirty="0"/>
          </a:p>
        </p:txBody>
      </p:sp>
      <p:sp>
        <p:nvSpPr>
          <p:cNvPr id="22" name="Text 20"/>
          <p:cNvSpPr txBox="1"/>
          <p:nvPr/>
        </p:nvSpPr>
        <p:spPr>
          <a:xfrm>
            <a:off x="1325880" y="3941064"/>
            <a:ext cx="3931920" cy="548640"/>
          </a:xfrm>
          <a:prstGeom prst="rect">
            <a:avLst/>
          </a:prstGeom>
          <a:noFill/>
          <a:ln/>
        </p:spPr>
        <p:txBody>
          <a:bodyPr wrap="square" lIns="0" tIns="0" rIns="0" bIns="0" rtlCol="0" anchor="ctr"/>
          <a:lstStyle/>
          <a:p>
            <a:pPr indent="0" marL="0">
              <a:buNone/>
            </a:pPr>
            <a:r>
              <a:rPr lang="en-US" sz="1500" b="1" dirty="0">
                <a:solidFill>
                  <a:schemeClr val="tx1"/>
                </a:solidFill>
              </a:rPr>
              <a:t>Significance and seamless integration</a:t>
            </a:r>
            <a:endParaRPr lang="en-US" sz="1500" dirty="0"/>
          </a:p>
        </p:txBody>
      </p:sp>
      <p:sp>
        <p:nvSpPr>
          <p:cNvPr id="23" name="Text 21"/>
          <p:cNvSpPr txBox="1"/>
          <p:nvPr/>
        </p:nvSpPr>
        <p:spPr>
          <a:xfrm>
            <a:off x="5303520" y="3941064"/>
            <a:ext cx="3200400" cy="548640"/>
          </a:xfrm>
          <a:prstGeom prst="rect">
            <a:avLst/>
          </a:prstGeom>
          <a:noFill/>
          <a:ln/>
        </p:spPr>
        <p:txBody>
          <a:bodyPr wrap="square" lIns="0" tIns="0" rIns="0" bIns="0" rtlCol="0" anchor="ctr"/>
          <a:lstStyle/>
          <a:p>
            <a:pPr indent="0" marL="0">
              <a:buNone/>
            </a:pPr>
            <a:r>
              <a:rPr lang="en-US" sz="1200" dirty="0">
                <a:solidFill>
                  <a:schemeClr val="accent4"/>
                </a:solidFill>
              </a:rPr>
              <a:t>Where CoroSim fits in existing programs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PROBLEM SOLVING AND EFFICACY</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ECGs stress trainees, and practice is scarce</a:t>
            </a:r>
            <a:endParaRPr lang="en-US" sz="2600" dirty="0"/>
          </a:p>
        </p:txBody>
      </p:sp>
      <p:sp>
        <p:nvSpPr>
          <p:cNvPr id="4" name="stat card 1"/>
          <p:cNvSpPr/>
          <p:nvPr/>
        </p:nvSpPr>
        <p:spPr>
          <a:xfrm>
            <a:off x="457200" y="1234440"/>
            <a:ext cx="3977640" cy="1554480"/>
          </a:xfrm>
          <a:prstGeom prst="roundRect">
            <a:avLst>
              <a:gd name="adj" fmla="val 4706"/>
            </a:avLst>
          </a:prstGeom>
          <a:solidFill>
            <a:schemeClr val="bg2"/>
          </a:solidFill>
          <a:ln/>
        </p:spPr>
      </p:sp>
      <p:sp>
        <p:nvSpPr>
          <p:cNvPr id="5" name="Text 3"/>
          <p:cNvSpPr txBox="1"/>
          <p:nvPr/>
        </p:nvSpPr>
        <p:spPr>
          <a:xfrm>
            <a:off x="685800" y="1371600"/>
            <a:ext cx="3566160" cy="457200"/>
          </a:xfrm>
          <a:prstGeom prst="rect">
            <a:avLst/>
          </a:prstGeom>
          <a:noFill/>
          <a:ln/>
        </p:spPr>
        <p:txBody>
          <a:bodyPr wrap="square" lIns="0" tIns="0" rIns="0" bIns="0" rtlCol="0" anchor="ctr"/>
          <a:lstStyle/>
          <a:p>
            <a:pPr indent="0" marL="0">
              <a:buNone/>
            </a:pPr>
            <a:r>
              <a:rPr lang="en-US" sz="2800" b="1" dirty="0">
                <a:solidFill>
                  <a:schemeClr val="accent1"/>
                </a:solidFill>
              </a:rPr>
              <a:t>83% · 61%</a:t>
            </a:r>
            <a:endParaRPr lang="en-US" sz="2800" dirty="0"/>
          </a:p>
        </p:txBody>
      </p:sp>
      <p:sp>
        <p:nvSpPr>
          <p:cNvPr id="6" name="Text 4"/>
          <p:cNvSpPr txBox="1"/>
          <p:nvPr/>
        </p:nvSpPr>
        <p:spPr>
          <a:xfrm>
            <a:off x="685800" y="1874520"/>
            <a:ext cx="3566160" cy="594360"/>
          </a:xfrm>
          <a:prstGeom prst="rect">
            <a:avLst/>
          </a:prstGeom>
          <a:noFill/>
          <a:ln/>
        </p:spPr>
        <p:txBody>
          <a:bodyPr wrap="square" lIns="0" tIns="0" rIns="0" bIns="0" rtlCol="0" anchor="t"/>
          <a:lstStyle/>
          <a:p>
            <a:pPr indent="0" marL="0">
              <a:buNone/>
            </a:pPr>
            <a:r>
              <a:rPr lang="en-US" sz="1300" dirty="0">
                <a:solidFill>
                  <a:schemeClr val="tx1"/>
                </a:solidFill>
              </a:rPr>
              <a:t>of medical students and EM residents said reading ECGs in clinical settings makes them anxious</a:t>
            </a:r>
            <a:endParaRPr lang="en-US" sz="1300" dirty="0"/>
          </a:p>
        </p:txBody>
      </p:sp>
      <p:sp>
        <p:nvSpPr>
          <p:cNvPr id="7" name="Text 5"/>
          <p:cNvSpPr txBox="1"/>
          <p:nvPr/>
        </p:nvSpPr>
        <p:spPr>
          <a:xfrm>
            <a:off x="685800" y="2487168"/>
            <a:ext cx="3566160" cy="201168"/>
          </a:xfrm>
          <a:prstGeom prst="rect">
            <a:avLst/>
          </a:prstGeom>
          <a:noFill/>
          <a:ln/>
        </p:spPr>
        <p:txBody>
          <a:bodyPr wrap="square" lIns="0" tIns="0" rIns="0" bIns="0" rtlCol="0" anchor="ctr"/>
          <a:lstStyle/>
          <a:p>
            <a:pPr indent="0" marL="0">
              <a:buNone/>
            </a:pPr>
            <a:r>
              <a:rPr lang="en-US" sz="900" dirty="0">
                <a:solidFill>
                  <a:schemeClr val="accent4"/>
                </a:solidFill>
                <a:latin typeface="Courier New" pitchFamily="34" charset="0"/>
                <a:ea typeface="Courier New" pitchFamily="34" charset="-122"/>
                <a:cs typeface="Courier New" pitchFamily="34" charset="-120"/>
              </a:rPr>
              <a:t>El-Baba et al., Int J Emerg Med 2023</a:t>
            </a:r>
            <a:endParaRPr lang="en-US" sz="900" dirty="0"/>
          </a:p>
        </p:txBody>
      </p:sp>
      <p:sp>
        <p:nvSpPr>
          <p:cNvPr id="8" name="stat card 2"/>
          <p:cNvSpPr/>
          <p:nvPr/>
        </p:nvSpPr>
        <p:spPr>
          <a:xfrm>
            <a:off x="4709160" y="1234440"/>
            <a:ext cx="3977640" cy="1554480"/>
          </a:xfrm>
          <a:prstGeom prst="roundRect">
            <a:avLst>
              <a:gd name="adj" fmla="val 4706"/>
            </a:avLst>
          </a:prstGeom>
          <a:solidFill>
            <a:schemeClr val="bg2"/>
          </a:solidFill>
          <a:ln/>
        </p:spPr>
      </p:sp>
      <p:sp>
        <p:nvSpPr>
          <p:cNvPr id="9" name="Text 7"/>
          <p:cNvSpPr txBox="1"/>
          <p:nvPr/>
        </p:nvSpPr>
        <p:spPr>
          <a:xfrm>
            <a:off x="4937760" y="1371600"/>
            <a:ext cx="3566160" cy="457200"/>
          </a:xfrm>
          <a:prstGeom prst="rect">
            <a:avLst/>
          </a:prstGeom>
          <a:noFill/>
          <a:ln/>
        </p:spPr>
        <p:txBody>
          <a:bodyPr wrap="square" lIns="0" tIns="0" rIns="0" bIns="0" rtlCol="0" anchor="ctr"/>
          <a:lstStyle/>
          <a:p>
            <a:pPr indent="0" marL="0">
              <a:buNone/>
            </a:pPr>
            <a:r>
              <a:rPr lang="en-US" sz="2800" b="1" dirty="0">
                <a:solidFill>
                  <a:schemeClr val="accent1"/>
                </a:solidFill>
              </a:rPr>
              <a:t>&lt;10%</a:t>
            </a:r>
            <a:endParaRPr lang="en-US" sz="2800" dirty="0"/>
          </a:p>
        </p:txBody>
      </p:sp>
      <p:sp>
        <p:nvSpPr>
          <p:cNvPr id="10" name="Text 8"/>
          <p:cNvSpPr txBox="1"/>
          <p:nvPr/>
        </p:nvSpPr>
        <p:spPr>
          <a:xfrm>
            <a:off x="4937760" y="1874520"/>
            <a:ext cx="3566160" cy="594360"/>
          </a:xfrm>
          <a:prstGeom prst="rect">
            <a:avLst/>
          </a:prstGeom>
          <a:noFill/>
          <a:ln/>
        </p:spPr>
        <p:txBody>
          <a:bodyPr wrap="square" lIns="0" tIns="0" rIns="0" bIns="0" rtlCol="0" anchor="t"/>
          <a:lstStyle/>
          <a:p>
            <a:pPr indent="0" marL="0">
              <a:buNone/>
            </a:pPr>
            <a:r>
              <a:rPr lang="en-US" sz="1300" dirty="0">
                <a:solidFill>
                  <a:schemeClr val="tx1"/>
                </a:solidFill>
              </a:rPr>
              <a:t>of 165 residents were fully confident in their ECG diagnoses; none correctly identified LBBB</a:t>
            </a:r>
            <a:endParaRPr lang="en-US" sz="1300" dirty="0"/>
          </a:p>
        </p:txBody>
      </p:sp>
      <p:sp>
        <p:nvSpPr>
          <p:cNvPr id="11" name="Text 9"/>
          <p:cNvSpPr txBox="1"/>
          <p:nvPr/>
        </p:nvSpPr>
        <p:spPr>
          <a:xfrm>
            <a:off x="4937760" y="2487168"/>
            <a:ext cx="3566160" cy="201168"/>
          </a:xfrm>
          <a:prstGeom prst="rect">
            <a:avLst/>
          </a:prstGeom>
          <a:noFill/>
          <a:ln/>
        </p:spPr>
        <p:txBody>
          <a:bodyPr wrap="square" lIns="0" tIns="0" rIns="0" bIns="0" rtlCol="0" anchor="ctr"/>
          <a:lstStyle/>
          <a:p>
            <a:pPr indent="0" marL="0">
              <a:buNone/>
            </a:pPr>
            <a:r>
              <a:rPr lang="en-US" sz="900" dirty="0">
                <a:solidFill>
                  <a:schemeClr val="accent4"/>
                </a:solidFill>
                <a:latin typeface="Courier New" pitchFamily="34" charset="0"/>
                <a:ea typeface="Courier New" pitchFamily="34" charset="-122"/>
                <a:cs typeface="Courier New" pitchFamily="34" charset="-120"/>
              </a:rPr>
              <a:t>Liang et al., Adv Med Educ Pract 2025</a:t>
            </a:r>
            <a:endParaRPr lang="en-US" sz="900" dirty="0"/>
          </a:p>
        </p:txBody>
      </p:sp>
      <p:sp>
        <p:nvSpPr>
          <p:cNvPr id="12" name="stat card 3"/>
          <p:cNvSpPr/>
          <p:nvPr/>
        </p:nvSpPr>
        <p:spPr>
          <a:xfrm>
            <a:off x="457200" y="2971800"/>
            <a:ext cx="3977640" cy="1554480"/>
          </a:xfrm>
          <a:prstGeom prst="roundRect">
            <a:avLst>
              <a:gd name="adj" fmla="val 4706"/>
            </a:avLst>
          </a:prstGeom>
          <a:solidFill>
            <a:schemeClr val="bg2"/>
          </a:solidFill>
          <a:ln/>
        </p:spPr>
      </p:sp>
      <p:sp>
        <p:nvSpPr>
          <p:cNvPr id="13" name="Text 11"/>
          <p:cNvSpPr txBox="1"/>
          <p:nvPr/>
        </p:nvSpPr>
        <p:spPr>
          <a:xfrm>
            <a:off x="685800" y="3108960"/>
            <a:ext cx="3566160" cy="457200"/>
          </a:xfrm>
          <a:prstGeom prst="rect">
            <a:avLst/>
          </a:prstGeom>
          <a:noFill/>
          <a:ln/>
        </p:spPr>
        <p:txBody>
          <a:bodyPr wrap="square" lIns="0" tIns="0" rIns="0" bIns="0" rtlCol="0" anchor="ctr"/>
          <a:lstStyle/>
          <a:p>
            <a:pPr indent="0" marL="0">
              <a:buNone/>
            </a:pPr>
            <a:r>
              <a:rPr lang="en-US" sz="2800" b="1" dirty="0">
                <a:solidFill>
                  <a:schemeClr val="accent1"/>
                </a:solidFill>
              </a:rPr>
              <a:t>71%</a:t>
            </a:r>
            <a:endParaRPr lang="en-US" sz="2800" dirty="0"/>
          </a:p>
        </p:txBody>
      </p:sp>
      <p:sp>
        <p:nvSpPr>
          <p:cNvPr id="14" name="Text 12"/>
          <p:cNvSpPr txBox="1"/>
          <p:nvPr/>
        </p:nvSpPr>
        <p:spPr>
          <a:xfrm>
            <a:off x="685800" y="3611880"/>
            <a:ext cx="3566160" cy="594360"/>
          </a:xfrm>
          <a:prstGeom prst="rect">
            <a:avLst/>
          </a:prstGeom>
          <a:noFill/>
          <a:ln/>
        </p:spPr>
        <p:txBody>
          <a:bodyPr wrap="square" lIns="0" tIns="0" rIns="0" bIns="0" rtlCol="0" anchor="t"/>
          <a:lstStyle/>
          <a:p>
            <a:pPr indent="0" marL="0">
              <a:buNone/>
            </a:pPr>
            <a:r>
              <a:rPr lang="en-US" sz="1300" dirty="0">
                <a:solidFill>
                  <a:schemeClr val="tx1"/>
                </a:solidFill>
              </a:rPr>
              <a:t>of 420 SCAI members felt their simulation training was insufficient; lack of access was the top barrier</a:t>
            </a:r>
            <a:endParaRPr lang="en-US" sz="1300" dirty="0"/>
          </a:p>
        </p:txBody>
      </p:sp>
      <p:sp>
        <p:nvSpPr>
          <p:cNvPr id="15" name="Text 13"/>
          <p:cNvSpPr txBox="1"/>
          <p:nvPr/>
        </p:nvSpPr>
        <p:spPr>
          <a:xfrm>
            <a:off x="685800" y="4224528"/>
            <a:ext cx="3566160" cy="201168"/>
          </a:xfrm>
          <a:prstGeom prst="rect">
            <a:avLst/>
          </a:prstGeom>
          <a:noFill/>
          <a:ln/>
        </p:spPr>
        <p:txBody>
          <a:bodyPr wrap="square" lIns="0" tIns="0" rIns="0" bIns="0" rtlCol="0" anchor="ctr"/>
          <a:lstStyle/>
          <a:p>
            <a:pPr indent="0" marL="0">
              <a:buNone/>
            </a:pPr>
            <a:r>
              <a:rPr lang="en-US" sz="900" dirty="0">
                <a:solidFill>
                  <a:schemeClr val="accent4"/>
                </a:solidFill>
                <a:latin typeface="Courier New" pitchFamily="34" charset="0"/>
                <a:ea typeface="Courier New" pitchFamily="34" charset="-122"/>
                <a:cs typeface="Courier New" pitchFamily="34" charset="-120"/>
              </a:rPr>
              <a:t>Lee et al., JSCAI 2025</a:t>
            </a:r>
            <a:endParaRPr lang="en-US" sz="900" dirty="0"/>
          </a:p>
        </p:txBody>
      </p:sp>
      <p:sp>
        <p:nvSpPr>
          <p:cNvPr id="16" name="stat card 4"/>
          <p:cNvSpPr/>
          <p:nvPr/>
        </p:nvSpPr>
        <p:spPr>
          <a:xfrm>
            <a:off x="4709160" y="2971800"/>
            <a:ext cx="3977640" cy="1554480"/>
          </a:xfrm>
          <a:prstGeom prst="roundRect">
            <a:avLst>
              <a:gd name="adj" fmla="val 4706"/>
            </a:avLst>
          </a:prstGeom>
          <a:solidFill>
            <a:schemeClr val="bg2"/>
          </a:solidFill>
          <a:ln/>
        </p:spPr>
      </p:sp>
      <p:sp>
        <p:nvSpPr>
          <p:cNvPr id="17" name="Text 15"/>
          <p:cNvSpPr txBox="1"/>
          <p:nvPr/>
        </p:nvSpPr>
        <p:spPr>
          <a:xfrm>
            <a:off x="4937760" y="3108960"/>
            <a:ext cx="3566160" cy="457200"/>
          </a:xfrm>
          <a:prstGeom prst="rect">
            <a:avLst/>
          </a:prstGeom>
          <a:noFill/>
          <a:ln/>
        </p:spPr>
        <p:txBody>
          <a:bodyPr wrap="square" lIns="0" tIns="0" rIns="0" bIns="0" rtlCol="0" anchor="ctr"/>
          <a:lstStyle/>
          <a:p>
            <a:pPr indent="0" marL="0">
              <a:buNone/>
            </a:pPr>
            <a:r>
              <a:rPr lang="en-US" sz="2800" b="1" dirty="0">
                <a:solidFill>
                  <a:schemeClr val="accent1"/>
                </a:solidFill>
              </a:rPr>
              <a:t>P = 0.45</a:t>
            </a:r>
            <a:endParaRPr lang="en-US" sz="2800" dirty="0"/>
          </a:p>
        </p:txBody>
      </p:sp>
      <p:sp>
        <p:nvSpPr>
          <p:cNvPr id="18" name="Text 16"/>
          <p:cNvSpPr txBox="1"/>
          <p:nvPr/>
        </p:nvSpPr>
        <p:spPr>
          <a:xfrm>
            <a:off x="4937760" y="3611880"/>
            <a:ext cx="3566160" cy="594360"/>
          </a:xfrm>
          <a:prstGeom prst="rect">
            <a:avLst/>
          </a:prstGeom>
          <a:noFill/>
          <a:ln/>
        </p:spPr>
        <p:txBody>
          <a:bodyPr wrap="square" lIns="0" tIns="0" rIns="0" bIns="0" rtlCol="0" anchor="t"/>
          <a:lstStyle/>
          <a:p>
            <a:pPr indent="0" marL="0">
              <a:buNone/>
            </a:pPr>
            <a:r>
              <a:rPr lang="en-US" sz="1300" dirty="0">
                <a:solidFill>
                  <a:schemeClr val="tx1"/>
                </a:solidFill>
              </a:rPr>
              <a:t>A 14-week lecture series raised residents' ECG confidence (2.8 to 3.5 of 5) but not their knowledge scores</a:t>
            </a:r>
            <a:endParaRPr lang="en-US" sz="1300" dirty="0"/>
          </a:p>
        </p:txBody>
      </p:sp>
      <p:sp>
        <p:nvSpPr>
          <p:cNvPr id="19" name="Text 17"/>
          <p:cNvSpPr txBox="1"/>
          <p:nvPr/>
        </p:nvSpPr>
        <p:spPr>
          <a:xfrm>
            <a:off x="4937760" y="4224528"/>
            <a:ext cx="3566160" cy="201168"/>
          </a:xfrm>
          <a:prstGeom prst="rect">
            <a:avLst/>
          </a:prstGeom>
          <a:noFill/>
          <a:ln/>
        </p:spPr>
        <p:txBody>
          <a:bodyPr wrap="square" lIns="0" tIns="0" rIns="0" bIns="0" rtlCol="0" anchor="ctr"/>
          <a:lstStyle/>
          <a:p>
            <a:pPr indent="0" marL="0">
              <a:buNone/>
            </a:pPr>
            <a:r>
              <a:rPr lang="en-US" sz="900" dirty="0">
                <a:solidFill>
                  <a:schemeClr val="accent4"/>
                </a:solidFill>
                <a:latin typeface="Courier New" pitchFamily="34" charset="0"/>
                <a:ea typeface="Courier New" pitchFamily="34" charset="-122"/>
                <a:cs typeface="Courier New" pitchFamily="34" charset="-120"/>
              </a:rPr>
              <a:t>Esomonye et al., JACC Case Rep 2026</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PROBLEM SOLVING AND EFFICACY</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Where learning breaks down, and what changes</a:t>
            </a:r>
            <a:endParaRPr lang="en-US" sz="2600" dirty="0"/>
          </a:p>
        </p:txBody>
      </p:sp>
      <p:sp>
        <p:nvSpPr>
          <p:cNvPr id="4" name="Text 2"/>
          <p:cNvSpPr txBox="1"/>
          <p:nvPr/>
        </p:nvSpPr>
        <p:spPr>
          <a:xfrm>
            <a:off x="457200" y="1143000"/>
            <a:ext cx="3291840" cy="228600"/>
          </a:xfrm>
          <a:prstGeom prst="rect">
            <a:avLst/>
          </a:prstGeom>
          <a:noFill/>
          <a:ln/>
        </p:spPr>
        <p:txBody>
          <a:bodyPr wrap="square" lIns="0" tIns="0" rIns="0" bIns="0" rtlCol="0" anchor="ctr"/>
          <a:lstStyle/>
          <a:p>
            <a:pPr indent="0" marL="0">
              <a:buNone/>
            </a:pPr>
            <a:r>
              <a:rPr lang="en-US" sz="1000" b="1" dirty="0">
                <a:solidFill>
                  <a:schemeClr val="accent4"/>
                </a:solidFill>
                <a:latin typeface="Courier New" pitchFamily="34" charset="0"/>
                <a:ea typeface="Courier New" pitchFamily="34" charset="-122"/>
                <a:cs typeface="Courier New" pitchFamily="34" charset="-120"/>
              </a:rPr>
              <a:t>THE GAP</a:t>
            </a:r>
            <a:endParaRPr lang="en-US" sz="1000" dirty="0"/>
          </a:p>
        </p:txBody>
      </p:sp>
      <p:sp>
        <p:nvSpPr>
          <p:cNvPr id="5" name="Text 3"/>
          <p:cNvSpPr txBox="1"/>
          <p:nvPr/>
        </p:nvSpPr>
        <p:spPr>
          <a:xfrm>
            <a:off x="4251960" y="1143000"/>
            <a:ext cx="443484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IN COROSIM</a:t>
            </a:r>
            <a:endParaRPr lang="en-US" sz="1000" dirty="0"/>
          </a:p>
        </p:txBody>
      </p:sp>
      <p:sp>
        <p:nvSpPr>
          <p:cNvPr id="6" name="gap 1"/>
          <p:cNvSpPr/>
          <p:nvPr/>
        </p:nvSpPr>
        <p:spPr>
          <a:xfrm>
            <a:off x="457200" y="1463040"/>
            <a:ext cx="3291840" cy="676656"/>
          </a:xfrm>
          <a:prstGeom prst="roundRect">
            <a:avLst>
              <a:gd name="adj" fmla="val 8108"/>
            </a:avLst>
          </a:prstGeom>
          <a:solidFill>
            <a:schemeClr val="bg2"/>
          </a:solidFill>
          <a:ln/>
        </p:spPr>
      </p:sp>
      <p:sp>
        <p:nvSpPr>
          <p:cNvPr id="7" name="Text 5"/>
          <p:cNvSpPr txBox="1"/>
          <p:nvPr/>
        </p:nvSpPr>
        <p:spPr>
          <a:xfrm>
            <a:off x="594360" y="1463040"/>
            <a:ext cx="3063240" cy="676656"/>
          </a:xfrm>
          <a:prstGeom prst="rect">
            <a:avLst/>
          </a:prstGeom>
          <a:noFill/>
          <a:ln/>
        </p:spPr>
        <p:txBody>
          <a:bodyPr wrap="square" lIns="0" tIns="0" rIns="0" bIns="0" rtlCol="0" anchor="ctr"/>
          <a:lstStyle/>
          <a:p>
            <a:pPr indent="0" marL="0">
              <a:buNone/>
            </a:pPr>
            <a:r>
              <a:rPr lang="en-US" sz="1300" dirty="0">
                <a:solidFill>
                  <a:schemeClr val="tx1"/>
                </a:solidFill>
              </a:rPr>
              <a:t>ECGs memorized as patterns, cut off from anatomy</a:t>
            </a:r>
            <a:endParaRPr lang="en-US" sz="1300" dirty="0"/>
          </a:p>
        </p:txBody>
      </p:sp>
      <p:sp>
        <p:nvSpPr>
          <p:cNvPr id="8" name="arrow 1"/>
          <p:cNvSpPr/>
          <p:nvPr/>
        </p:nvSpPr>
        <p:spPr>
          <a:xfrm>
            <a:off x="3822192" y="1682496"/>
            <a:ext cx="347472" cy="237744"/>
          </a:xfrm>
          <a:prstGeom prst="rightArrow">
            <a:avLst/>
          </a:prstGeom>
          <a:solidFill>
            <a:schemeClr val="accent1"/>
          </a:solidFill>
          <a:ln/>
        </p:spPr>
      </p:sp>
      <p:sp>
        <p:nvSpPr>
          <p:cNvPr id="9" name="Text 7"/>
          <p:cNvSpPr txBox="1"/>
          <p:nvPr/>
        </p:nvSpPr>
        <p:spPr>
          <a:xfrm>
            <a:off x="4251960" y="1463040"/>
            <a:ext cx="4434840" cy="676656"/>
          </a:xfrm>
          <a:prstGeom prst="rect">
            <a:avLst/>
          </a:prstGeom>
          <a:noFill/>
          <a:ln/>
        </p:spPr>
        <p:txBody>
          <a:bodyPr wrap="square" lIns="0" tIns="0" rIns="0" bIns="0" rtlCol="0" anchor="ctr"/>
          <a:lstStyle/>
          <a:p>
            <a:pPr indent="0" marL="0">
              <a:buNone/>
            </a:pPr>
            <a:r>
              <a:rPr lang="en-US" sz="1300" dirty="0">
                <a:solidFill>
                  <a:schemeClr val="tx1"/>
                </a:solidFill>
              </a:rPr>
              <a:t>Every tracing comes from a lesion in a 3D coronary tree; leads drawn as axes show why ST rises or falls</a:t>
            </a:r>
            <a:endParaRPr lang="en-US" sz="1300" dirty="0"/>
          </a:p>
        </p:txBody>
      </p:sp>
      <p:sp>
        <p:nvSpPr>
          <p:cNvPr id="10" name="gap 2"/>
          <p:cNvSpPr/>
          <p:nvPr/>
        </p:nvSpPr>
        <p:spPr>
          <a:xfrm>
            <a:off x="457200" y="2267712"/>
            <a:ext cx="3291840" cy="676656"/>
          </a:xfrm>
          <a:prstGeom prst="roundRect">
            <a:avLst>
              <a:gd name="adj" fmla="val 8108"/>
            </a:avLst>
          </a:prstGeom>
          <a:solidFill>
            <a:schemeClr val="bg2"/>
          </a:solidFill>
          <a:ln/>
        </p:spPr>
      </p:sp>
      <p:sp>
        <p:nvSpPr>
          <p:cNvPr id="11" name="Text 9"/>
          <p:cNvSpPr txBox="1"/>
          <p:nvPr/>
        </p:nvSpPr>
        <p:spPr>
          <a:xfrm>
            <a:off x="594360" y="2267712"/>
            <a:ext cx="3063240" cy="676656"/>
          </a:xfrm>
          <a:prstGeom prst="rect">
            <a:avLst/>
          </a:prstGeom>
          <a:noFill/>
          <a:ln/>
        </p:spPr>
        <p:txBody>
          <a:bodyPr wrap="square" lIns="0" tIns="0" rIns="0" bIns="0" rtlCol="0" anchor="ctr"/>
          <a:lstStyle/>
          <a:p>
            <a:pPr indent="0" marL="0">
              <a:buNone/>
            </a:pPr>
            <a:r>
              <a:rPr lang="en-US" sz="1300" dirty="0">
                <a:solidFill>
                  <a:schemeClr val="tx1"/>
                </a:solidFill>
              </a:rPr>
              <a:t>Physiology taught as static curves</a:t>
            </a:r>
            <a:endParaRPr lang="en-US" sz="1300" dirty="0"/>
          </a:p>
        </p:txBody>
      </p:sp>
      <p:sp>
        <p:nvSpPr>
          <p:cNvPr id="12" name="arrow 2"/>
          <p:cNvSpPr/>
          <p:nvPr/>
        </p:nvSpPr>
        <p:spPr>
          <a:xfrm>
            <a:off x="3822192" y="2487168"/>
            <a:ext cx="347472" cy="237744"/>
          </a:xfrm>
          <a:prstGeom prst="rightArrow">
            <a:avLst/>
          </a:prstGeom>
          <a:solidFill>
            <a:schemeClr val="accent1"/>
          </a:solidFill>
          <a:ln/>
        </p:spPr>
      </p:sp>
      <p:sp>
        <p:nvSpPr>
          <p:cNvPr id="13" name="Text 11"/>
          <p:cNvSpPr txBox="1"/>
          <p:nvPr/>
        </p:nvSpPr>
        <p:spPr>
          <a:xfrm>
            <a:off x="4251960" y="2267712"/>
            <a:ext cx="4434840" cy="676656"/>
          </a:xfrm>
          <a:prstGeom prst="rect">
            <a:avLst/>
          </a:prstGeom>
          <a:noFill/>
          <a:ln/>
        </p:spPr>
        <p:txBody>
          <a:bodyPr wrap="square" lIns="0" tIns="0" rIns="0" bIns="0" rtlCol="0" anchor="ctr"/>
          <a:lstStyle/>
          <a:p>
            <a:pPr indent="0" marL="0">
              <a:buNone/>
            </a:pPr>
            <a:r>
              <a:rPr lang="en-US" sz="1300" dirty="0">
                <a:solidFill>
                  <a:schemeClr val="tx1"/>
                </a:solidFill>
              </a:rPr>
              <a:t>A closed loop: lesion → ischemia → ECG → pressure → reflexes, beat by beat</a:t>
            </a:r>
            <a:endParaRPr lang="en-US" sz="1300" dirty="0"/>
          </a:p>
        </p:txBody>
      </p:sp>
      <p:sp>
        <p:nvSpPr>
          <p:cNvPr id="14" name="gap 3"/>
          <p:cNvSpPr/>
          <p:nvPr/>
        </p:nvSpPr>
        <p:spPr>
          <a:xfrm>
            <a:off x="457200" y="3072384"/>
            <a:ext cx="3291840" cy="676656"/>
          </a:xfrm>
          <a:prstGeom prst="roundRect">
            <a:avLst>
              <a:gd name="adj" fmla="val 8108"/>
            </a:avLst>
          </a:prstGeom>
          <a:solidFill>
            <a:schemeClr val="bg2"/>
          </a:solidFill>
          <a:ln/>
        </p:spPr>
      </p:sp>
      <p:sp>
        <p:nvSpPr>
          <p:cNvPr id="15" name="Text 13"/>
          <p:cNvSpPr txBox="1"/>
          <p:nvPr/>
        </p:nvSpPr>
        <p:spPr>
          <a:xfrm>
            <a:off x="594360" y="3072384"/>
            <a:ext cx="3063240" cy="676656"/>
          </a:xfrm>
          <a:prstGeom prst="rect">
            <a:avLst/>
          </a:prstGeom>
          <a:noFill/>
          <a:ln/>
        </p:spPr>
        <p:txBody>
          <a:bodyPr wrap="square" lIns="0" tIns="0" rIns="0" bIns="0" rtlCol="0" anchor="ctr"/>
          <a:lstStyle/>
          <a:p>
            <a:pPr indent="0" marL="0">
              <a:buNone/>
            </a:pPr>
            <a:r>
              <a:rPr lang="en-US" sz="1300" dirty="0">
                <a:solidFill>
                  <a:schemeClr val="tx1"/>
                </a:solidFill>
              </a:rPr>
              <a:t>STEMI and shock decisions rarely practiced</a:t>
            </a:r>
            <a:endParaRPr lang="en-US" sz="1300" dirty="0"/>
          </a:p>
        </p:txBody>
      </p:sp>
      <p:sp>
        <p:nvSpPr>
          <p:cNvPr id="16" name="arrow 3"/>
          <p:cNvSpPr/>
          <p:nvPr/>
        </p:nvSpPr>
        <p:spPr>
          <a:xfrm>
            <a:off x="3822192" y="3291840"/>
            <a:ext cx="347472" cy="237744"/>
          </a:xfrm>
          <a:prstGeom prst="rightArrow">
            <a:avLst/>
          </a:prstGeom>
          <a:solidFill>
            <a:schemeClr val="accent1"/>
          </a:solidFill>
          <a:ln/>
        </p:spPr>
      </p:sp>
      <p:sp>
        <p:nvSpPr>
          <p:cNvPr id="17" name="Text 15"/>
          <p:cNvSpPr txBox="1"/>
          <p:nvPr/>
        </p:nvSpPr>
        <p:spPr>
          <a:xfrm>
            <a:off x="4251960" y="3072384"/>
            <a:ext cx="4434840" cy="676656"/>
          </a:xfrm>
          <a:prstGeom prst="rect">
            <a:avLst/>
          </a:prstGeom>
          <a:noFill/>
          <a:ln/>
        </p:spPr>
        <p:txBody>
          <a:bodyPr wrap="square" lIns="0" tIns="0" rIns="0" bIns="0" rtlCol="0" anchor="ctr"/>
          <a:lstStyle/>
          <a:p>
            <a:pPr indent="0" marL="0">
              <a:buNone/>
            </a:pPr>
            <a:r>
              <a:rPr lang="en-US" sz="1300" dirty="0">
                <a:solidFill>
                  <a:schemeClr val="tx1"/>
                </a:solidFill>
              </a:rPr>
              <a:t>Treat while muscle dies; every drug and device has its real cost, and warnings name the harm</a:t>
            </a:r>
            <a:endParaRPr lang="en-US" sz="1300" dirty="0"/>
          </a:p>
        </p:txBody>
      </p:sp>
      <p:sp>
        <p:nvSpPr>
          <p:cNvPr id="18" name="gap 4"/>
          <p:cNvSpPr/>
          <p:nvPr/>
        </p:nvSpPr>
        <p:spPr>
          <a:xfrm>
            <a:off x="457200" y="3877056"/>
            <a:ext cx="3291840" cy="676656"/>
          </a:xfrm>
          <a:prstGeom prst="roundRect">
            <a:avLst>
              <a:gd name="adj" fmla="val 8108"/>
            </a:avLst>
          </a:prstGeom>
          <a:solidFill>
            <a:schemeClr val="bg2"/>
          </a:solidFill>
          <a:ln/>
        </p:spPr>
      </p:sp>
      <p:sp>
        <p:nvSpPr>
          <p:cNvPr id="19" name="Text 17"/>
          <p:cNvSpPr txBox="1"/>
          <p:nvPr/>
        </p:nvSpPr>
        <p:spPr>
          <a:xfrm>
            <a:off x="594360" y="3877056"/>
            <a:ext cx="3063240" cy="676656"/>
          </a:xfrm>
          <a:prstGeom prst="rect">
            <a:avLst/>
          </a:prstGeom>
          <a:noFill/>
          <a:ln/>
        </p:spPr>
        <p:txBody>
          <a:bodyPr wrap="square" lIns="0" tIns="0" rIns="0" bIns="0" rtlCol="0" anchor="ctr"/>
          <a:lstStyle/>
          <a:p>
            <a:pPr indent="0" marL="0">
              <a:buNone/>
            </a:pPr>
            <a:r>
              <a:rPr lang="en-US" sz="1300" dirty="0">
                <a:solidFill>
                  <a:schemeClr val="tx1"/>
                </a:solidFill>
              </a:rPr>
              <a:t>Simulation is scarce, costly and tied to a lab</a:t>
            </a:r>
            <a:endParaRPr lang="en-US" sz="1300" dirty="0"/>
          </a:p>
        </p:txBody>
      </p:sp>
      <p:sp>
        <p:nvSpPr>
          <p:cNvPr id="20" name="arrow 4"/>
          <p:cNvSpPr/>
          <p:nvPr/>
        </p:nvSpPr>
        <p:spPr>
          <a:xfrm>
            <a:off x="3822192" y="4096512"/>
            <a:ext cx="347472" cy="237744"/>
          </a:xfrm>
          <a:prstGeom prst="rightArrow">
            <a:avLst/>
          </a:prstGeom>
          <a:solidFill>
            <a:schemeClr val="accent1"/>
          </a:solidFill>
          <a:ln/>
        </p:spPr>
      </p:sp>
      <p:sp>
        <p:nvSpPr>
          <p:cNvPr id="21" name="Text 19"/>
          <p:cNvSpPr txBox="1"/>
          <p:nvPr/>
        </p:nvSpPr>
        <p:spPr>
          <a:xfrm>
            <a:off x="4251960" y="3877056"/>
            <a:ext cx="4434840" cy="676656"/>
          </a:xfrm>
          <a:prstGeom prst="rect">
            <a:avLst/>
          </a:prstGeom>
          <a:noFill/>
          <a:ln/>
        </p:spPr>
        <p:txBody>
          <a:bodyPr wrap="square" lIns="0" tIns="0" rIns="0" bIns="0" rtlCol="0" anchor="ctr"/>
          <a:lstStyle/>
          <a:p>
            <a:pPr indent="0" marL="0">
              <a:buNone/>
            </a:pPr>
            <a:r>
              <a:rPr lang="en-US" sz="1300" dirty="0">
                <a:solidFill>
                  <a:schemeClr val="tx1"/>
                </a:solidFill>
              </a:rPr>
              <a:t>Free, in any browser, any time; one link opens a specific case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SIMULATOR</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Block an artery, watch the patient respond</a:t>
            </a:r>
            <a:endParaRPr lang="en-US" sz="2600" dirty="0"/>
          </a:p>
        </p:txBody>
      </p:sp>
      <p:pic>
        <p:nvPicPr>
          <p:cNvPr id="4" name="Simulator screenshot" descr="Simulator screenshot">    </p:cNvPr>
          <p:cNvPicPr>
            <a:picLocks noChangeAspect="1"/>
          </p:cNvPicPr>
          <p:nvPr/>
        </p:nvPicPr>
        <p:blipFill>
          <a:blip r:embed="rId1"/>
          <a:stretch>
            <a:fillRect/>
          </a:stretch>
        </p:blipFill>
        <p:spPr>
          <a:xfrm>
            <a:off x="4572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621792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Place a lesion on any of 14 arteries, across nine anatomic variants</a:t>
            </a:r>
            <a:endParaRPr lang="en-US" sz="1400" dirty="0"/>
          </a:p>
          <a:p>
            <a:pPr marL="177800" indent="-177800">
              <a:spcAft>
                <a:spcPts val="800"/>
              </a:spcAft>
              <a:buSzPct val="100000"/>
              <a:buChar char="•"/>
            </a:pPr>
            <a:r>
              <a:rPr lang="en-US" sz="1400" dirty="0">
                <a:solidFill>
                  <a:schemeClr val="tx1"/>
                </a:solidFill>
              </a:rPr>
              <a:t>Ischemia, the 12-lead, rhythm, AV block and blood pressure all follow from the physics</a:t>
            </a:r>
            <a:endParaRPr lang="en-US" sz="1400" dirty="0"/>
          </a:p>
          <a:p>
            <a:pPr marL="177800" indent="-177800">
              <a:spcAft>
                <a:spcPts val="800"/>
              </a:spcAft>
              <a:buSzPct val="100000"/>
              <a:buChar char="•"/>
            </a:pPr>
            <a:r>
              <a:rPr lang="en-US" sz="1400" dirty="0">
                <a:solidFill>
                  <a:schemeClr val="tx1"/>
                </a:solidFill>
              </a:rPr>
              <a:t>Time is muscle: the infarct grows in clinical minutes and lowers LVEF until reperfusion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SIMULATOR</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Read the 12-lead, then treat the patient</a:t>
            </a:r>
            <a:endParaRPr lang="en-US" sz="2600" dirty="0"/>
          </a:p>
        </p:txBody>
      </p:sp>
      <p:pic>
        <p:nvPicPr>
          <p:cNvPr id="4" name="12-lead ECG from the simulator during an LAD occlusion" descr="12-lead ECG from the simulator during an LAD occlusion">    </p:cNvPr>
          <p:cNvPicPr>
            <a:picLocks noChangeAspect="1"/>
          </p:cNvPicPr>
          <p:nvPr/>
        </p:nvPicPr>
        <p:blipFill>
          <a:blip r:embed="rId1"/>
          <a:stretch>
            <a:fillRect/>
          </a:stretch>
        </p:blipFill>
        <p:spPr>
          <a:xfrm>
            <a:off x="457200" y="1234440"/>
            <a:ext cx="5486400" cy="2068643"/>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457200" y="3474720"/>
            <a:ext cx="5486400" cy="10972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ST shifts come from each ischemic bed, so the leads point to the artery</a:t>
            </a:r>
            <a:endParaRPr lang="en-US" sz="1400" dirty="0"/>
          </a:p>
          <a:p>
            <a:pPr marL="177800" indent="-177800">
              <a:spcAft>
                <a:spcPts val="800"/>
              </a:spcAft>
              <a:buSzPct val="100000"/>
              <a:buChar char="•"/>
            </a:pPr>
            <a:r>
              <a:rPr lang="en-US" sz="1400" dirty="0">
                <a:solidFill>
                  <a:schemeClr val="tx1"/>
                </a:solidFill>
              </a:rPr>
              <a:t>Every drug and device has its real cost; warnings name the harm</a:t>
            </a:r>
            <a:endParaRPr lang="en-US" sz="1400" dirty="0"/>
          </a:p>
          <a:p>
            <a:pPr marL="177800" indent="-177800">
              <a:spcAft>
                <a:spcPts val="800"/>
              </a:spcAft>
              <a:buSzPct val="100000"/>
              <a:buChar char="•"/>
            </a:pPr>
            <a:r>
              <a:rPr lang="en-US" sz="1400" dirty="0">
                <a:solidFill>
                  <a:schemeClr val="tx1"/>
                </a:solidFill>
              </a:rPr>
              <a:t>PCI, lysis and CABG arrive after their real delays</a:t>
            </a:r>
            <a:endParaRPr lang="en-US" sz="1400" dirty="0"/>
          </a:p>
        </p:txBody>
      </p:sp>
      <p:pic>
        <p:nvPicPr>
          <p:cNvPr id="6" name="Management panel: assessment and guideline steps" descr="Management panel: assessment and guideline steps">    </p:cNvPr>
          <p:cNvPicPr>
            <a:picLocks noChangeAspect="1"/>
          </p:cNvPicPr>
          <p:nvPr/>
        </p:nvPicPr>
        <p:blipFill>
          <a:blip r:embed="rId2"/>
          <a:stretch>
            <a:fillRect/>
          </a:stretch>
        </p:blipFill>
        <p:spPr>
          <a:xfrm>
            <a:off x="6263640" y="1234440"/>
            <a:ext cx="2423160" cy="2849049"/>
          </a:xfrm>
          <a:prstGeom prst="rect">
            <a:avLst/>
          </a:prstGeom>
          <a:effectLst>
            <a:outerShdw sx="100000" sy="100000" kx="0" ky="0" algn="bl" rotWithShape="0" blurRad="76200" dist="25400" dir="5400000">
              <a:srgbClr val="000000">
                <a:alpha val="18000"/>
              </a:srgbClr>
            </a:outerShdw>
          </a:effectLst>
        </p:spPr>
      </p:pic>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FIND THE CULPRIT</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A daily hidden-lesion case, the same for everyone</a:t>
            </a:r>
            <a:endParaRPr lang="en-US" sz="2600" dirty="0"/>
          </a:p>
        </p:txBody>
      </p:sp>
      <p:pic>
        <p:nvPicPr>
          <p:cNvPr id="4" name="Find the culprit screenshot" descr="Find the culprit screenshot">    </p:cNvPr>
          <p:cNvPicPr>
            <a:picLocks noChangeAspect="1"/>
          </p:cNvPicPr>
          <p:nvPr/>
        </p:nvPicPr>
        <p:blipFill>
          <a:blip r:embed="rId1"/>
          <a:stretch>
            <a:fillRect/>
          </a:stretch>
        </p:blipFill>
        <p:spPr>
          <a:xfrm>
            <a:off x="32004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45720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The lesion is hidden: read the tracing and monitor, then click where it is</a:t>
            </a:r>
            <a:endParaRPr lang="en-US" sz="1400" dirty="0"/>
          </a:p>
          <a:p>
            <a:pPr marL="177800" indent="-177800">
              <a:spcAft>
                <a:spcPts val="800"/>
              </a:spcAft>
              <a:buSzPct val="100000"/>
              <a:buChar char="•"/>
            </a:pPr>
            <a:r>
              <a:rPr lang="en-US" sz="1400" dirty="0">
                <a:solidFill>
                  <a:schemeClr val="tx1"/>
                </a:solidFill>
              </a:rPr>
              <a:t>Points for accuracy along the vessel tree and for speed, then the RV call</a:t>
            </a:r>
            <a:endParaRPr lang="en-US" sz="1400" dirty="0"/>
          </a:p>
          <a:p>
            <a:pPr marL="177800" indent="-177800">
              <a:spcAft>
                <a:spcPts val="800"/>
              </a:spcAft>
              <a:buSzPct val="100000"/>
              <a:buChar char="•"/>
            </a:pPr>
            <a:r>
              <a:rPr lang="en-US" sz="1400" dirty="0">
                <a:solidFill>
                  <a:schemeClr val="tx1"/>
                </a:solidFill>
              </a:rPr>
              <a:t>Then manage the case: points for muscle saved and time out of shock, minus harm</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EKG</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50+ tracings, each drawn through a 3D heart</a:t>
            </a:r>
            <a:endParaRPr lang="en-US" sz="2600" dirty="0"/>
          </a:p>
        </p:txBody>
      </p:sp>
      <p:pic>
        <p:nvPicPr>
          <p:cNvPr id="4" name="EKG screenshot" descr="EKG screenshot">    </p:cNvPr>
          <p:cNvPicPr>
            <a:picLocks noChangeAspect="1"/>
          </p:cNvPicPr>
          <p:nvPr/>
        </p:nvPicPr>
        <p:blipFill>
          <a:blip r:embed="rId1"/>
          <a:stretch>
            <a:fillRect/>
          </a:stretch>
        </p:blipFill>
        <p:spPr>
          <a:xfrm>
            <a:off x="4572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621792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Rhythms, blocks, ischemia patterns and STEMI mimics, with teaching points</a:t>
            </a:r>
            <a:endParaRPr lang="en-US" sz="1400" dirty="0"/>
          </a:p>
          <a:p>
            <a:pPr marL="177800" indent="-177800">
              <a:spcAft>
                <a:spcPts val="800"/>
              </a:spcAft>
              <a:buSzPct val="100000"/>
              <a:buChar char="•"/>
            </a:pPr>
            <a:r>
              <a:rPr lang="en-US" sz="1400" dirty="0">
                <a:solidFill>
                  <a:schemeClr val="tx1"/>
                </a:solidFill>
              </a:rPr>
              <a:t>Each lead is an axis through the heart, so learners see why it goes up or down</a:t>
            </a:r>
            <a:endParaRPr lang="en-US" sz="1400" dirty="0"/>
          </a:p>
          <a:p>
            <a:pPr marL="177800" indent="-177800">
              <a:spcAft>
                <a:spcPts val="800"/>
              </a:spcAft>
              <a:buSzPct val="100000"/>
              <a:buChar char="•"/>
            </a:pPr>
            <a:r>
              <a:rPr lang="en-US" sz="1400" dirty="0">
                <a:solidFill>
                  <a:schemeClr val="tx1"/>
                </a:solidFill>
              </a:rPr>
              <a:t>Intervals, axis and ST measured from the waveform; Quiz me hides the name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CATH LAB</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A virtual cath lab on the same patient</a:t>
            </a:r>
            <a:endParaRPr lang="en-US" sz="2600" dirty="0"/>
          </a:p>
        </p:txBody>
      </p:sp>
      <p:pic>
        <p:nvPicPr>
          <p:cNvPr id="4" name="Cath lab screenshot" descr="Cath lab screenshot">    </p:cNvPr>
          <p:cNvPicPr>
            <a:picLocks noChangeAspect="1"/>
          </p:cNvPicPr>
          <p:nvPr/>
        </p:nvPicPr>
        <p:blipFill>
          <a:blip r:embed="rId1"/>
          <a:stretch>
            <a:fillRect/>
          </a:stretch>
        </p:blipFill>
        <p:spPr>
          <a:xfrm>
            <a:off x="32004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45720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Angiography from any C-arm angle; dye moves at each vessel's solved flow (TIMI 0 to 3)</a:t>
            </a:r>
            <a:endParaRPr lang="en-US" sz="1400" dirty="0"/>
          </a:p>
          <a:p>
            <a:pPr marL="177800" indent="-177800">
              <a:spcAft>
                <a:spcPts val="800"/>
              </a:spcAft>
              <a:buSzPct val="100000"/>
              <a:buChar char="•"/>
            </a:pPr>
            <a:r>
              <a:rPr lang="en-US" sz="1400" dirty="0">
                <a:solidFill>
                  <a:schemeClr val="tx1"/>
                </a:solidFill>
              </a:rPr>
              <a:t>Pressure-wire pullback at rest and hyperemia reads Pd/Pa and FFR</a:t>
            </a:r>
            <a:endParaRPr lang="en-US" sz="1400" dirty="0"/>
          </a:p>
          <a:p>
            <a:pPr marL="177800" indent="-177800">
              <a:spcAft>
                <a:spcPts val="800"/>
              </a:spcAft>
              <a:buSzPct val="100000"/>
              <a:buChar char="•"/>
            </a:pPr>
            <a:r>
              <a:rPr lang="en-US" sz="1400" dirty="0">
                <a:solidFill>
                  <a:schemeClr val="tx1"/>
                </a:solidFill>
              </a:rPr>
              <a:t>PCI, lysis and CABG show the vessel before and after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STRUCTURAL</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Valve and congenital lesions on a closed-loop heart</a:t>
            </a:r>
            <a:endParaRPr lang="en-US" sz="2600" dirty="0"/>
          </a:p>
        </p:txBody>
      </p:sp>
      <p:pic>
        <p:nvPicPr>
          <p:cNvPr id="4" name="Structural screenshot" descr="Structural screenshot">    </p:cNvPr>
          <p:cNvPicPr>
            <a:picLocks noChangeAspect="1"/>
          </p:cNvPicPr>
          <p:nvPr/>
        </p:nvPicPr>
        <p:blipFill>
          <a:blip r:embed="rId1"/>
          <a:stretch>
            <a:fillRect/>
          </a:stretch>
        </p:blipFill>
        <p:spPr>
          <a:xfrm>
            <a:off x="4572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621792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8 valve lesions and 8 congenital defects, each with severity sliders</a:t>
            </a:r>
            <a:endParaRPr lang="en-US" sz="1400" dirty="0"/>
          </a:p>
          <a:p>
            <a:pPr marL="177800" indent="-177800">
              <a:spcAft>
                <a:spcPts val="800"/>
              </a:spcAft>
              <a:buSzPct val="100000"/>
              <a:buChar char="•"/>
            </a:pPr>
            <a:r>
              <a:rPr lang="en-US" sz="1400" dirty="0">
                <a:solidFill>
                  <a:schemeClr val="tx1"/>
                </a:solidFill>
              </a:rPr>
              <a:t>Cath pressures, saturations, gradients, Qp:Qs and PV loops update live</a:t>
            </a:r>
            <a:endParaRPr lang="en-US" sz="1400" dirty="0"/>
          </a:p>
          <a:p>
            <a:pPr marL="177800" indent="-177800">
              <a:spcAft>
                <a:spcPts val="800"/>
              </a:spcAft>
              <a:buSzPct val="100000"/>
              <a:buChar char="•"/>
            </a:pPr>
            <a:r>
              <a:rPr lang="en-US" sz="1400" dirty="0">
                <a:solidFill>
                  <a:schemeClr val="tx1"/>
                </a:solidFill>
              </a:rPr>
              <a:t>Auscultation findings and oxygen saturation mapped onto the 3D heart</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01 · FEATURE · ECHO</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Echo atlas: from probe position to the loop</a:t>
            </a:r>
            <a:endParaRPr lang="en-US" sz="2600" dirty="0"/>
          </a:p>
        </p:txBody>
      </p:sp>
      <p:pic>
        <p:nvPicPr>
          <p:cNvPr id="4" name="Echo screenshot" descr="Echo screenshot">    </p:cNvPr>
          <p:cNvPicPr>
            <a:picLocks noChangeAspect="1"/>
          </p:cNvPicPr>
          <p:nvPr/>
        </p:nvPicPr>
        <p:blipFill>
          <a:blip r:embed="rId1"/>
          <a:stretch>
            <a:fillRect/>
          </a:stretch>
        </p:blipFill>
        <p:spPr>
          <a:xfrm>
            <a:off x="3200400" y="1234440"/>
            <a:ext cx="5486400" cy="30861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457200" y="1280160"/>
            <a:ext cx="2468880" cy="32918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Probe and imaging plane on the 3D heart beside a real TTE loop</a:t>
            </a:r>
            <a:endParaRPr lang="en-US" sz="1400" dirty="0"/>
          </a:p>
          <a:p>
            <a:pPr marL="177800" indent="-177800">
              <a:spcAft>
                <a:spcPts val="800"/>
              </a:spcAft>
              <a:buSzPct val="100000"/>
              <a:buChar char="•"/>
            </a:pPr>
            <a:r>
              <a:rPr lang="en-US" sz="1400" dirty="0">
                <a:solidFill>
                  <a:schemeClr val="tx1"/>
                </a:solidFill>
              </a:rPr>
              <a:t>Parasternal long axis, short axis and subcostal views</a:t>
            </a:r>
            <a:endParaRPr lang="en-US" sz="1400" dirty="0"/>
          </a:p>
          <a:p>
            <a:pPr marL="177800" indent="-177800">
              <a:spcAft>
                <a:spcPts val="800"/>
              </a:spcAft>
              <a:buSzPct val="100000"/>
              <a:buChar char="•"/>
            </a:pPr>
            <a:r>
              <a:rPr lang="en-US" sz="1400" dirty="0">
                <a:solidFill>
                  <a:schemeClr val="tx1"/>
                </a:solidFill>
              </a:rPr>
              <a:t>Probe placement, index mark, structures in the sector and what to look for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02 · SKILLSETS TARGETED</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Six skill domains, practiced across the site</a:t>
            </a:r>
            <a:endParaRPr lang="en-US" sz="2600" dirty="0"/>
          </a:p>
        </p:txBody>
      </p:sp>
      <p:sp>
        <p:nvSpPr>
          <p:cNvPr id="4" name="skill card 1"/>
          <p:cNvSpPr/>
          <p:nvPr/>
        </p:nvSpPr>
        <p:spPr>
          <a:xfrm>
            <a:off x="457200" y="1234440"/>
            <a:ext cx="2615184" cy="1572768"/>
          </a:xfrm>
          <a:prstGeom prst="roundRect">
            <a:avLst>
              <a:gd name="adj" fmla="val 4651"/>
            </a:avLst>
          </a:prstGeom>
          <a:solidFill>
            <a:schemeClr val="bg2"/>
          </a:solidFill>
          <a:ln/>
        </p:spPr>
      </p:sp>
      <p:sp>
        <p:nvSpPr>
          <p:cNvPr id="5" name="ECG interpretation circle"/>
          <p:cNvSpPr/>
          <p:nvPr/>
        </p:nvSpPr>
        <p:spPr>
          <a:xfrm>
            <a:off x="640080" y="1417320"/>
            <a:ext cx="420624" cy="420624"/>
          </a:xfrm>
          <a:prstGeom prst="ellipse">
            <a:avLst/>
          </a:prstGeom>
          <a:solidFill>
            <a:schemeClr val="accent1"/>
          </a:solidFill>
          <a:ln/>
        </p:spPr>
      </p:sp>
      <p:pic>
        <p:nvPicPr>
          <p:cNvPr id="6" name="ECG interpretation icon" descr="ECG interpretation">    </p:cNvPr>
          <p:cNvPicPr>
            <a:picLocks noChangeAspect="1"/>
          </p:cNvPicPr>
          <p:nvPr/>
        </p:nvPicPr>
        <p:blipFill>
          <a:blip r:embed="rId1"/>
          <a:stretch>
            <a:fillRect/>
          </a:stretch>
        </p:blipFill>
        <p:spPr>
          <a:xfrm>
            <a:off x="745236" y="1522476"/>
            <a:ext cx="210312" cy="210312"/>
          </a:xfrm>
          <a:prstGeom prst="rect">
            <a:avLst/>
          </a:prstGeom>
        </p:spPr>
      </p:pic>
      <p:sp>
        <p:nvSpPr>
          <p:cNvPr id="7" name="Text 4"/>
          <p:cNvSpPr txBox="1"/>
          <p:nvPr/>
        </p:nvSpPr>
        <p:spPr>
          <a:xfrm>
            <a:off x="1170432" y="137160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ECG interpretation</a:t>
            </a:r>
            <a:endParaRPr lang="en-US" sz="1400" dirty="0"/>
          </a:p>
        </p:txBody>
      </p:sp>
      <p:sp>
        <p:nvSpPr>
          <p:cNvPr id="8" name="Text 5"/>
          <p:cNvSpPr txBox="1"/>
          <p:nvPr/>
        </p:nvSpPr>
        <p:spPr>
          <a:xfrm>
            <a:off x="640080" y="1947672"/>
            <a:ext cx="2286000" cy="566928"/>
          </a:xfrm>
          <a:prstGeom prst="rect">
            <a:avLst/>
          </a:prstGeom>
          <a:noFill/>
          <a:ln/>
        </p:spPr>
        <p:txBody>
          <a:bodyPr wrap="square" lIns="0" tIns="0" rIns="0" bIns="0" rtlCol="0" anchor="t"/>
          <a:lstStyle/>
          <a:p>
            <a:pPr indent="0" marL="0">
              <a:buNone/>
            </a:pPr>
            <a:r>
              <a:rPr lang="en-US" sz="1200" dirty="0">
                <a:solidFill>
                  <a:schemeClr val="tx1"/>
                </a:solidFill>
              </a:rPr>
              <a:t>Localize the culprit from ST changes; 50+ rhythms and mimics</a:t>
            </a:r>
            <a:endParaRPr lang="en-US" sz="1200" dirty="0"/>
          </a:p>
        </p:txBody>
      </p:sp>
      <p:sp>
        <p:nvSpPr>
          <p:cNvPr id="9" name="Text 6"/>
          <p:cNvSpPr txBox="1"/>
          <p:nvPr/>
        </p:nvSpPr>
        <p:spPr>
          <a:xfrm>
            <a:off x="640080" y="253288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EKG · SIM · GAME</a:t>
            </a:r>
            <a:endParaRPr lang="en-US" sz="900" dirty="0"/>
          </a:p>
        </p:txBody>
      </p:sp>
      <p:sp>
        <p:nvSpPr>
          <p:cNvPr id="10" name="skill card 2"/>
          <p:cNvSpPr/>
          <p:nvPr/>
        </p:nvSpPr>
        <p:spPr>
          <a:xfrm>
            <a:off x="3264408" y="1234440"/>
            <a:ext cx="2615184" cy="1572768"/>
          </a:xfrm>
          <a:prstGeom prst="roundRect">
            <a:avLst>
              <a:gd name="adj" fmla="val 4651"/>
            </a:avLst>
          </a:prstGeom>
          <a:solidFill>
            <a:schemeClr val="bg2"/>
          </a:solidFill>
          <a:ln/>
        </p:spPr>
      </p:sp>
      <p:sp>
        <p:nvSpPr>
          <p:cNvPr id="11" name="Coronary anatomy circle"/>
          <p:cNvSpPr/>
          <p:nvPr/>
        </p:nvSpPr>
        <p:spPr>
          <a:xfrm>
            <a:off x="3447288" y="1417320"/>
            <a:ext cx="420624" cy="420624"/>
          </a:xfrm>
          <a:prstGeom prst="ellipse">
            <a:avLst/>
          </a:prstGeom>
          <a:solidFill>
            <a:schemeClr val="accent1"/>
          </a:solidFill>
          <a:ln/>
        </p:spPr>
      </p:sp>
      <p:pic>
        <p:nvPicPr>
          <p:cNvPr id="12" name="Coronary anatomy icon" descr="Coronary anatomy">    </p:cNvPr>
          <p:cNvPicPr>
            <a:picLocks noChangeAspect="1"/>
          </p:cNvPicPr>
          <p:nvPr/>
        </p:nvPicPr>
        <p:blipFill>
          <a:blip r:embed="rId2"/>
          <a:stretch>
            <a:fillRect/>
          </a:stretch>
        </p:blipFill>
        <p:spPr>
          <a:xfrm>
            <a:off x="3552444" y="1522476"/>
            <a:ext cx="210312" cy="210312"/>
          </a:xfrm>
          <a:prstGeom prst="rect">
            <a:avLst/>
          </a:prstGeom>
        </p:spPr>
      </p:pic>
      <p:sp>
        <p:nvSpPr>
          <p:cNvPr id="13" name="Text 9"/>
          <p:cNvSpPr txBox="1"/>
          <p:nvPr/>
        </p:nvSpPr>
        <p:spPr>
          <a:xfrm>
            <a:off x="3977640" y="137160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Coronary anatomy</a:t>
            </a:r>
            <a:endParaRPr lang="en-US" sz="1400" dirty="0"/>
          </a:p>
        </p:txBody>
      </p:sp>
      <p:sp>
        <p:nvSpPr>
          <p:cNvPr id="14" name="Text 10"/>
          <p:cNvSpPr txBox="1"/>
          <p:nvPr/>
        </p:nvSpPr>
        <p:spPr>
          <a:xfrm>
            <a:off x="3447288" y="1947672"/>
            <a:ext cx="2286000" cy="566928"/>
          </a:xfrm>
          <a:prstGeom prst="rect">
            <a:avLst/>
          </a:prstGeom>
          <a:noFill/>
          <a:ln/>
        </p:spPr>
        <p:txBody>
          <a:bodyPr wrap="square" lIns="0" tIns="0" rIns="0" bIns="0" rtlCol="0" anchor="t"/>
          <a:lstStyle/>
          <a:p>
            <a:pPr indent="0" marL="0">
              <a:buNone/>
            </a:pPr>
            <a:r>
              <a:rPr lang="en-US" sz="1200" dirty="0">
                <a:solidFill>
                  <a:schemeClr val="tx1"/>
                </a:solidFill>
              </a:rPr>
              <a:t>Dominance, variants, and which bed each artery feeds</a:t>
            </a:r>
            <a:endParaRPr lang="en-US" sz="1200" dirty="0"/>
          </a:p>
        </p:txBody>
      </p:sp>
      <p:sp>
        <p:nvSpPr>
          <p:cNvPr id="15" name="Text 11"/>
          <p:cNvSpPr txBox="1"/>
          <p:nvPr/>
        </p:nvSpPr>
        <p:spPr>
          <a:xfrm>
            <a:off x="3447288" y="253288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SIM · GAME · CATH</a:t>
            </a:r>
            <a:endParaRPr lang="en-US" sz="900" dirty="0"/>
          </a:p>
        </p:txBody>
      </p:sp>
      <p:sp>
        <p:nvSpPr>
          <p:cNvPr id="16" name="skill card 3"/>
          <p:cNvSpPr/>
          <p:nvPr/>
        </p:nvSpPr>
        <p:spPr>
          <a:xfrm>
            <a:off x="6071616" y="1234440"/>
            <a:ext cx="2615184" cy="1572768"/>
          </a:xfrm>
          <a:prstGeom prst="roundRect">
            <a:avLst>
              <a:gd name="adj" fmla="val 4651"/>
            </a:avLst>
          </a:prstGeom>
          <a:solidFill>
            <a:schemeClr val="bg2"/>
          </a:solidFill>
          <a:ln/>
        </p:spPr>
      </p:sp>
      <p:sp>
        <p:nvSpPr>
          <p:cNvPr id="17" name="Ischemic physiology circle"/>
          <p:cNvSpPr/>
          <p:nvPr/>
        </p:nvSpPr>
        <p:spPr>
          <a:xfrm>
            <a:off x="6254496" y="1417320"/>
            <a:ext cx="420624" cy="420624"/>
          </a:xfrm>
          <a:prstGeom prst="ellipse">
            <a:avLst/>
          </a:prstGeom>
          <a:solidFill>
            <a:schemeClr val="accent1"/>
          </a:solidFill>
          <a:ln/>
        </p:spPr>
      </p:sp>
      <p:pic>
        <p:nvPicPr>
          <p:cNvPr id="18" name="Ischemic physiology icon" descr="Ischemic physiology">    </p:cNvPr>
          <p:cNvPicPr>
            <a:picLocks noChangeAspect="1"/>
          </p:cNvPicPr>
          <p:nvPr/>
        </p:nvPicPr>
        <p:blipFill>
          <a:blip r:embed="rId3"/>
          <a:stretch>
            <a:fillRect/>
          </a:stretch>
        </p:blipFill>
        <p:spPr>
          <a:xfrm>
            <a:off x="6359652" y="1522476"/>
            <a:ext cx="210312" cy="210312"/>
          </a:xfrm>
          <a:prstGeom prst="rect">
            <a:avLst/>
          </a:prstGeom>
        </p:spPr>
      </p:pic>
      <p:sp>
        <p:nvSpPr>
          <p:cNvPr id="19" name="Text 14"/>
          <p:cNvSpPr txBox="1"/>
          <p:nvPr/>
        </p:nvSpPr>
        <p:spPr>
          <a:xfrm>
            <a:off x="6784848" y="137160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Ischemic physiology</a:t>
            </a:r>
            <a:endParaRPr lang="en-US" sz="1400" dirty="0"/>
          </a:p>
        </p:txBody>
      </p:sp>
      <p:sp>
        <p:nvSpPr>
          <p:cNvPr id="20" name="Text 15"/>
          <p:cNvSpPr txBox="1"/>
          <p:nvPr/>
        </p:nvSpPr>
        <p:spPr>
          <a:xfrm>
            <a:off x="6254496" y="1947672"/>
            <a:ext cx="2286000" cy="566928"/>
          </a:xfrm>
          <a:prstGeom prst="rect">
            <a:avLst/>
          </a:prstGeom>
          <a:noFill/>
          <a:ln/>
        </p:spPr>
        <p:txBody>
          <a:bodyPr wrap="square" lIns="0" tIns="0" rIns="0" bIns="0" rtlCol="0" anchor="t"/>
          <a:lstStyle/>
          <a:p>
            <a:pPr indent="0" marL="0">
              <a:buNone/>
            </a:pPr>
            <a:r>
              <a:rPr lang="en-US" sz="1200" dirty="0">
                <a:solidFill>
                  <a:schemeClr val="tx1"/>
                </a:solidFill>
              </a:rPr>
              <a:t>Supply vs demand, autoregulation, reflexes, perfusion pressure</a:t>
            </a:r>
            <a:endParaRPr lang="en-US" sz="1200" dirty="0"/>
          </a:p>
        </p:txBody>
      </p:sp>
      <p:sp>
        <p:nvSpPr>
          <p:cNvPr id="21" name="Text 16"/>
          <p:cNvSpPr txBox="1"/>
          <p:nvPr/>
        </p:nvSpPr>
        <p:spPr>
          <a:xfrm>
            <a:off x="6254496" y="253288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SIM · CATH</a:t>
            </a:r>
            <a:endParaRPr lang="en-US" sz="900" dirty="0"/>
          </a:p>
        </p:txBody>
      </p:sp>
      <p:sp>
        <p:nvSpPr>
          <p:cNvPr id="22" name="skill card 4"/>
          <p:cNvSpPr/>
          <p:nvPr/>
        </p:nvSpPr>
        <p:spPr>
          <a:xfrm>
            <a:off x="457200" y="2971800"/>
            <a:ext cx="2615184" cy="1572768"/>
          </a:xfrm>
          <a:prstGeom prst="roundRect">
            <a:avLst>
              <a:gd name="adj" fmla="val 4651"/>
            </a:avLst>
          </a:prstGeom>
          <a:solidFill>
            <a:schemeClr val="bg2"/>
          </a:solidFill>
          <a:ln/>
        </p:spPr>
      </p:sp>
      <p:sp>
        <p:nvSpPr>
          <p:cNvPr id="23" name="STEMI and shock care circle"/>
          <p:cNvSpPr/>
          <p:nvPr/>
        </p:nvSpPr>
        <p:spPr>
          <a:xfrm>
            <a:off x="640080" y="3154680"/>
            <a:ext cx="420624" cy="420624"/>
          </a:xfrm>
          <a:prstGeom prst="ellipse">
            <a:avLst/>
          </a:prstGeom>
          <a:solidFill>
            <a:schemeClr val="accent1"/>
          </a:solidFill>
          <a:ln/>
        </p:spPr>
      </p:sp>
      <p:pic>
        <p:nvPicPr>
          <p:cNvPr id="24" name="STEMI and shock care icon" descr="STEMI and shock care">    </p:cNvPr>
          <p:cNvPicPr>
            <a:picLocks noChangeAspect="1"/>
          </p:cNvPicPr>
          <p:nvPr/>
        </p:nvPicPr>
        <p:blipFill>
          <a:blip r:embed="rId4"/>
          <a:stretch>
            <a:fillRect/>
          </a:stretch>
        </p:blipFill>
        <p:spPr>
          <a:xfrm>
            <a:off x="745236" y="3259836"/>
            <a:ext cx="210312" cy="210312"/>
          </a:xfrm>
          <a:prstGeom prst="rect">
            <a:avLst/>
          </a:prstGeom>
        </p:spPr>
      </p:pic>
      <p:sp>
        <p:nvSpPr>
          <p:cNvPr id="25" name="Text 19"/>
          <p:cNvSpPr txBox="1"/>
          <p:nvPr/>
        </p:nvSpPr>
        <p:spPr>
          <a:xfrm>
            <a:off x="1170432" y="310896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STEMI and shock care</a:t>
            </a:r>
            <a:endParaRPr lang="en-US" sz="1400" dirty="0"/>
          </a:p>
        </p:txBody>
      </p:sp>
      <p:sp>
        <p:nvSpPr>
          <p:cNvPr id="26" name="Text 20"/>
          <p:cNvSpPr txBox="1"/>
          <p:nvPr/>
        </p:nvSpPr>
        <p:spPr>
          <a:xfrm>
            <a:off x="640080" y="3685032"/>
            <a:ext cx="2286000" cy="566928"/>
          </a:xfrm>
          <a:prstGeom prst="rect">
            <a:avLst/>
          </a:prstGeom>
          <a:noFill/>
          <a:ln/>
        </p:spPr>
        <p:txBody>
          <a:bodyPr wrap="square" lIns="0" tIns="0" rIns="0" bIns="0" rtlCol="0" anchor="t"/>
          <a:lstStyle/>
          <a:p>
            <a:pPr indent="0" marL="0">
              <a:buNone/>
            </a:pPr>
            <a:r>
              <a:rPr lang="en-US" sz="1200" dirty="0">
                <a:solidFill>
                  <a:schemeClr val="tx1"/>
                </a:solidFill>
              </a:rPr>
              <a:t>Reperfusion choice and timing; drug and device trade-offs</a:t>
            </a:r>
            <a:endParaRPr lang="en-US" sz="1200" dirty="0"/>
          </a:p>
        </p:txBody>
      </p:sp>
      <p:sp>
        <p:nvSpPr>
          <p:cNvPr id="27" name="Text 21"/>
          <p:cNvSpPr txBox="1"/>
          <p:nvPr/>
        </p:nvSpPr>
        <p:spPr>
          <a:xfrm>
            <a:off x="640080" y="427024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SIM · GAME</a:t>
            </a:r>
            <a:endParaRPr lang="en-US" sz="900" dirty="0"/>
          </a:p>
        </p:txBody>
      </p:sp>
      <p:sp>
        <p:nvSpPr>
          <p:cNvPr id="28" name="skill card 5"/>
          <p:cNvSpPr/>
          <p:nvPr/>
        </p:nvSpPr>
        <p:spPr>
          <a:xfrm>
            <a:off x="3264408" y="2971800"/>
            <a:ext cx="2615184" cy="1572768"/>
          </a:xfrm>
          <a:prstGeom prst="roundRect">
            <a:avLst>
              <a:gd name="adj" fmla="val 4651"/>
            </a:avLst>
          </a:prstGeom>
          <a:solidFill>
            <a:schemeClr val="bg2"/>
          </a:solidFill>
          <a:ln/>
        </p:spPr>
      </p:sp>
      <p:sp>
        <p:nvSpPr>
          <p:cNvPr id="29" name="Invasive and imaging reads circle"/>
          <p:cNvSpPr/>
          <p:nvPr/>
        </p:nvSpPr>
        <p:spPr>
          <a:xfrm>
            <a:off x="3447288" y="3154680"/>
            <a:ext cx="420624" cy="420624"/>
          </a:xfrm>
          <a:prstGeom prst="ellipse">
            <a:avLst/>
          </a:prstGeom>
          <a:solidFill>
            <a:schemeClr val="accent1"/>
          </a:solidFill>
          <a:ln/>
        </p:spPr>
      </p:sp>
      <p:pic>
        <p:nvPicPr>
          <p:cNvPr id="30" name="Invasive and imaging reads icon" descr="Invasive and imaging reads">    </p:cNvPr>
          <p:cNvPicPr>
            <a:picLocks noChangeAspect="1"/>
          </p:cNvPicPr>
          <p:nvPr/>
        </p:nvPicPr>
        <p:blipFill>
          <a:blip r:embed="rId5"/>
          <a:stretch>
            <a:fillRect/>
          </a:stretch>
        </p:blipFill>
        <p:spPr>
          <a:xfrm>
            <a:off x="3552444" y="3259836"/>
            <a:ext cx="210312" cy="210312"/>
          </a:xfrm>
          <a:prstGeom prst="rect">
            <a:avLst/>
          </a:prstGeom>
        </p:spPr>
      </p:pic>
      <p:sp>
        <p:nvSpPr>
          <p:cNvPr id="31" name="Text 24"/>
          <p:cNvSpPr txBox="1"/>
          <p:nvPr/>
        </p:nvSpPr>
        <p:spPr>
          <a:xfrm>
            <a:off x="3977640" y="310896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Invasive and imaging reads</a:t>
            </a:r>
            <a:endParaRPr lang="en-US" sz="1400" dirty="0"/>
          </a:p>
        </p:txBody>
      </p:sp>
      <p:sp>
        <p:nvSpPr>
          <p:cNvPr id="32" name="Text 25"/>
          <p:cNvSpPr txBox="1"/>
          <p:nvPr/>
        </p:nvSpPr>
        <p:spPr>
          <a:xfrm>
            <a:off x="3447288" y="3685032"/>
            <a:ext cx="2286000" cy="566928"/>
          </a:xfrm>
          <a:prstGeom prst="rect">
            <a:avLst/>
          </a:prstGeom>
          <a:noFill/>
          <a:ln/>
        </p:spPr>
        <p:txBody>
          <a:bodyPr wrap="square" lIns="0" tIns="0" rIns="0" bIns="0" rtlCol="0" anchor="t"/>
          <a:lstStyle/>
          <a:p>
            <a:pPr indent="0" marL="0">
              <a:buNone/>
            </a:pPr>
            <a:r>
              <a:rPr lang="en-US" sz="1200" dirty="0">
                <a:solidFill>
                  <a:schemeClr val="tx1"/>
                </a:solidFill>
              </a:rPr>
              <a:t>Angiographic views, TIMI flow, FFR, echo windows</a:t>
            </a:r>
            <a:endParaRPr lang="en-US" sz="1200" dirty="0"/>
          </a:p>
        </p:txBody>
      </p:sp>
      <p:sp>
        <p:nvSpPr>
          <p:cNvPr id="33" name="Text 26"/>
          <p:cNvSpPr txBox="1"/>
          <p:nvPr/>
        </p:nvSpPr>
        <p:spPr>
          <a:xfrm>
            <a:off x="3447288" y="427024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CATH · ECHO</a:t>
            </a:r>
            <a:endParaRPr lang="en-US" sz="900" dirty="0"/>
          </a:p>
        </p:txBody>
      </p:sp>
      <p:sp>
        <p:nvSpPr>
          <p:cNvPr id="34" name="skill card 6"/>
          <p:cNvSpPr/>
          <p:nvPr/>
        </p:nvSpPr>
        <p:spPr>
          <a:xfrm>
            <a:off x="6071616" y="2971800"/>
            <a:ext cx="2615184" cy="1572768"/>
          </a:xfrm>
          <a:prstGeom prst="roundRect">
            <a:avLst>
              <a:gd name="adj" fmla="val 4651"/>
            </a:avLst>
          </a:prstGeom>
          <a:solidFill>
            <a:schemeClr val="bg2"/>
          </a:solidFill>
          <a:ln/>
        </p:spPr>
      </p:sp>
      <p:sp>
        <p:nvSpPr>
          <p:cNvPr id="35" name="Valve and congenital hemodynamics circle"/>
          <p:cNvSpPr/>
          <p:nvPr/>
        </p:nvSpPr>
        <p:spPr>
          <a:xfrm>
            <a:off x="6254496" y="3154680"/>
            <a:ext cx="420624" cy="420624"/>
          </a:xfrm>
          <a:prstGeom prst="ellipse">
            <a:avLst/>
          </a:prstGeom>
          <a:solidFill>
            <a:schemeClr val="accent1"/>
          </a:solidFill>
          <a:ln/>
        </p:spPr>
      </p:sp>
      <p:pic>
        <p:nvPicPr>
          <p:cNvPr id="36" name="Valve and congenital hemodynamics icon" descr="Valve and congenital hemodynamics">    </p:cNvPr>
          <p:cNvPicPr>
            <a:picLocks noChangeAspect="1"/>
          </p:cNvPicPr>
          <p:nvPr/>
        </p:nvPicPr>
        <p:blipFill>
          <a:blip r:embed="rId6"/>
          <a:stretch>
            <a:fillRect/>
          </a:stretch>
        </p:blipFill>
        <p:spPr>
          <a:xfrm>
            <a:off x="6359652" y="3259836"/>
            <a:ext cx="210312" cy="210312"/>
          </a:xfrm>
          <a:prstGeom prst="rect">
            <a:avLst/>
          </a:prstGeom>
        </p:spPr>
      </p:pic>
      <p:sp>
        <p:nvSpPr>
          <p:cNvPr id="37" name="Text 29"/>
          <p:cNvSpPr txBox="1"/>
          <p:nvPr/>
        </p:nvSpPr>
        <p:spPr>
          <a:xfrm>
            <a:off x="6784848" y="3108960"/>
            <a:ext cx="1783080" cy="512064"/>
          </a:xfrm>
          <a:prstGeom prst="rect">
            <a:avLst/>
          </a:prstGeom>
          <a:noFill/>
          <a:ln/>
        </p:spPr>
        <p:txBody>
          <a:bodyPr wrap="square" lIns="0" tIns="0" rIns="0" bIns="0" rtlCol="0" anchor="ctr"/>
          <a:lstStyle/>
          <a:p>
            <a:pPr indent="0" marL="0">
              <a:buNone/>
            </a:pPr>
            <a:r>
              <a:rPr lang="en-US" sz="1400" b="1" dirty="0">
                <a:solidFill>
                  <a:schemeClr val="tx1"/>
                </a:solidFill>
              </a:rPr>
              <a:t>Valve and congenital hemodynamics</a:t>
            </a:r>
            <a:endParaRPr lang="en-US" sz="1400" dirty="0"/>
          </a:p>
        </p:txBody>
      </p:sp>
      <p:sp>
        <p:nvSpPr>
          <p:cNvPr id="38" name="Text 30"/>
          <p:cNvSpPr txBox="1"/>
          <p:nvPr/>
        </p:nvSpPr>
        <p:spPr>
          <a:xfrm>
            <a:off x="6254496" y="3685032"/>
            <a:ext cx="2286000" cy="566928"/>
          </a:xfrm>
          <a:prstGeom prst="rect">
            <a:avLst/>
          </a:prstGeom>
          <a:noFill/>
          <a:ln/>
        </p:spPr>
        <p:txBody>
          <a:bodyPr wrap="square" lIns="0" tIns="0" rIns="0" bIns="0" rtlCol="0" anchor="t"/>
          <a:lstStyle/>
          <a:p>
            <a:pPr indent="0" marL="0">
              <a:buNone/>
            </a:pPr>
            <a:r>
              <a:rPr lang="en-US" sz="1200" dirty="0">
                <a:solidFill>
                  <a:schemeClr val="tx1"/>
                </a:solidFill>
              </a:rPr>
              <a:t>Gradients, shunts, saturations and PV loops</a:t>
            </a:r>
            <a:endParaRPr lang="en-US" sz="1200" dirty="0"/>
          </a:p>
        </p:txBody>
      </p:sp>
      <p:sp>
        <p:nvSpPr>
          <p:cNvPr id="39" name="Text 31"/>
          <p:cNvSpPr txBox="1"/>
          <p:nvPr/>
        </p:nvSpPr>
        <p:spPr>
          <a:xfrm>
            <a:off x="6254496" y="4270248"/>
            <a:ext cx="2286000" cy="182880"/>
          </a:xfrm>
          <a:prstGeom prst="rect">
            <a:avLst/>
          </a:prstGeom>
          <a:noFill/>
          <a:ln/>
        </p:spPr>
        <p:txBody>
          <a:bodyPr wrap="square" lIns="0" tIns="0" rIns="0" bIns="0" rtlCol="0" anchor="ctr"/>
          <a:lstStyle/>
          <a:p>
            <a:pPr indent="0" marL="0">
              <a:buNone/>
            </a:pPr>
            <a:r>
              <a:rPr lang="en-US" sz="900" b="1" dirty="0">
                <a:solidFill>
                  <a:schemeClr val="accent1"/>
                </a:solidFill>
                <a:latin typeface="Courier New" pitchFamily="34" charset="0"/>
                <a:ea typeface="Courier New" pitchFamily="34" charset="-122"/>
                <a:cs typeface="Courier New" pitchFamily="34" charset="-120"/>
              </a:rPr>
              <a:t>STRUCTURAL</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03 · INTENDED AUDIENCE</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Built for residents and fellows, open to every level</a:t>
            </a:r>
            <a:endParaRPr lang="en-US" sz="2600" dirty="0"/>
          </a:p>
        </p:txBody>
      </p:sp>
      <p:sp>
        <p:nvSpPr>
          <p:cNvPr id="4" name="audience 1"/>
          <p:cNvSpPr/>
          <p:nvPr/>
        </p:nvSpPr>
        <p:spPr>
          <a:xfrm>
            <a:off x="457200" y="1234440"/>
            <a:ext cx="8229600" cy="713232"/>
          </a:xfrm>
          <a:prstGeom prst="roundRect">
            <a:avLst>
              <a:gd name="adj" fmla="val 7692"/>
            </a:avLst>
          </a:prstGeom>
          <a:solidFill>
            <a:schemeClr val="bg2"/>
          </a:solidFill>
          <a:ln/>
        </p:spPr>
      </p:sp>
      <p:sp>
        <p:nvSpPr>
          <p:cNvPr id="5" name="Medical students circle"/>
          <p:cNvSpPr/>
          <p:nvPr/>
        </p:nvSpPr>
        <p:spPr>
          <a:xfrm>
            <a:off x="621792" y="1371600"/>
            <a:ext cx="438912" cy="438912"/>
          </a:xfrm>
          <a:prstGeom prst="ellipse">
            <a:avLst/>
          </a:prstGeom>
          <a:solidFill>
            <a:schemeClr val="accent1"/>
          </a:solidFill>
          <a:ln/>
        </p:spPr>
      </p:sp>
      <p:pic>
        <p:nvPicPr>
          <p:cNvPr id="6" name="Medical students icon" descr="Medical students">    </p:cNvPr>
          <p:cNvPicPr>
            <a:picLocks noChangeAspect="1"/>
          </p:cNvPicPr>
          <p:nvPr/>
        </p:nvPicPr>
        <p:blipFill>
          <a:blip r:embed="rId1"/>
          <a:stretch>
            <a:fillRect/>
          </a:stretch>
        </p:blipFill>
        <p:spPr>
          <a:xfrm>
            <a:off x="731520" y="1481328"/>
            <a:ext cx="219456" cy="219456"/>
          </a:xfrm>
          <a:prstGeom prst="rect">
            <a:avLst/>
          </a:prstGeom>
        </p:spPr>
      </p:pic>
      <p:sp>
        <p:nvSpPr>
          <p:cNvPr id="7" name="Text 4"/>
          <p:cNvSpPr txBox="1"/>
          <p:nvPr/>
        </p:nvSpPr>
        <p:spPr>
          <a:xfrm>
            <a:off x="1234440" y="1234440"/>
            <a:ext cx="2468880" cy="713232"/>
          </a:xfrm>
          <a:prstGeom prst="rect">
            <a:avLst/>
          </a:prstGeom>
          <a:noFill/>
          <a:ln/>
        </p:spPr>
        <p:txBody>
          <a:bodyPr wrap="square" lIns="0" tIns="0" rIns="0" bIns="0" rtlCol="0" anchor="ctr"/>
          <a:lstStyle/>
          <a:p>
            <a:pPr indent="0" marL="0">
              <a:buNone/>
            </a:pPr>
            <a:r>
              <a:rPr lang="en-US" sz="1400" b="1" dirty="0">
                <a:solidFill>
                  <a:schemeClr val="tx1"/>
                </a:solidFill>
              </a:rPr>
              <a:t>Medical students</a:t>
            </a:r>
            <a:endParaRPr lang="en-US" sz="1400" dirty="0"/>
          </a:p>
        </p:txBody>
      </p:sp>
      <p:sp>
        <p:nvSpPr>
          <p:cNvPr id="8" name="Text 5"/>
          <p:cNvSpPr txBox="1"/>
          <p:nvPr/>
        </p:nvSpPr>
        <p:spPr>
          <a:xfrm>
            <a:off x="4617720" y="1234440"/>
            <a:ext cx="3931920" cy="713232"/>
          </a:xfrm>
          <a:prstGeom prst="rect">
            <a:avLst/>
          </a:prstGeom>
          <a:noFill/>
          <a:ln/>
        </p:spPr>
        <p:txBody>
          <a:bodyPr wrap="square" lIns="0" tIns="0" rIns="0" bIns="0" rtlCol="0" anchor="ctr"/>
          <a:lstStyle/>
          <a:p>
            <a:pPr indent="0" marL="0">
              <a:buNone/>
            </a:pPr>
            <a:r>
              <a:rPr lang="en-US" sz="1300" dirty="0">
                <a:solidFill>
                  <a:schemeClr val="tx1"/>
                </a:solidFill>
              </a:rPr>
              <a:t>Cardiovascular physiology labs; clerkship ECG and coronary anatomy</a:t>
            </a:r>
            <a:endParaRPr lang="en-US" sz="1300" dirty="0"/>
          </a:p>
        </p:txBody>
      </p:sp>
      <p:sp>
        <p:nvSpPr>
          <p:cNvPr id="9" name="audience 2"/>
          <p:cNvSpPr/>
          <p:nvPr/>
        </p:nvSpPr>
        <p:spPr>
          <a:xfrm>
            <a:off x="457200" y="2075688"/>
            <a:ext cx="8229600" cy="713232"/>
          </a:xfrm>
          <a:prstGeom prst="roundRect">
            <a:avLst>
              <a:gd name="adj" fmla="val 7692"/>
            </a:avLst>
          </a:prstGeom>
          <a:solidFill>
            <a:schemeClr val="bg2"/>
          </a:solidFill>
          <a:ln/>
        </p:spPr>
      </p:sp>
      <p:sp>
        <p:nvSpPr>
          <p:cNvPr id="10" name="IM and EM residents circle"/>
          <p:cNvSpPr/>
          <p:nvPr/>
        </p:nvSpPr>
        <p:spPr>
          <a:xfrm>
            <a:off x="621792" y="2212848"/>
            <a:ext cx="438912" cy="438912"/>
          </a:xfrm>
          <a:prstGeom prst="ellipse">
            <a:avLst/>
          </a:prstGeom>
          <a:solidFill>
            <a:schemeClr val="accent1"/>
          </a:solidFill>
          <a:ln/>
        </p:spPr>
      </p:sp>
      <p:pic>
        <p:nvPicPr>
          <p:cNvPr id="11" name="IM and EM residents icon" descr="IM and EM residents">    </p:cNvPr>
          <p:cNvPicPr>
            <a:picLocks noChangeAspect="1"/>
          </p:cNvPicPr>
          <p:nvPr/>
        </p:nvPicPr>
        <p:blipFill>
          <a:blip r:embed="rId2"/>
          <a:stretch>
            <a:fillRect/>
          </a:stretch>
        </p:blipFill>
        <p:spPr>
          <a:xfrm>
            <a:off x="731520" y="2322576"/>
            <a:ext cx="219456" cy="219456"/>
          </a:xfrm>
          <a:prstGeom prst="rect">
            <a:avLst/>
          </a:prstGeom>
        </p:spPr>
      </p:pic>
      <p:sp>
        <p:nvSpPr>
          <p:cNvPr id="12" name="Text 8"/>
          <p:cNvSpPr txBox="1"/>
          <p:nvPr/>
        </p:nvSpPr>
        <p:spPr>
          <a:xfrm>
            <a:off x="1234440" y="2075688"/>
            <a:ext cx="2468880" cy="713232"/>
          </a:xfrm>
          <a:prstGeom prst="rect">
            <a:avLst/>
          </a:prstGeom>
          <a:noFill/>
          <a:ln/>
        </p:spPr>
        <p:txBody>
          <a:bodyPr wrap="square" lIns="0" tIns="0" rIns="0" bIns="0" rtlCol="0" anchor="ctr"/>
          <a:lstStyle/>
          <a:p>
            <a:pPr indent="0" marL="0">
              <a:buNone/>
            </a:pPr>
            <a:r>
              <a:rPr lang="en-US" sz="1400" b="1" dirty="0">
                <a:solidFill>
                  <a:schemeClr val="tx1"/>
                </a:solidFill>
              </a:rPr>
              <a:t>IM and EM residents</a:t>
            </a:r>
            <a:endParaRPr lang="en-US" sz="1400" dirty="0"/>
          </a:p>
        </p:txBody>
      </p:sp>
      <p:sp>
        <p:nvSpPr>
          <p:cNvPr id="13" name="primary chip"/>
          <p:cNvSpPr/>
          <p:nvPr/>
        </p:nvSpPr>
        <p:spPr>
          <a:xfrm>
            <a:off x="3703320" y="2304288"/>
            <a:ext cx="777240" cy="256032"/>
          </a:xfrm>
          <a:prstGeom prst="roundRect">
            <a:avLst>
              <a:gd name="adj" fmla="val 21429"/>
            </a:avLst>
          </a:prstGeom>
          <a:solidFill>
            <a:schemeClr val="accent1"/>
          </a:solidFill>
          <a:ln/>
        </p:spPr>
      </p:sp>
      <p:sp>
        <p:nvSpPr>
          <p:cNvPr id="14" name="Text 10"/>
          <p:cNvSpPr txBox="1"/>
          <p:nvPr/>
        </p:nvSpPr>
        <p:spPr>
          <a:xfrm>
            <a:off x="3703320" y="2304288"/>
            <a:ext cx="777240" cy="256032"/>
          </a:xfrm>
          <a:prstGeom prst="rect">
            <a:avLst/>
          </a:prstGeom>
          <a:noFill/>
          <a:ln/>
        </p:spPr>
        <p:txBody>
          <a:bodyPr wrap="square" lIns="0" tIns="0" rIns="0" bIns="0" rtlCol="0" anchor="ctr"/>
          <a:lstStyle/>
          <a:p>
            <a:pPr algn="ctr" indent="0" marL="0">
              <a:buNone/>
            </a:pPr>
            <a:r>
              <a:rPr lang="en-US" sz="900" b="1" dirty="0">
                <a:solidFill>
                  <a:schemeClr val="bg1"/>
                </a:solidFill>
                <a:latin typeface="Courier New" pitchFamily="34" charset="0"/>
                <a:ea typeface="Courier New" pitchFamily="34" charset="-122"/>
                <a:cs typeface="Courier New" pitchFamily="34" charset="-120"/>
              </a:rPr>
              <a:t>PRIMARY</a:t>
            </a:r>
            <a:endParaRPr lang="en-US" sz="900" dirty="0"/>
          </a:p>
        </p:txBody>
      </p:sp>
      <p:sp>
        <p:nvSpPr>
          <p:cNvPr id="15" name="Text 11"/>
          <p:cNvSpPr txBox="1"/>
          <p:nvPr/>
        </p:nvSpPr>
        <p:spPr>
          <a:xfrm>
            <a:off x="4617720" y="2075688"/>
            <a:ext cx="3931920" cy="713232"/>
          </a:xfrm>
          <a:prstGeom prst="rect">
            <a:avLst/>
          </a:prstGeom>
          <a:noFill/>
          <a:ln/>
        </p:spPr>
        <p:txBody>
          <a:bodyPr wrap="square" lIns="0" tIns="0" rIns="0" bIns="0" rtlCol="0" anchor="ctr"/>
          <a:lstStyle/>
          <a:p>
            <a:pPr indent="0" marL="0">
              <a:buNone/>
            </a:pPr>
            <a:r>
              <a:rPr lang="en-US" sz="1300" dirty="0">
                <a:solidFill>
                  <a:schemeClr val="tx1"/>
                </a:solidFill>
              </a:rPr>
              <a:t>ECG conference, STEMI and cardiogenic shock care, CCU preparation</a:t>
            </a:r>
            <a:endParaRPr lang="en-US" sz="1300" dirty="0"/>
          </a:p>
        </p:txBody>
      </p:sp>
      <p:sp>
        <p:nvSpPr>
          <p:cNvPr id="16" name="audience 3"/>
          <p:cNvSpPr/>
          <p:nvPr/>
        </p:nvSpPr>
        <p:spPr>
          <a:xfrm>
            <a:off x="457200" y="2916936"/>
            <a:ext cx="8229600" cy="713232"/>
          </a:xfrm>
          <a:prstGeom prst="roundRect">
            <a:avLst>
              <a:gd name="adj" fmla="val 7692"/>
            </a:avLst>
          </a:prstGeom>
          <a:solidFill>
            <a:schemeClr val="bg2"/>
          </a:solidFill>
          <a:ln/>
        </p:spPr>
      </p:sp>
      <p:sp>
        <p:nvSpPr>
          <p:cNvPr id="17" name="Cardiology fellows circle"/>
          <p:cNvSpPr/>
          <p:nvPr/>
        </p:nvSpPr>
        <p:spPr>
          <a:xfrm>
            <a:off x="621792" y="3054096"/>
            <a:ext cx="438912" cy="438912"/>
          </a:xfrm>
          <a:prstGeom prst="ellipse">
            <a:avLst/>
          </a:prstGeom>
          <a:solidFill>
            <a:schemeClr val="accent1"/>
          </a:solidFill>
          <a:ln/>
        </p:spPr>
      </p:sp>
      <p:pic>
        <p:nvPicPr>
          <p:cNvPr id="18" name="Cardiology fellows icon" descr="Cardiology fellows">    </p:cNvPr>
          <p:cNvPicPr>
            <a:picLocks noChangeAspect="1"/>
          </p:cNvPicPr>
          <p:nvPr/>
        </p:nvPicPr>
        <p:blipFill>
          <a:blip r:embed="rId3"/>
          <a:stretch>
            <a:fillRect/>
          </a:stretch>
        </p:blipFill>
        <p:spPr>
          <a:xfrm>
            <a:off x="731520" y="3163824"/>
            <a:ext cx="219456" cy="219456"/>
          </a:xfrm>
          <a:prstGeom prst="rect">
            <a:avLst/>
          </a:prstGeom>
        </p:spPr>
      </p:pic>
      <p:sp>
        <p:nvSpPr>
          <p:cNvPr id="19" name="Text 14"/>
          <p:cNvSpPr txBox="1"/>
          <p:nvPr/>
        </p:nvSpPr>
        <p:spPr>
          <a:xfrm>
            <a:off x="1234440" y="2916936"/>
            <a:ext cx="2468880" cy="713232"/>
          </a:xfrm>
          <a:prstGeom prst="rect">
            <a:avLst/>
          </a:prstGeom>
          <a:noFill/>
          <a:ln/>
        </p:spPr>
        <p:txBody>
          <a:bodyPr wrap="square" lIns="0" tIns="0" rIns="0" bIns="0" rtlCol="0" anchor="ctr"/>
          <a:lstStyle/>
          <a:p>
            <a:pPr indent="0" marL="0">
              <a:buNone/>
            </a:pPr>
            <a:r>
              <a:rPr lang="en-US" sz="1400" b="1" dirty="0">
                <a:solidFill>
                  <a:schemeClr val="tx1"/>
                </a:solidFill>
              </a:rPr>
              <a:t>Cardiology fellows</a:t>
            </a:r>
            <a:endParaRPr lang="en-US" sz="1400" dirty="0"/>
          </a:p>
        </p:txBody>
      </p:sp>
      <p:sp>
        <p:nvSpPr>
          <p:cNvPr id="20" name="primary chip"/>
          <p:cNvSpPr/>
          <p:nvPr/>
        </p:nvSpPr>
        <p:spPr>
          <a:xfrm>
            <a:off x="3703320" y="3145536"/>
            <a:ext cx="777240" cy="256032"/>
          </a:xfrm>
          <a:prstGeom prst="roundRect">
            <a:avLst>
              <a:gd name="adj" fmla="val 21429"/>
            </a:avLst>
          </a:prstGeom>
          <a:solidFill>
            <a:schemeClr val="accent1"/>
          </a:solidFill>
          <a:ln/>
        </p:spPr>
      </p:sp>
      <p:sp>
        <p:nvSpPr>
          <p:cNvPr id="21" name="Text 16"/>
          <p:cNvSpPr txBox="1"/>
          <p:nvPr/>
        </p:nvSpPr>
        <p:spPr>
          <a:xfrm>
            <a:off x="3703320" y="3145536"/>
            <a:ext cx="777240" cy="256032"/>
          </a:xfrm>
          <a:prstGeom prst="rect">
            <a:avLst/>
          </a:prstGeom>
          <a:noFill/>
          <a:ln/>
        </p:spPr>
        <p:txBody>
          <a:bodyPr wrap="square" lIns="0" tIns="0" rIns="0" bIns="0" rtlCol="0" anchor="ctr"/>
          <a:lstStyle/>
          <a:p>
            <a:pPr algn="ctr" indent="0" marL="0">
              <a:buNone/>
            </a:pPr>
            <a:r>
              <a:rPr lang="en-US" sz="900" b="1" dirty="0">
                <a:solidFill>
                  <a:schemeClr val="bg1"/>
                </a:solidFill>
                <a:latin typeface="Courier New" pitchFamily="34" charset="0"/>
                <a:ea typeface="Courier New" pitchFamily="34" charset="-122"/>
                <a:cs typeface="Courier New" pitchFamily="34" charset="-120"/>
              </a:rPr>
              <a:t>PRIMARY</a:t>
            </a:r>
            <a:endParaRPr lang="en-US" sz="900" dirty="0"/>
          </a:p>
        </p:txBody>
      </p:sp>
      <p:sp>
        <p:nvSpPr>
          <p:cNvPr id="22" name="Text 17"/>
          <p:cNvSpPr txBox="1"/>
          <p:nvPr/>
        </p:nvSpPr>
        <p:spPr>
          <a:xfrm>
            <a:off x="4617720" y="2916936"/>
            <a:ext cx="3931920" cy="713232"/>
          </a:xfrm>
          <a:prstGeom prst="rect">
            <a:avLst/>
          </a:prstGeom>
          <a:noFill/>
          <a:ln/>
        </p:spPr>
        <p:txBody>
          <a:bodyPr wrap="square" lIns="0" tIns="0" rIns="0" bIns="0" rtlCol="0" anchor="ctr"/>
          <a:lstStyle/>
          <a:p>
            <a:pPr indent="0" marL="0">
              <a:buNone/>
            </a:pPr>
            <a:r>
              <a:rPr lang="en-US" sz="1300" dirty="0">
                <a:solidFill>
                  <a:schemeClr val="tx1"/>
                </a:solidFill>
              </a:rPr>
              <a:t>Culprit localization, cath lab orientation (views, TIMI, FFR), echo windows, structural hemodynamics</a:t>
            </a:r>
            <a:endParaRPr lang="en-US" sz="1300" dirty="0"/>
          </a:p>
        </p:txBody>
      </p:sp>
      <p:sp>
        <p:nvSpPr>
          <p:cNvPr id="23" name="audience 4"/>
          <p:cNvSpPr/>
          <p:nvPr/>
        </p:nvSpPr>
        <p:spPr>
          <a:xfrm>
            <a:off x="457200" y="3758184"/>
            <a:ext cx="8229600" cy="713232"/>
          </a:xfrm>
          <a:prstGeom prst="roundRect">
            <a:avLst>
              <a:gd name="adj" fmla="val 7692"/>
            </a:avLst>
          </a:prstGeom>
          <a:solidFill>
            <a:schemeClr val="bg2"/>
          </a:solidFill>
          <a:ln/>
        </p:spPr>
      </p:sp>
      <p:sp>
        <p:nvSpPr>
          <p:cNvPr id="24" name="Nurses, APPs, CCU and cath lab teams circle"/>
          <p:cNvSpPr/>
          <p:nvPr/>
        </p:nvSpPr>
        <p:spPr>
          <a:xfrm>
            <a:off x="621792" y="3895344"/>
            <a:ext cx="438912" cy="438912"/>
          </a:xfrm>
          <a:prstGeom prst="ellipse">
            <a:avLst/>
          </a:prstGeom>
          <a:solidFill>
            <a:schemeClr val="accent1"/>
          </a:solidFill>
          <a:ln/>
        </p:spPr>
      </p:sp>
      <p:pic>
        <p:nvPicPr>
          <p:cNvPr id="25" name="Nurses, APPs, CCU and cath lab teams icon" descr="Nurses, APPs, CCU and cath lab teams">    </p:cNvPr>
          <p:cNvPicPr>
            <a:picLocks noChangeAspect="1"/>
          </p:cNvPicPr>
          <p:nvPr/>
        </p:nvPicPr>
        <p:blipFill>
          <a:blip r:embed="rId4"/>
          <a:stretch>
            <a:fillRect/>
          </a:stretch>
        </p:blipFill>
        <p:spPr>
          <a:xfrm>
            <a:off x="731520" y="4005072"/>
            <a:ext cx="219456" cy="219456"/>
          </a:xfrm>
          <a:prstGeom prst="rect">
            <a:avLst/>
          </a:prstGeom>
        </p:spPr>
      </p:pic>
      <p:sp>
        <p:nvSpPr>
          <p:cNvPr id="26" name="Text 20"/>
          <p:cNvSpPr txBox="1"/>
          <p:nvPr/>
        </p:nvSpPr>
        <p:spPr>
          <a:xfrm>
            <a:off x="1234440" y="3758184"/>
            <a:ext cx="2468880" cy="713232"/>
          </a:xfrm>
          <a:prstGeom prst="rect">
            <a:avLst/>
          </a:prstGeom>
          <a:noFill/>
          <a:ln/>
        </p:spPr>
        <p:txBody>
          <a:bodyPr wrap="square" lIns="0" tIns="0" rIns="0" bIns="0" rtlCol="0" anchor="ctr"/>
          <a:lstStyle/>
          <a:p>
            <a:pPr indent="0" marL="0">
              <a:buNone/>
            </a:pPr>
            <a:r>
              <a:rPr lang="en-US" sz="1400" b="1" dirty="0">
                <a:solidFill>
                  <a:schemeClr val="tx1"/>
                </a:solidFill>
              </a:rPr>
              <a:t>Nurses, APPs, CCU and cath lab teams</a:t>
            </a:r>
            <a:endParaRPr lang="en-US" sz="1400" dirty="0"/>
          </a:p>
        </p:txBody>
      </p:sp>
      <p:sp>
        <p:nvSpPr>
          <p:cNvPr id="27" name="Text 21"/>
          <p:cNvSpPr txBox="1"/>
          <p:nvPr/>
        </p:nvSpPr>
        <p:spPr>
          <a:xfrm>
            <a:off x="4617720" y="3758184"/>
            <a:ext cx="3931920" cy="713232"/>
          </a:xfrm>
          <a:prstGeom prst="rect">
            <a:avLst/>
          </a:prstGeom>
          <a:noFill/>
          <a:ln/>
        </p:spPr>
        <p:txBody>
          <a:bodyPr wrap="square" lIns="0" tIns="0" rIns="0" bIns="0" rtlCol="0" anchor="ctr"/>
          <a:lstStyle/>
          <a:p>
            <a:pPr indent="0" marL="0">
              <a:buNone/>
            </a:pPr>
            <a:r>
              <a:rPr lang="en-US" sz="1300" dirty="0">
                <a:solidFill>
                  <a:schemeClr val="tx1"/>
                </a:solidFill>
              </a:rPr>
              <a:t>Rhythm recognition and what each support drug or device does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04 · ASSESSMENT METRICS AND COMPETENCY EVALUATION  ·  DRAFT</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Proposed assessment framework (to finalize)</a:t>
            </a:r>
            <a:endParaRPr lang="en-US" sz="2600" dirty="0"/>
          </a:p>
        </p:txBody>
      </p:sp>
      <p:sp>
        <p:nvSpPr>
          <p:cNvPr id="4" name="kirkpatrick 1"/>
          <p:cNvSpPr/>
          <p:nvPr/>
        </p:nvSpPr>
        <p:spPr>
          <a:xfrm>
            <a:off x="457200" y="1234440"/>
            <a:ext cx="1965960" cy="2240280"/>
          </a:xfrm>
          <a:prstGeom prst="roundRect">
            <a:avLst>
              <a:gd name="adj" fmla="val 3721"/>
            </a:avLst>
          </a:prstGeom>
          <a:solidFill>
            <a:schemeClr val="bg2"/>
          </a:solidFill>
          <a:ln w="9525">
            <a:solidFill>
              <a:schemeClr val="accent4"/>
            </a:solidFill>
            <a:prstDash val="dash"/>
          </a:ln>
        </p:spPr>
      </p:sp>
      <p:sp>
        <p:nvSpPr>
          <p:cNvPr id="5" name="Text 3"/>
          <p:cNvSpPr txBox="1"/>
          <p:nvPr/>
        </p:nvSpPr>
        <p:spPr>
          <a:xfrm>
            <a:off x="621792" y="1371600"/>
            <a:ext cx="1645920" cy="182880"/>
          </a:xfrm>
          <a:prstGeom prst="rect">
            <a:avLst/>
          </a:prstGeom>
          <a:noFill/>
          <a:ln/>
        </p:spPr>
        <p:txBody>
          <a:bodyPr wrap="square" lIns="0" tIns="0" rIns="0" bIns="0" rtlCol="0" anchor="ctr"/>
          <a:lstStyle/>
          <a:p>
            <a:pPr indent="0" marL="0">
              <a:buNone/>
            </a:pPr>
            <a:r>
              <a:rPr lang="en-US" sz="900" b="1" dirty="0">
                <a:solidFill>
                  <a:schemeClr val="accent4"/>
                </a:solidFill>
                <a:latin typeface="Courier New" pitchFamily="34" charset="0"/>
                <a:ea typeface="Courier New" pitchFamily="34" charset="-122"/>
                <a:cs typeface="Courier New" pitchFamily="34" charset="-120"/>
              </a:rPr>
              <a:t>KIRKPATRICK</a:t>
            </a:r>
            <a:endParaRPr lang="en-US" sz="900" dirty="0"/>
          </a:p>
        </p:txBody>
      </p:sp>
      <p:sp>
        <p:nvSpPr>
          <p:cNvPr id="6" name="Text 4"/>
          <p:cNvSpPr txBox="1"/>
          <p:nvPr/>
        </p:nvSpPr>
        <p:spPr>
          <a:xfrm>
            <a:off x="621792" y="1572768"/>
            <a:ext cx="1645920" cy="347472"/>
          </a:xfrm>
          <a:prstGeom prst="rect">
            <a:avLst/>
          </a:prstGeom>
          <a:noFill/>
          <a:ln/>
        </p:spPr>
        <p:txBody>
          <a:bodyPr wrap="square" lIns="0" tIns="0" rIns="0" bIns="0" rtlCol="0" anchor="ctr"/>
          <a:lstStyle/>
          <a:p>
            <a:pPr indent="0" marL="0">
              <a:buNone/>
            </a:pPr>
            <a:r>
              <a:rPr lang="en-US" sz="1500" b="1" dirty="0">
                <a:solidFill>
                  <a:schemeClr val="accent1"/>
                </a:solidFill>
              </a:rPr>
              <a:t>1 · Reaction</a:t>
            </a:r>
            <a:endParaRPr lang="en-US" sz="1500" dirty="0"/>
          </a:p>
        </p:txBody>
      </p:sp>
      <p:sp>
        <p:nvSpPr>
          <p:cNvPr id="7" name="Text 5"/>
          <p:cNvSpPr txBox="1"/>
          <p:nvPr/>
        </p:nvSpPr>
        <p:spPr>
          <a:xfrm>
            <a:off x="621792" y="2011680"/>
            <a:ext cx="1691640" cy="1371600"/>
          </a:xfrm>
          <a:prstGeom prst="rect">
            <a:avLst/>
          </a:prstGeom>
          <a:noFill/>
          <a:ln/>
        </p:spPr>
        <p:txBody>
          <a:bodyPr wrap="square" lIns="0" tIns="0" rIns="0" bIns="0" rtlCol="0" anchor="t"/>
          <a:lstStyle/>
          <a:p>
            <a:pPr marL="127000" indent="-127000">
              <a:spcAft>
                <a:spcPts val="600"/>
              </a:spcAft>
              <a:buSzPct val="100000"/>
              <a:buChar char="•"/>
            </a:pPr>
            <a:r>
              <a:rPr lang="en-US" sz="1200" i="1" dirty="0">
                <a:solidFill>
                  <a:schemeClr val="tx1"/>
                </a:solidFill>
              </a:rPr>
              <a:t>Usability (SUS)</a:t>
            </a:r>
            <a:endParaRPr lang="en-US" sz="1200" dirty="0"/>
          </a:p>
          <a:p>
            <a:pPr marL="127000" indent="-127000">
              <a:spcAft>
                <a:spcPts val="600"/>
              </a:spcAft>
              <a:buSzPct val="100000"/>
              <a:buChar char="•"/>
            </a:pPr>
            <a:r>
              <a:rPr lang="en-US" sz="1200" i="1" dirty="0">
                <a:solidFill>
                  <a:schemeClr val="tx1"/>
                </a:solidFill>
              </a:rPr>
              <a:t>Perceived realism</a:t>
            </a:r>
            <a:endParaRPr lang="en-US" sz="1200" dirty="0"/>
          </a:p>
          <a:p>
            <a:pPr marL="127000" indent="-127000">
              <a:spcAft>
                <a:spcPts val="600"/>
              </a:spcAft>
              <a:buSzPct val="100000"/>
              <a:buChar char="•"/>
            </a:pPr>
            <a:r>
              <a:rPr lang="en-US" sz="1200" i="1" dirty="0">
                <a:solidFill>
                  <a:schemeClr val="tx1"/>
                </a:solidFill>
              </a:rPr>
              <a:t>ECG and STEMI confidence (Likert)</a:t>
            </a:r>
            <a:endParaRPr lang="en-US" sz="1200" dirty="0"/>
          </a:p>
        </p:txBody>
      </p:sp>
      <p:sp>
        <p:nvSpPr>
          <p:cNvPr id="8" name="kirkpatrick 2"/>
          <p:cNvSpPr/>
          <p:nvPr/>
        </p:nvSpPr>
        <p:spPr>
          <a:xfrm>
            <a:off x="2560320" y="1234440"/>
            <a:ext cx="1965960" cy="2240280"/>
          </a:xfrm>
          <a:prstGeom prst="roundRect">
            <a:avLst>
              <a:gd name="adj" fmla="val 3721"/>
            </a:avLst>
          </a:prstGeom>
          <a:solidFill>
            <a:schemeClr val="bg2"/>
          </a:solidFill>
          <a:ln w="9525">
            <a:solidFill>
              <a:schemeClr val="accent4"/>
            </a:solidFill>
            <a:prstDash val="dash"/>
          </a:ln>
        </p:spPr>
      </p:sp>
      <p:sp>
        <p:nvSpPr>
          <p:cNvPr id="9" name="Text 7"/>
          <p:cNvSpPr txBox="1"/>
          <p:nvPr/>
        </p:nvSpPr>
        <p:spPr>
          <a:xfrm>
            <a:off x="2724912" y="1371600"/>
            <a:ext cx="1645920" cy="182880"/>
          </a:xfrm>
          <a:prstGeom prst="rect">
            <a:avLst/>
          </a:prstGeom>
          <a:noFill/>
          <a:ln/>
        </p:spPr>
        <p:txBody>
          <a:bodyPr wrap="square" lIns="0" tIns="0" rIns="0" bIns="0" rtlCol="0" anchor="ctr"/>
          <a:lstStyle/>
          <a:p>
            <a:pPr indent="0" marL="0">
              <a:buNone/>
            </a:pPr>
            <a:r>
              <a:rPr lang="en-US" sz="900" b="1" dirty="0">
                <a:solidFill>
                  <a:schemeClr val="accent4"/>
                </a:solidFill>
                <a:latin typeface="Courier New" pitchFamily="34" charset="0"/>
                <a:ea typeface="Courier New" pitchFamily="34" charset="-122"/>
                <a:cs typeface="Courier New" pitchFamily="34" charset="-120"/>
              </a:rPr>
              <a:t>KIRKPATRICK</a:t>
            </a:r>
            <a:endParaRPr lang="en-US" sz="900" dirty="0"/>
          </a:p>
        </p:txBody>
      </p:sp>
      <p:sp>
        <p:nvSpPr>
          <p:cNvPr id="10" name="Text 8"/>
          <p:cNvSpPr txBox="1"/>
          <p:nvPr/>
        </p:nvSpPr>
        <p:spPr>
          <a:xfrm>
            <a:off x="2724912" y="1572768"/>
            <a:ext cx="1645920" cy="347472"/>
          </a:xfrm>
          <a:prstGeom prst="rect">
            <a:avLst/>
          </a:prstGeom>
          <a:noFill/>
          <a:ln/>
        </p:spPr>
        <p:txBody>
          <a:bodyPr wrap="square" lIns="0" tIns="0" rIns="0" bIns="0" rtlCol="0" anchor="ctr"/>
          <a:lstStyle/>
          <a:p>
            <a:pPr indent="0" marL="0">
              <a:buNone/>
            </a:pPr>
            <a:r>
              <a:rPr lang="en-US" sz="1500" b="1" dirty="0">
                <a:solidFill>
                  <a:schemeClr val="accent1"/>
                </a:solidFill>
              </a:rPr>
              <a:t>2 · Learning</a:t>
            </a:r>
            <a:endParaRPr lang="en-US" sz="1500" dirty="0"/>
          </a:p>
        </p:txBody>
      </p:sp>
      <p:sp>
        <p:nvSpPr>
          <p:cNvPr id="11" name="Text 9"/>
          <p:cNvSpPr txBox="1"/>
          <p:nvPr/>
        </p:nvSpPr>
        <p:spPr>
          <a:xfrm>
            <a:off x="2724912" y="2011680"/>
            <a:ext cx="1691640" cy="1371600"/>
          </a:xfrm>
          <a:prstGeom prst="rect">
            <a:avLst/>
          </a:prstGeom>
          <a:noFill/>
          <a:ln/>
        </p:spPr>
        <p:txBody>
          <a:bodyPr wrap="square" lIns="0" tIns="0" rIns="0" bIns="0" rtlCol="0" anchor="t"/>
          <a:lstStyle/>
          <a:p>
            <a:pPr marL="127000" indent="-127000">
              <a:spcAft>
                <a:spcPts val="600"/>
              </a:spcAft>
              <a:buSzPct val="100000"/>
              <a:buChar char="•"/>
            </a:pPr>
            <a:r>
              <a:rPr lang="en-US" sz="1200" i="1" dirty="0">
                <a:solidFill>
                  <a:schemeClr val="tx1"/>
                </a:solidFill>
              </a:rPr>
              <a:t>Pre/post culprit-localization test</a:t>
            </a:r>
            <a:endParaRPr lang="en-US" sz="1200" dirty="0"/>
          </a:p>
          <a:p>
            <a:pPr marL="127000" indent="-127000">
              <a:spcAft>
                <a:spcPts val="600"/>
              </a:spcAft>
              <a:buSzPct val="100000"/>
              <a:buChar char="•"/>
            </a:pPr>
            <a:r>
              <a:rPr lang="en-US" sz="1200" i="1" dirty="0">
                <a:solidFill>
                  <a:schemeClr val="tx1"/>
                </a:solidFill>
              </a:rPr>
              <a:t>Rhythm ID accuracy</a:t>
            </a:r>
            <a:endParaRPr lang="en-US" sz="1200" dirty="0"/>
          </a:p>
          <a:p>
            <a:pPr marL="127000" indent="-127000">
              <a:spcAft>
                <a:spcPts val="600"/>
              </a:spcAft>
              <a:buSzPct val="100000"/>
              <a:buChar char="•"/>
            </a:pPr>
            <a:r>
              <a:rPr lang="en-US" sz="1200" i="1" dirty="0">
                <a:solidFill>
                  <a:schemeClr val="tx1"/>
                </a:solidFill>
              </a:rPr>
              <a:t>Time to correct call</a:t>
            </a:r>
            <a:endParaRPr lang="en-US" sz="1200" dirty="0"/>
          </a:p>
        </p:txBody>
      </p:sp>
      <p:sp>
        <p:nvSpPr>
          <p:cNvPr id="12" name="kirkpatrick 3"/>
          <p:cNvSpPr/>
          <p:nvPr/>
        </p:nvSpPr>
        <p:spPr>
          <a:xfrm>
            <a:off x="4663440" y="1234440"/>
            <a:ext cx="1965960" cy="2240280"/>
          </a:xfrm>
          <a:prstGeom prst="roundRect">
            <a:avLst>
              <a:gd name="adj" fmla="val 3721"/>
            </a:avLst>
          </a:prstGeom>
          <a:solidFill>
            <a:schemeClr val="bg2"/>
          </a:solidFill>
          <a:ln w="9525">
            <a:solidFill>
              <a:schemeClr val="accent4"/>
            </a:solidFill>
            <a:prstDash val="dash"/>
          </a:ln>
        </p:spPr>
      </p:sp>
      <p:sp>
        <p:nvSpPr>
          <p:cNvPr id="13" name="Text 11"/>
          <p:cNvSpPr txBox="1"/>
          <p:nvPr/>
        </p:nvSpPr>
        <p:spPr>
          <a:xfrm>
            <a:off x="4828032" y="1371600"/>
            <a:ext cx="1645920" cy="182880"/>
          </a:xfrm>
          <a:prstGeom prst="rect">
            <a:avLst/>
          </a:prstGeom>
          <a:noFill/>
          <a:ln/>
        </p:spPr>
        <p:txBody>
          <a:bodyPr wrap="square" lIns="0" tIns="0" rIns="0" bIns="0" rtlCol="0" anchor="ctr"/>
          <a:lstStyle/>
          <a:p>
            <a:pPr indent="0" marL="0">
              <a:buNone/>
            </a:pPr>
            <a:r>
              <a:rPr lang="en-US" sz="900" b="1" dirty="0">
                <a:solidFill>
                  <a:schemeClr val="accent4"/>
                </a:solidFill>
                <a:latin typeface="Courier New" pitchFamily="34" charset="0"/>
                <a:ea typeface="Courier New" pitchFamily="34" charset="-122"/>
                <a:cs typeface="Courier New" pitchFamily="34" charset="-120"/>
              </a:rPr>
              <a:t>KIRKPATRICK</a:t>
            </a:r>
            <a:endParaRPr lang="en-US" sz="900" dirty="0"/>
          </a:p>
        </p:txBody>
      </p:sp>
      <p:sp>
        <p:nvSpPr>
          <p:cNvPr id="14" name="Text 12"/>
          <p:cNvSpPr txBox="1"/>
          <p:nvPr/>
        </p:nvSpPr>
        <p:spPr>
          <a:xfrm>
            <a:off x="4828032" y="1572768"/>
            <a:ext cx="1645920" cy="347472"/>
          </a:xfrm>
          <a:prstGeom prst="rect">
            <a:avLst/>
          </a:prstGeom>
          <a:noFill/>
          <a:ln/>
        </p:spPr>
        <p:txBody>
          <a:bodyPr wrap="square" lIns="0" tIns="0" rIns="0" bIns="0" rtlCol="0" anchor="ctr"/>
          <a:lstStyle/>
          <a:p>
            <a:pPr indent="0" marL="0">
              <a:buNone/>
            </a:pPr>
            <a:r>
              <a:rPr lang="en-US" sz="1500" b="1" dirty="0">
                <a:solidFill>
                  <a:schemeClr val="accent1"/>
                </a:solidFill>
              </a:rPr>
              <a:t>3 · Behavior</a:t>
            </a:r>
            <a:endParaRPr lang="en-US" sz="1500" dirty="0"/>
          </a:p>
        </p:txBody>
      </p:sp>
      <p:sp>
        <p:nvSpPr>
          <p:cNvPr id="15" name="Text 13"/>
          <p:cNvSpPr txBox="1"/>
          <p:nvPr/>
        </p:nvSpPr>
        <p:spPr>
          <a:xfrm>
            <a:off x="4828032" y="2011680"/>
            <a:ext cx="1691640" cy="1371600"/>
          </a:xfrm>
          <a:prstGeom prst="rect">
            <a:avLst/>
          </a:prstGeom>
          <a:noFill/>
          <a:ln/>
        </p:spPr>
        <p:txBody>
          <a:bodyPr wrap="square" lIns="0" tIns="0" rIns="0" bIns="0" rtlCol="0" anchor="t"/>
          <a:lstStyle/>
          <a:p>
            <a:pPr marL="127000" indent="-127000">
              <a:spcAft>
                <a:spcPts val="600"/>
              </a:spcAft>
              <a:buSzPct val="100000"/>
              <a:buChar char="•"/>
            </a:pPr>
            <a:r>
              <a:rPr lang="en-US" sz="1200" i="1" dirty="0">
                <a:solidFill>
                  <a:schemeClr val="tx1"/>
                </a:solidFill>
              </a:rPr>
              <a:t>Score trend across daily cases</a:t>
            </a:r>
            <a:endParaRPr lang="en-US" sz="1200" dirty="0"/>
          </a:p>
          <a:p>
            <a:pPr marL="127000" indent="-127000">
              <a:spcAft>
                <a:spcPts val="600"/>
              </a:spcAft>
              <a:buSzPct val="100000"/>
              <a:buChar char="•"/>
            </a:pPr>
            <a:r>
              <a:rPr lang="en-US" sz="1200" i="1" dirty="0">
                <a:solidFill>
                  <a:schemeClr val="tx1"/>
                </a:solidFill>
              </a:rPr>
              <a:t>Guideline-concordant steps</a:t>
            </a:r>
            <a:endParaRPr lang="en-US" sz="1200" dirty="0"/>
          </a:p>
          <a:p>
            <a:pPr marL="127000" indent="-127000">
              <a:spcAft>
                <a:spcPts val="600"/>
              </a:spcAft>
              <a:buSzPct val="100000"/>
              <a:buChar char="•"/>
            </a:pPr>
            <a:r>
              <a:rPr lang="en-US" sz="1200" i="1" dirty="0">
                <a:solidFill>
                  <a:schemeClr val="tx1"/>
                </a:solidFill>
              </a:rPr>
              <a:t>Harmful actions avoided</a:t>
            </a:r>
            <a:endParaRPr lang="en-US" sz="1200" dirty="0"/>
          </a:p>
        </p:txBody>
      </p:sp>
      <p:sp>
        <p:nvSpPr>
          <p:cNvPr id="16" name="kirkpatrick 4"/>
          <p:cNvSpPr/>
          <p:nvPr/>
        </p:nvSpPr>
        <p:spPr>
          <a:xfrm>
            <a:off x="6766560" y="1234440"/>
            <a:ext cx="1965960" cy="2240280"/>
          </a:xfrm>
          <a:prstGeom prst="roundRect">
            <a:avLst>
              <a:gd name="adj" fmla="val 3721"/>
            </a:avLst>
          </a:prstGeom>
          <a:solidFill>
            <a:schemeClr val="bg2"/>
          </a:solidFill>
          <a:ln w="9525">
            <a:solidFill>
              <a:schemeClr val="accent4"/>
            </a:solidFill>
            <a:prstDash val="dash"/>
          </a:ln>
        </p:spPr>
      </p:sp>
      <p:sp>
        <p:nvSpPr>
          <p:cNvPr id="17" name="Text 15"/>
          <p:cNvSpPr txBox="1"/>
          <p:nvPr/>
        </p:nvSpPr>
        <p:spPr>
          <a:xfrm>
            <a:off x="6931152" y="1371600"/>
            <a:ext cx="1645920" cy="182880"/>
          </a:xfrm>
          <a:prstGeom prst="rect">
            <a:avLst/>
          </a:prstGeom>
          <a:noFill/>
          <a:ln/>
        </p:spPr>
        <p:txBody>
          <a:bodyPr wrap="square" lIns="0" tIns="0" rIns="0" bIns="0" rtlCol="0" anchor="ctr"/>
          <a:lstStyle/>
          <a:p>
            <a:pPr indent="0" marL="0">
              <a:buNone/>
            </a:pPr>
            <a:r>
              <a:rPr lang="en-US" sz="900" b="1" dirty="0">
                <a:solidFill>
                  <a:schemeClr val="accent4"/>
                </a:solidFill>
                <a:latin typeface="Courier New" pitchFamily="34" charset="0"/>
                <a:ea typeface="Courier New" pitchFamily="34" charset="-122"/>
                <a:cs typeface="Courier New" pitchFamily="34" charset="-120"/>
              </a:rPr>
              <a:t>KIRKPATRICK</a:t>
            </a:r>
            <a:endParaRPr lang="en-US" sz="900" dirty="0"/>
          </a:p>
        </p:txBody>
      </p:sp>
      <p:sp>
        <p:nvSpPr>
          <p:cNvPr id="18" name="Text 16"/>
          <p:cNvSpPr txBox="1"/>
          <p:nvPr/>
        </p:nvSpPr>
        <p:spPr>
          <a:xfrm>
            <a:off x="6931152" y="1572768"/>
            <a:ext cx="1645920" cy="347472"/>
          </a:xfrm>
          <a:prstGeom prst="rect">
            <a:avLst/>
          </a:prstGeom>
          <a:noFill/>
          <a:ln/>
        </p:spPr>
        <p:txBody>
          <a:bodyPr wrap="square" lIns="0" tIns="0" rIns="0" bIns="0" rtlCol="0" anchor="ctr"/>
          <a:lstStyle/>
          <a:p>
            <a:pPr indent="0" marL="0">
              <a:buNone/>
            </a:pPr>
            <a:r>
              <a:rPr lang="en-US" sz="1500" b="1" dirty="0">
                <a:solidFill>
                  <a:schemeClr val="accent1"/>
                </a:solidFill>
              </a:rPr>
              <a:t>4 · Results</a:t>
            </a:r>
            <a:endParaRPr lang="en-US" sz="1500" dirty="0"/>
          </a:p>
        </p:txBody>
      </p:sp>
      <p:sp>
        <p:nvSpPr>
          <p:cNvPr id="19" name="Text 17"/>
          <p:cNvSpPr txBox="1"/>
          <p:nvPr/>
        </p:nvSpPr>
        <p:spPr>
          <a:xfrm>
            <a:off x="6931152" y="2011680"/>
            <a:ext cx="1691640" cy="1371600"/>
          </a:xfrm>
          <a:prstGeom prst="rect">
            <a:avLst/>
          </a:prstGeom>
          <a:noFill/>
          <a:ln/>
        </p:spPr>
        <p:txBody>
          <a:bodyPr wrap="square" lIns="0" tIns="0" rIns="0" bIns="0" rtlCol="0" anchor="t"/>
          <a:lstStyle/>
          <a:p>
            <a:pPr marL="127000" indent="-127000">
              <a:spcAft>
                <a:spcPts val="600"/>
              </a:spcAft>
              <a:buSzPct val="100000"/>
              <a:buChar char="•"/>
            </a:pPr>
            <a:r>
              <a:rPr lang="en-US" sz="1200" i="1" dirty="0">
                <a:solidFill>
                  <a:schemeClr val="tx1"/>
                </a:solidFill>
              </a:rPr>
              <a:t>Accuracy on real ECGs</a:t>
            </a:r>
            <a:endParaRPr lang="en-US" sz="1200" dirty="0"/>
          </a:p>
          <a:p>
            <a:pPr marL="127000" indent="-127000">
              <a:spcAft>
                <a:spcPts val="600"/>
              </a:spcAft>
              <a:buSzPct val="100000"/>
              <a:buChar char="•"/>
            </a:pPr>
            <a:r>
              <a:rPr lang="en-US" sz="1200" i="1" dirty="0">
                <a:solidFill>
                  <a:schemeClr val="tx1"/>
                </a:solidFill>
              </a:rPr>
              <a:t>Milestone ratings</a:t>
            </a:r>
            <a:endParaRPr lang="en-US" sz="1200" dirty="0"/>
          </a:p>
          <a:p>
            <a:pPr marL="127000" indent="-127000">
              <a:spcAft>
                <a:spcPts val="600"/>
              </a:spcAft>
              <a:buSzPct val="100000"/>
              <a:buChar char="•"/>
            </a:pPr>
            <a:r>
              <a:rPr lang="en-US" sz="1200" i="1" dirty="0">
                <a:solidFill>
                  <a:schemeClr val="tx1"/>
                </a:solidFill>
              </a:rPr>
              <a:t>Long-term follow-up</a:t>
            </a:r>
            <a:endParaRPr lang="en-US" sz="1200" dirty="0"/>
          </a:p>
        </p:txBody>
      </p:sp>
      <p:sp>
        <p:nvSpPr>
          <p:cNvPr id="20" name="built-in data"/>
          <p:cNvSpPr/>
          <p:nvPr/>
        </p:nvSpPr>
        <p:spPr>
          <a:xfrm>
            <a:off x="457200" y="3657600"/>
            <a:ext cx="8229600" cy="914400"/>
          </a:xfrm>
          <a:prstGeom prst="roundRect">
            <a:avLst>
              <a:gd name="adj" fmla="val 8000"/>
            </a:avLst>
          </a:prstGeom>
          <a:solidFill>
            <a:srgbClr val="FFFFFF"/>
          </a:solidFill>
          <a:ln w="12700">
            <a:solidFill>
              <a:schemeClr val="accent1"/>
            </a:solidFill>
            <a:prstDash val="solid"/>
          </a:ln>
        </p:spPr>
      </p:sp>
      <p:sp>
        <p:nvSpPr>
          <p:cNvPr id="21" name="Text 19"/>
          <p:cNvSpPr txBox="1"/>
          <p:nvPr/>
        </p:nvSpPr>
        <p:spPr>
          <a:xfrm>
            <a:off x="640080" y="3657600"/>
            <a:ext cx="7863840" cy="914400"/>
          </a:xfrm>
          <a:prstGeom prst="rect">
            <a:avLst/>
          </a:prstGeom>
          <a:noFill/>
          <a:ln/>
        </p:spPr>
        <p:txBody>
          <a:bodyPr wrap="square" lIns="0" tIns="0" rIns="0" bIns="0" rtlCol="0" anchor="ctr"/>
          <a:lstStyle/>
          <a:p>
            <a:pPr indent="0" marL="0">
              <a:buNone/>
            </a:pPr>
            <a:r>
              <a:rPr lang="en-US" sz="1300" b="1" dirty="0">
                <a:solidFill>
                  <a:schemeClr val="accent1"/>
                </a:solidFill>
              </a:rPr>
              <a:t>Already measured in-app: </a:t>
            </a:r>
            <a:pPr indent="0" marL="0">
              <a:buNone/>
            </a:pPr>
            <a:r>
              <a:rPr lang="en-US" sz="1300" dirty="0">
                <a:solidFill>
                  <a:schemeClr val="tx1"/>
                </a:solidFill>
              </a:rPr>
              <a:t>culprit-call error (mm along the vessel), time to call, RV call, infarct vs. immediate-PCI and no-reperfusion baselines, time in shock, harmful actions by name, and EKG quiz answers.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05 · SIGNIFICANCE AND SEAMLESS INTEGRATION</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Why CoroSim matters in the wider training picture</a:t>
            </a:r>
            <a:endParaRPr lang="en-US" sz="2600" dirty="0"/>
          </a:p>
        </p:txBody>
      </p:sp>
      <p:sp>
        <p:nvSpPr>
          <p:cNvPr id="4" name="quote card"/>
          <p:cNvSpPr/>
          <p:nvPr/>
        </p:nvSpPr>
        <p:spPr>
          <a:xfrm>
            <a:off x="457200" y="1234440"/>
            <a:ext cx="3291840" cy="3246120"/>
          </a:xfrm>
          <a:prstGeom prst="roundRect">
            <a:avLst>
              <a:gd name="adj" fmla="val 2817"/>
            </a:avLst>
          </a:prstGeom>
          <a:solidFill>
            <a:srgbClr val="000000"/>
          </a:solidFill>
          <a:ln/>
        </p:spPr>
      </p:sp>
      <p:sp>
        <p:nvSpPr>
          <p:cNvPr id="5" name="Text 3"/>
          <p:cNvSpPr txBox="1"/>
          <p:nvPr/>
        </p:nvSpPr>
        <p:spPr>
          <a:xfrm>
            <a:off x="731520" y="1463040"/>
            <a:ext cx="2743200" cy="2788920"/>
          </a:xfrm>
          <a:prstGeom prst="rect">
            <a:avLst/>
          </a:prstGeom>
          <a:noFill/>
          <a:ln/>
        </p:spPr>
        <p:txBody>
          <a:bodyPr wrap="square" lIns="0" tIns="0" rIns="0" bIns="0" rtlCol="0" anchor="ctr"/>
          <a:lstStyle/>
          <a:p>
            <a:pPr indent="0" marL="0">
              <a:buNone/>
            </a:pPr>
            <a:r>
              <a:rPr lang="en-US" sz="2000" b="1" i="1" dirty="0">
                <a:solidFill>
                  <a:schemeClr val="accent3"/>
                </a:solidFill>
              </a:rPr>
              <a:t>Cardiology is learned by seeing cause and effect. CoroSim makes the cause something a learner can change.</a:t>
            </a:r>
            <a:endParaRPr lang="en-US" sz="2000" dirty="0"/>
          </a:p>
        </p:txBody>
      </p:sp>
      <p:sp>
        <p:nvSpPr>
          <p:cNvPr id="6" name="dot 1"/>
          <p:cNvSpPr/>
          <p:nvPr/>
        </p:nvSpPr>
        <p:spPr>
          <a:xfrm>
            <a:off x="4069080" y="1298448"/>
            <a:ext cx="201168" cy="201168"/>
          </a:xfrm>
          <a:prstGeom prst="ellipse">
            <a:avLst/>
          </a:prstGeom>
          <a:solidFill>
            <a:schemeClr val="accent1"/>
          </a:solidFill>
          <a:ln/>
        </p:spPr>
      </p:sp>
      <p:sp>
        <p:nvSpPr>
          <p:cNvPr id="7" name="Text 5"/>
          <p:cNvSpPr txBox="1"/>
          <p:nvPr/>
        </p:nvSpPr>
        <p:spPr>
          <a:xfrm>
            <a:off x="4434840" y="1234440"/>
            <a:ext cx="4251960" cy="329184"/>
          </a:xfrm>
          <a:prstGeom prst="rect">
            <a:avLst/>
          </a:prstGeom>
          <a:noFill/>
          <a:ln/>
        </p:spPr>
        <p:txBody>
          <a:bodyPr wrap="square" lIns="0" tIns="0" rIns="0" bIns="0" rtlCol="0" anchor="ctr"/>
          <a:lstStyle/>
          <a:p>
            <a:pPr indent="0" marL="0">
              <a:buNone/>
            </a:pPr>
            <a:r>
              <a:rPr lang="en-US" sz="1500" b="1" dirty="0">
                <a:solidFill>
                  <a:schemeClr val="tx1"/>
                </a:solidFill>
              </a:rPr>
              <a:t>One model from physiology to fellowship</a:t>
            </a:r>
            <a:endParaRPr lang="en-US" sz="1500" dirty="0"/>
          </a:p>
        </p:txBody>
      </p:sp>
      <p:sp>
        <p:nvSpPr>
          <p:cNvPr id="8" name="Text 6"/>
          <p:cNvSpPr txBox="1"/>
          <p:nvPr/>
        </p:nvSpPr>
        <p:spPr>
          <a:xfrm>
            <a:off x="4434840" y="1581912"/>
            <a:ext cx="4251960" cy="640080"/>
          </a:xfrm>
          <a:prstGeom prst="rect">
            <a:avLst/>
          </a:prstGeom>
          <a:noFill/>
          <a:ln/>
        </p:spPr>
        <p:txBody>
          <a:bodyPr wrap="square" lIns="0" tIns="0" rIns="0" bIns="0" rtlCol="0" anchor="t"/>
          <a:lstStyle/>
          <a:p>
            <a:pPr indent="0" marL="0">
              <a:buNone/>
            </a:pPr>
            <a:r>
              <a:rPr lang="en-US" sz="1300" dirty="0">
                <a:solidFill>
                  <a:schemeClr val="tx1"/>
                </a:solidFill>
              </a:rPr>
              <a:t>The same heart runs from first-year physiology to the cath lab, so learners build one mental model and keep it</a:t>
            </a:r>
            <a:endParaRPr lang="en-US" sz="1300" dirty="0"/>
          </a:p>
        </p:txBody>
      </p:sp>
      <p:sp>
        <p:nvSpPr>
          <p:cNvPr id="9" name="dot 2"/>
          <p:cNvSpPr/>
          <p:nvPr/>
        </p:nvSpPr>
        <p:spPr>
          <a:xfrm>
            <a:off x="4069080" y="2395728"/>
            <a:ext cx="201168" cy="201168"/>
          </a:xfrm>
          <a:prstGeom prst="ellipse">
            <a:avLst/>
          </a:prstGeom>
          <a:solidFill>
            <a:schemeClr val="accent1"/>
          </a:solidFill>
          <a:ln/>
        </p:spPr>
      </p:sp>
      <p:sp>
        <p:nvSpPr>
          <p:cNvPr id="10" name="Text 8"/>
          <p:cNvSpPr txBox="1"/>
          <p:nvPr/>
        </p:nvSpPr>
        <p:spPr>
          <a:xfrm>
            <a:off x="4434840" y="2331720"/>
            <a:ext cx="4251960" cy="329184"/>
          </a:xfrm>
          <a:prstGeom prst="rect">
            <a:avLst/>
          </a:prstGeom>
          <a:noFill/>
          <a:ln/>
        </p:spPr>
        <p:txBody>
          <a:bodyPr wrap="square" lIns="0" tIns="0" rIns="0" bIns="0" rtlCol="0" anchor="ctr"/>
          <a:lstStyle/>
          <a:p>
            <a:pPr indent="0" marL="0">
              <a:buNone/>
            </a:pPr>
            <a:r>
              <a:rPr lang="en-US" sz="1500" b="1" dirty="0">
                <a:solidFill>
                  <a:schemeClr val="tx1"/>
                </a:solidFill>
              </a:rPr>
              <a:t>Practice of rare, high-stakes events</a:t>
            </a:r>
            <a:endParaRPr lang="en-US" sz="1500" dirty="0"/>
          </a:p>
        </p:txBody>
      </p:sp>
      <p:sp>
        <p:nvSpPr>
          <p:cNvPr id="11" name="Text 9"/>
          <p:cNvSpPr txBox="1"/>
          <p:nvPr/>
        </p:nvSpPr>
        <p:spPr>
          <a:xfrm>
            <a:off x="4434840" y="2679192"/>
            <a:ext cx="4251960" cy="640080"/>
          </a:xfrm>
          <a:prstGeom prst="rect">
            <a:avLst/>
          </a:prstGeom>
          <a:noFill/>
          <a:ln/>
        </p:spPr>
        <p:txBody>
          <a:bodyPr wrap="square" lIns="0" tIns="0" rIns="0" bIns="0" rtlCol="0" anchor="t"/>
          <a:lstStyle/>
          <a:p>
            <a:pPr indent="0" marL="0">
              <a:buNone/>
            </a:pPr>
            <a:r>
              <a:rPr lang="en-US" sz="1300" dirty="0">
                <a:solidFill>
                  <a:schemeClr val="tx1"/>
                </a:solidFill>
              </a:rPr>
              <a:t>Unlimited low-stakes repetitions of STEMI, shock and heart block, which rotations cannot guarantee</a:t>
            </a:r>
            <a:endParaRPr lang="en-US" sz="1300" dirty="0"/>
          </a:p>
        </p:txBody>
      </p:sp>
      <p:sp>
        <p:nvSpPr>
          <p:cNvPr id="12" name="dot 3"/>
          <p:cNvSpPr/>
          <p:nvPr/>
        </p:nvSpPr>
        <p:spPr>
          <a:xfrm>
            <a:off x="4069080" y="3493008"/>
            <a:ext cx="201168" cy="201168"/>
          </a:xfrm>
          <a:prstGeom prst="ellipse">
            <a:avLst/>
          </a:prstGeom>
          <a:solidFill>
            <a:schemeClr val="accent1"/>
          </a:solidFill>
          <a:ln/>
        </p:spPr>
      </p:sp>
      <p:sp>
        <p:nvSpPr>
          <p:cNvPr id="13" name="Text 11"/>
          <p:cNvSpPr txBox="1"/>
          <p:nvPr/>
        </p:nvSpPr>
        <p:spPr>
          <a:xfrm>
            <a:off x="4434840" y="3429000"/>
            <a:ext cx="4251960" cy="329184"/>
          </a:xfrm>
          <a:prstGeom prst="rect">
            <a:avLst/>
          </a:prstGeom>
          <a:noFill/>
          <a:ln/>
        </p:spPr>
        <p:txBody>
          <a:bodyPr wrap="square" lIns="0" tIns="0" rIns="0" bIns="0" rtlCol="0" anchor="ctr"/>
          <a:lstStyle/>
          <a:p>
            <a:pPr indent="0" marL="0">
              <a:buNone/>
            </a:pPr>
            <a:r>
              <a:rPr lang="en-US" sz="1500" b="1" dirty="0">
                <a:solidFill>
                  <a:schemeClr val="tx1"/>
                </a:solidFill>
              </a:rPr>
              <a:t>Complements existing simulation</a:t>
            </a:r>
            <a:endParaRPr lang="en-US" sz="1500" dirty="0"/>
          </a:p>
        </p:txBody>
      </p:sp>
      <p:sp>
        <p:nvSpPr>
          <p:cNvPr id="14" name="Text 12"/>
          <p:cNvSpPr txBox="1"/>
          <p:nvPr/>
        </p:nvSpPr>
        <p:spPr>
          <a:xfrm>
            <a:off x="4434840" y="3776472"/>
            <a:ext cx="4251960" cy="640080"/>
          </a:xfrm>
          <a:prstGeom prst="rect">
            <a:avLst/>
          </a:prstGeom>
          <a:noFill/>
          <a:ln/>
        </p:spPr>
        <p:txBody>
          <a:bodyPr wrap="square" lIns="0" tIns="0" rIns="0" bIns="0" rtlCol="0" anchor="t"/>
          <a:lstStyle/>
          <a:p>
            <a:pPr indent="0" marL="0">
              <a:buNone/>
            </a:pPr>
            <a:r>
              <a:rPr lang="en-US" sz="1300" dirty="0">
                <a:solidFill>
                  <a:schemeClr val="tx1"/>
                </a:solidFill>
              </a:rPr>
              <a:t>Comes before mannequin, procedural and ACLS sessions, so lab time goes to hands and teamwork</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05 · SIGNIFICANCE AND SEAMLESS INTEGRATION</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Fits into the programs you already run</a:t>
            </a:r>
            <a:endParaRPr lang="en-US" sz="2600" dirty="0"/>
          </a:p>
        </p:txBody>
      </p:sp>
      <p:sp>
        <p:nvSpPr>
          <p:cNvPr id="4" name="integration card 1"/>
          <p:cNvSpPr/>
          <p:nvPr/>
        </p:nvSpPr>
        <p:spPr>
          <a:xfrm>
            <a:off x="457200" y="1234440"/>
            <a:ext cx="2615184" cy="1417320"/>
          </a:xfrm>
          <a:prstGeom prst="roundRect">
            <a:avLst>
              <a:gd name="adj" fmla="val 5161"/>
            </a:avLst>
          </a:prstGeom>
          <a:solidFill>
            <a:schemeClr val="bg2"/>
          </a:solidFill>
          <a:ln/>
        </p:spPr>
      </p:sp>
      <p:sp>
        <p:nvSpPr>
          <p:cNvPr id="5" name="Opens anywhere circle"/>
          <p:cNvSpPr/>
          <p:nvPr/>
        </p:nvSpPr>
        <p:spPr>
          <a:xfrm>
            <a:off x="640080" y="1417320"/>
            <a:ext cx="402336" cy="402336"/>
          </a:xfrm>
          <a:prstGeom prst="ellipse">
            <a:avLst/>
          </a:prstGeom>
          <a:solidFill>
            <a:schemeClr val="accent1"/>
          </a:solidFill>
          <a:ln/>
        </p:spPr>
      </p:sp>
      <p:pic>
        <p:nvPicPr>
          <p:cNvPr id="6" name="Opens anywhere icon" descr="Opens anywhere">    </p:cNvPr>
          <p:cNvPicPr>
            <a:picLocks noChangeAspect="1"/>
          </p:cNvPicPr>
          <p:nvPr/>
        </p:nvPicPr>
        <p:blipFill>
          <a:blip r:embed="rId1"/>
          <a:stretch>
            <a:fillRect/>
          </a:stretch>
        </p:blipFill>
        <p:spPr>
          <a:xfrm>
            <a:off x="740664" y="1517904"/>
            <a:ext cx="201168" cy="201168"/>
          </a:xfrm>
          <a:prstGeom prst="rect">
            <a:avLst/>
          </a:prstGeom>
        </p:spPr>
      </p:pic>
      <p:sp>
        <p:nvSpPr>
          <p:cNvPr id="7" name="Text 4"/>
          <p:cNvSpPr txBox="1"/>
          <p:nvPr/>
        </p:nvSpPr>
        <p:spPr>
          <a:xfrm>
            <a:off x="1152144" y="1399032"/>
            <a:ext cx="1828800" cy="438912"/>
          </a:xfrm>
          <a:prstGeom prst="rect">
            <a:avLst/>
          </a:prstGeom>
          <a:noFill/>
          <a:ln/>
        </p:spPr>
        <p:txBody>
          <a:bodyPr wrap="square" lIns="0" tIns="0" rIns="0" bIns="0" rtlCol="0" anchor="ctr"/>
          <a:lstStyle/>
          <a:p>
            <a:pPr indent="0" marL="0">
              <a:buNone/>
            </a:pPr>
            <a:r>
              <a:rPr lang="en-US" sz="1400" b="1" dirty="0">
                <a:solidFill>
                  <a:schemeClr val="tx1"/>
                </a:solidFill>
              </a:rPr>
              <a:t>Opens anywhere</a:t>
            </a:r>
            <a:endParaRPr lang="en-US" sz="1400" dirty="0"/>
          </a:p>
        </p:txBody>
      </p:sp>
      <p:sp>
        <p:nvSpPr>
          <p:cNvPr id="8" name="Text 5"/>
          <p:cNvSpPr txBox="1"/>
          <p:nvPr/>
        </p:nvSpPr>
        <p:spPr>
          <a:xfrm>
            <a:off x="640080" y="1947672"/>
            <a:ext cx="2286000" cy="640080"/>
          </a:xfrm>
          <a:prstGeom prst="rect">
            <a:avLst/>
          </a:prstGeom>
          <a:noFill/>
          <a:ln/>
        </p:spPr>
        <p:txBody>
          <a:bodyPr wrap="square" lIns="0" tIns="0" rIns="0" bIns="0" rtlCol="0" anchor="t"/>
          <a:lstStyle/>
          <a:p>
            <a:pPr indent="0" marL="0">
              <a:buNone/>
            </a:pPr>
            <a:r>
              <a:rPr lang="en-US" sz="1200" dirty="0">
                <a:solidFill>
                  <a:schemeClr val="tx1"/>
                </a:solidFill>
              </a:rPr>
              <a:t>Laptop, phone or projector; no install, account or license</a:t>
            </a:r>
            <a:endParaRPr lang="en-US" sz="1200" dirty="0"/>
          </a:p>
        </p:txBody>
      </p:sp>
      <p:sp>
        <p:nvSpPr>
          <p:cNvPr id="9" name="integration card 2"/>
          <p:cNvSpPr/>
          <p:nvPr/>
        </p:nvSpPr>
        <p:spPr>
          <a:xfrm>
            <a:off x="3264408" y="1234440"/>
            <a:ext cx="2615184" cy="1417320"/>
          </a:xfrm>
          <a:prstGeom prst="roundRect">
            <a:avLst>
              <a:gd name="adj" fmla="val 5161"/>
            </a:avLst>
          </a:prstGeom>
          <a:solidFill>
            <a:schemeClr val="bg2"/>
          </a:solidFill>
          <a:ln/>
        </p:spPr>
      </p:sp>
      <p:sp>
        <p:nvSpPr>
          <p:cNvPr id="10" name="Fits current sessions circle"/>
          <p:cNvSpPr/>
          <p:nvPr/>
        </p:nvSpPr>
        <p:spPr>
          <a:xfrm>
            <a:off x="3447288" y="1417320"/>
            <a:ext cx="402336" cy="402336"/>
          </a:xfrm>
          <a:prstGeom prst="ellipse">
            <a:avLst/>
          </a:prstGeom>
          <a:solidFill>
            <a:schemeClr val="accent1"/>
          </a:solidFill>
          <a:ln/>
        </p:spPr>
      </p:sp>
      <p:pic>
        <p:nvPicPr>
          <p:cNvPr id="11" name="Fits current sessions icon" descr="Fits current sessions">    </p:cNvPr>
          <p:cNvPicPr>
            <a:picLocks noChangeAspect="1"/>
          </p:cNvPicPr>
          <p:nvPr/>
        </p:nvPicPr>
        <p:blipFill>
          <a:blip r:embed="rId2"/>
          <a:stretch>
            <a:fillRect/>
          </a:stretch>
        </p:blipFill>
        <p:spPr>
          <a:xfrm>
            <a:off x="3547872" y="1517904"/>
            <a:ext cx="201168" cy="201168"/>
          </a:xfrm>
          <a:prstGeom prst="rect">
            <a:avLst/>
          </a:prstGeom>
        </p:spPr>
      </p:pic>
      <p:sp>
        <p:nvSpPr>
          <p:cNvPr id="12" name="Text 8"/>
          <p:cNvSpPr txBox="1"/>
          <p:nvPr/>
        </p:nvSpPr>
        <p:spPr>
          <a:xfrm>
            <a:off x="3959352" y="1399032"/>
            <a:ext cx="1828800" cy="438912"/>
          </a:xfrm>
          <a:prstGeom prst="rect">
            <a:avLst/>
          </a:prstGeom>
          <a:noFill/>
          <a:ln/>
        </p:spPr>
        <p:txBody>
          <a:bodyPr wrap="square" lIns="0" tIns="0" rIns="0" bIns="0" rtlCol="0" anchor="ctr"/>
          <a:lstStyle/>
          <a:p>
            <a:pPr indent="0" marL="0">
              <a:buNone/>
            </a:pPr>
            <a:r>
              <a:rPr lang="en-US" sz="1400" b="1" dirty="0">
                <a:solidFill>
                  <a:schemeClr val="tx1"/>
                </a:solidFill>
              </a:rPr>
              <a:t>Fits current sessions</a:t>
            </a:r>
            <a:endParaRPr lang="en-US" sz="1400" dirty="0"/>
          </a:p>
        </p:txBody>
      </p:sp>
      <p:sp>
        <p:nvSpPr>
          <p:cNvPr id="13" name="Text 9"/>
          <p:cNvSpPr txBox="1"/>
          <p:nvPr/>
        </p:nvSpPr>
        <p:spPr>
          <a:xfrm>
            <a:off x="3447288" y="1947672"/>
            <a:ext cx="2286000" cy="640080"/>
          </a:xfrm>
          <a:prstGeom prst="rect">
            <a:avLst/>
          </a:prstGeom>
          <a:noFill/>
          <a:ln/>
        </p:spPr>
        <p:txBody>
          <a:bodyPr wrap="square" lIns="0" tIns="0" rIns="0" bIns="0" rtlCol="0" anchor="t"/>
          <a:lstStyle/>
          <a:p>
            <a:pPr indent="0" marL="0">
              <a:buNone/>
            </a:pPr>
            <a:r>
              <a:rPr lang="en-US" sz="1200" dirty="0">
                <a:solidFill>
                  <a:schemeClr val="tx1"/>
                </a:solidFill>
              </a:rPr>
              <a:t>ECG conference, morning report, flipped pre-work, boot camps, physiology labs</a:t>
            </a:r>
            <a:endParaRPr lang="en-US" sz="1200" dirty="0"/>
          </a:p>
        </p:txBody>
      </p:sp>
      <p:sp>
        <p:nvSpPr>
          <p:cNvPr id="14" name="integration card 3"/>
          <p:cNvSpPr/>
          <p:nvPr/>
        </p:nvSpPr>
        <p:spPr>
          <a:xfrm>
            <a:off x="6071616" y="1234440"/>
            <a:ext cx="2615184" cy="1417320"/>
          </a:xfrm>
          <a:prstGeom prst="roundRect">
            <a:avLst>
              <a:gd name="adj" fmla="val 5161"/>
            </a:avLst>
          </a:prstGeom>
          <a:solidFill>
            <a:schemeClr val="bg2"/>
          </a:solidFill>
          <a:ln/>
        </p:spPr>
      </p:sp>
      <p:sp>
        <p:nvSpPr>
          <p:cNvPr id="15" name="Faculty assign exact cases circle"/>
          <p:cNvSpPr/>
          <p:nvPr/>
        </p:nvSpPr>
        <p:spPr>
          <a:xfrm>
            <a:off x="6254496" y="1417320"/>
            <a:ext cx="402336" cy="402336"/>
          </a:xfrm>
          <a:prstGeom prst="ellipse">
            <a:avLst/>
          </a:prstGeom>
          <a:solidFill>
            <a:schemeClr val="accent1"/>
          </a:solidFill>
          <a:ln/>
        </p:spPr>
      </p:sp>
      <p:pic>
        <p:nvPicPr>
          <p:cNvPr id="16" name="Faculty assign exact cases icon" descr="Faculty assign exact cases">    </p:cNvPr>
          <p:cNvPicPr>
            <a:picLocks noChangeAspect="1"/>
          </p:cNvPicPr>
          <p:nvPr/>
        </p:nvPicPr>
        <p:blipFill>
          <a:blip r:embed="rId3"/>
          <a:stretch>
            <a:fillRect/>
          </a:stretch>
        </p:blipFill>
        <p:spPr>
          <a:xfrm>
            <a:off x="6355080" y="1517904"/>
            <a:ext cx="201168" cy="201168"/>
          </a:xfrm>
          <a:prstGeom prst="rect">
            <a:avLst/>
          </a:prstGeom>
        </p:spPr>
      </p:pic>
      <p:sp>
        <p:nvSpPr>
          <p:cNvPr id="17" name="Text 12"/>
          <p:cNvSpPr txBox="1"/>
          <p:nvPr/>
        </p:nvSpPr>
        <p:spPr>
          <a:xfrm>
            <a:off x="6766560" y="1399032"/>
            <a:ext cx="1828800" cy="438912"/>
          </a:xfrm>
          <a:prstGeom prst="rect">
            <a:avLst/>
          </a:prstGeom>
          <a:noFill/>
          <a:ln/>
        </p:spPr>
        <p:txBody>
          <a:bodyPr wrap="square" lIns="0" tIns="0" rIns="0" bIns="0" rtlCol="0" anchor="ctr"/>
          <a:lstStyle/>
          <a:p>
            <a:pPr indent="0" marL="0">
              <a:buNone/>
            </a:pPr>
            <a:r>
              <a:rPr lang="en-US" sz="1400" b="1" dirty="0">
                <a:solidFill>
                  <a:schemeClr val="tx1"/>
                </a:solidFill>
              </a:rPr>
              <a:t>Faculty assign exact cases</a:t>
            </a:r>
            <a:endParaRPr lang="en-US" sz="1400" dirty="0"/>
          </a:p>
        </p:txBody>
      </p:sp>
      <p:sp>
        <p:nvSpPr>
          <p:cNvPr id="18" name="Text 13"/>
          <p:cNvSpPr txBox="1"/>
          <p:nvPr/>
        </p:nvSpPr>
        <p:spPr>
          <a:xfrm>
            <a:off x="6254496" y="1947672"/>
            <a:ext cx="2286000" cy="640080"/>
          </a:xfrm>
          <a:prstGeom prst="rect">
            <a:avLst/>
          </a:prstGeom>
          <a:noFill/>
          <a:ln/>
        </p:spPr>
        <p:txBody>
          <a:bodyPr wrap="square" lIns="0" tIns="0" rIns="0" bIns="0" rtlCol="0" anchor="t"/>
          <a:lstStyle/>
          <a:p>
            <a:pPr indent="0" marL="0">
              <a:buNone/>
            </a:pPr>
            <a:r>
              <a:rPr lang="en-US" sz="1200" dirty="0">
                <a:solidFill>
                  <a:schemeClr val="tx1"/>
                </a:solidFill>
              </a:rPr>
              <a:t>Share links open a set patient, tracing or cath case for a lecture, LMS module or exam</a:t>
            </a:r>
            <a:endParaRPr lang="en-US" sz="1200" dirty="0"/>
          </a:p>
        </p:txBody>
      </p:sp>
      <p:sp>
        <p:nvSpPr>
          <p:cNvPr id="19" name="integration card 4"/>
          <p:cNvSpPr/>
          <p:nvPr/>
        </p:nvSpPr>
        <p:spPr>
          <a:xfrm>
            <a:off x="1860804" y="2807208"/>
            <a:ext cx="2615184" cy="1417320"/>
          </a:xfrm>
          <a:prstGeom prst="roundRect">
            <a:avLst>
              <a:gd name="adj" fmla="val 5161"/>
            </a:avLst>
          </a:prstGeom>
          <a:solidFill>
            <a:schemeClr val="bg2"/>
          </a:solidFill>
          <a:ln/>
        </p:spPr>
      </p:sp>
      <p:sp>
        <p:nvSpPr>
          <p:cNvPr id="20" name="AI tutor on request circle"/>
          <p:cNvSpPr/>
          <p:nvPr/>
        </p:nvSpPr>
        <p:spPr>
          <a:xfrm>
            <a:off x="2043684" y="2990088"/>
            <a:ext cx="402336" cy="402336"/>
          </a:xfrm>
          <a:prstGeom prst="ellipse">
            <a:avLst/>
          </a:prstGeom>
          <a:solidFill>
            <a:schemeClr val="accent1"/>
          </a:solidFill>
          <a:ln/>
        </p:spPr>
      </p:sp>
      <p:pic>
        <p:nvPicPr>
          <p:cNvPr id="21" name="AI tutor on request icon" descr="AI tutor on request">    </p:cNvPr>
          <p:cNvPicPr>
            <a:picLocks noChangeAspect="1"/>
          </p:cNvPicPr>
          <p:nvPr/>
        </p:nvPicPr>
        <p:blipFill>
          <a:blip r:embed="rId4"/>
          <a:stretch>
            <a:fillRect/>
          </a:stretch>
        </p:blipFill>
        <p:spPr>
          <a:xfrm>
            <a:off x="2144268" y="3090672"/>
            <a:ext cx="201168" cy="201168"/>
          </a:xfrm>
          <a:prstGeom prst="rect">
            <a:avLst/>
          </a:prstGeom>
        </p:spPr>
      </p:pic>
      <p:sp>
        <p:nvSpPr>
          <p:cNvPr id="22" name="Text 16"/>
          <p:cNvSpPr txBox="1"/>
          <p:nvPr/>
        </p:nvSpPr>
        <p:spPr>
          <a:xfrm>
            <a:off x="2555748" y="2971800"/>
            <a:ext cx="1828800" cy="438912"/>
          </a:xfrm>
          <a:prstGeom prst="rect">
            <a:avLst/>
          </a:prstGeom>
          <a:noFill/>
          <a:ln/>
        </p:spPr>
        <p:txBody>
          <a:bodyPr wrap="square" lIns="0" tIns="0" rIns="0" bIns="0" rtlCol="0" anchor="ctr"/>
          <a:lstStyle/>
          <a:p>
            <a:pPr indent="0" marL="0">
              <a:buNone/>
            </a:pPr>
            <a:r>
              <a:rPr lang="en-US" sz="1400" b="1" dirty="0">
                <a:solidFill>
                  <a:schemeClr val="tx1"/>
                </a:solidFill>
              </a:rPr>
              <a:t>AI tutor on request</a:t>
            </a:r>
            <a:endParaRPr lang="en-US" sz="1400" dirty="0"/>
          </a:p>
        </p:txBody>
      </p:sp>
      <p:sp>
        <p:nvSpPr>
          <p:cNvPr id="23" name="Text 17"/>
          <p:cNvSpPr txBox="1"/>
          <p:nvPr/>
        </p:nvSpPr>
        <p:spPr>
          <a:xfrm>
            <a:off x="2043684" y="3520440"/>
            <a:ext cx="2286000" cy="640080"/>
          </a:xfrm>
          <a:prstGeom prst="rect">
            <a:avLst/>
          </a:prstGeom>
          <a:noFill/>
          <a:ln/>
        </p:spPr>
        <p:txBody>
          <a:bodyPr wrap="square" lIns="0" tIns="0" rIns="0" bIns="0" rtlCol="0" anchor="t"/>
          <a:lstStyle/>
          <a:p>
            <a:pPr indent="0" marL="0">
              <a:buNone/>
            </a:pPr>
            <a:r>
              <a:rPr lang="en-US" sz="1200" dirty="0">
                <a:solidFill>
                  <a:schemeClr val="tx1"/>
                </a:solidFill>
              </a:rPr>
              <a:t>Connect AI lets Claude or ChatGPT run Socratic rounds on the learner's patient</a:t>
            </a:r>
            <a:endParaRPr lang="en-US" sz="1200" dirty="0"/>
          </a:p>
        </p:txBody>
      </p:sp>
      <p:sp>
        <p:nvSpPr>
          <p:cNvPr id="24" name="integration card 5"/>
          <p:cNvSpPr/>
          <p:nvPr/>
        </p:nvSpPr>
        <p:spPr>
          <a:xfrm>
            <a:off x="4668012" y="2807208"/>
            <a:ext cx="2615184" cy="1417320"/>
          </a:xfrm>
          <a:prstGeom prst="roundRect">
            <a:avLst>
              <a:gd name="adj" fmla="val 5161"/>
            </a:avLst>
          </a:prstGeom>
          <a:solidFill>
            <a:schemeClr val="bg2"/>
          </a:solidFill>
          <a:ln/>
        </p:spPr>
      </p:sp>
      <p:sp>
        <p:nvSpPr>
          <p:cNvPr id="25" name="A daily habit circle"/>
          <p:cNvSpPr/>
          <p:nvPr/>
        </p:nvSpPr>
        <p:spPr>
          <a:xfrm>
            <a:off x="4850892" y="2990088"/>
            <a:ext cx="402336" cy="402336"/>
          </a:xfrm>
          <a:prstGeom prst="ellipse">
            <a:avLst/>
          </a:prstGeom>
          <a:solidFill>
            <a:schemeClr val="accent1"/>
          </a:solidFill>
          <a:ln/>
        </p:spPr>
      </p:sp>
      <p:pic>
        <p:nvPicPr>
          <p:cNvPr id="26" name="A daily habit icon" descr="A daily habit">    </p:cNvPr>
          <p:cNvPicPr>
            <a:picLocks noChangeAspect="1"/>
          </p:cNvPicPr>
          <p:nvPr/>
        </p:nvPicPr>
        <p:blipFill>
          <a:blip r:embed="rId5"/>
          <a:stretch>
            <a:fillRect/>
          </a:stretch>
        </p:blipFill>
        <p:spPr>
          <a:xfrm>
            <a:off x="4951476" y="3090672"/>
            <a:ext cx="201168" cy="201168"/>
          </a:xfrm>
          <a:prstGeom prst="rect">
            <a:avLst/>
          </a:prstGeom>
        </p:spPr>
      </p:pic>
      <p:sp>
        <p:nvSpPr>
          <p:cNvPr id="27" name="Text 20"/>
          <p:cNvSpPr txBox="1"/>
          <p:nvPr/>
        </p:nvSpPr>
        <p:spPr>
          <a:xfrm>
            <a:off x="5362956" y="2971800"/>
            <a:ext cx="1828800" cy="438912"/>
          </a:xfrm>
          <a:prstGeom prst="rect">
            <a:avLst/>
          </a:prstGeom>
          <a:noFill/>
          <a:ln/>
        </p:spPr>
        <p:txBody>
          <a:bodyPr wrap="square" lIns="0" tIns="0" rIns="0" bIns="0" rtlCol="0" anchor="ctr"/>
          <a:lstStyle/>
          <a:p>
            <a:pPr indent="0" marL="0">
              <a:buNone/>
            </a:pPr>
            <a:r>
              <a:rPr lang="en-US" sz="1400" b="1" dirty="0">
                <a:solidFill>
                  <a:schemeClr val="tx1"/>
                </a:solidFill>
              </a:rPr>
              <a:t>A daily habit</a:t>
            </a:r>
            <a:endParaRPr lang="en-US" sz="1400" dirty="0"/>
          </a:p>
        </p:txBody>
      </p:sp>
      <p:sp>
        <p:nvSpPr>
          <p:cNvPr id="28" name="Text 21"/>
          <p:cNvSpPr txBox="1"/>
          <p:nvPr/>
        </p:nvSpPr>
        <p:spPr>
          <a:xfrm>
            <a:off x="4850892" y="3520440"/>
            <a:ext cx="2286000" cy="640080"/>
          </a:xfrm>
          <a:prstGeom prst="rect">
            <a:avLst/>
          </a:prstGeom>
          <a:noFill/>
          <a:ln/>
        </p:spPr>
        <p:txBody>
          <a:bodyPr wrap="square" lIns="0" tIns="0" rIns="0" bIns="0" rtlCol="0" anchor="t"/>
          <a:lstStyle/>
          <a:p>
            <a:pPr indent="0" marL="0">
              <a:buNone/>
            </a:pPr>
            <a:r>
              <a:rPr lang="en-US" sz="1200" dirty="0">
                <a:solidFill>
                  <a:schemeClr val="tx1"/>
                </a:solidFill>
              </a:rPr>
              <a:t>One 'Find the culprit' case a day builds spaced, scored practice</a:t>
            </a:r>
            <a:endParaRPr lang="en-US" sz="1200" dirty="0"/>
          </a:p>
        </p:txBody>
      </p:sp>
      <p:sp>
        <p:nvSpPr>
          <p:cNvPr id="29" name="Text 22"/>
          <p:cNvSpPr txBox="1"/>
          <p:nvPr/>
        </p:nvSpPr>
        <p:spPr>
          <a:xfrm>
            <a:off x="457200" y="4407408"/>
            <a:ext cx="8229600" cy="329184"/>
          </a:xfrm>
          <a:prstGeom prst="rect">
            <a:avLst/>
          </a:prstGeom>
          <a:noFill/>
          <a:ln/>
        </p:spPr>
        <p:txBody>
          <a:bodyPr wrap="square" lIns="0" tIns="0" rIns="0" bIns="0" rtlCol="0" anchor="ctr"/>
          <a:lstStyle/>
          <a:p>
            <a:pPr indent="0" marL="0">
              <a:buNone/>
            </a:pPr>
            <a:r>
              <a:rPr lang="en-US" sz="1000" dirty="0">
                <a:solidFill>
                  <a:schemeClr val="accent4"/>
                </a:solidFill>
              </a:rPr>
              <a:t>Open about its limits: every model constant is tagged literature-backed or assumed, 280+ automated tests run on each change, and it is for education only. Validation against patient data is the next step.</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Voronoi-stippled heart" descr="CoroSim stippled heart">    </p:cNvPr>
          <p:cNvPicPr>
            <a:picLocks noChangeAspect="1"/>
          </p:cNvPicPr>
          <p:nvPr/>
        </p:nvPicPr>
        <p:blipFill>
          <a:blip r:embed="rId1"/>
          <a:stretch>
            <a:fillRect/>
          </a:stretch>
        </p:blipFill>
        <p:spPr>
          <a:xfrm>
            <a:off x="365760" y="320040"/>
            <a:ext cx="4206240" cy="4399948"/>
          </a:xfrm>
          <a:prstGeom prst="rect">
            <a:avLst/>
          </a:prstGeom>
        </p:spPr>
      </p:pic>
      <p:sp>
        <p:nvSpPr>
          <p:cNvPr id="3" name="Text 0"/>
          <p:cNvSpPr txBox="1"/>
          <p:nvPr/>
        </p:nvSpPr>
        <p:spPr>
          <a:xfrm>
            <a:off x="4937760" y="1371600"/>
            <a:ext cx="3840480" cy="640080"/>
          </a:xfrm>
          <a:prstGeom prst="rect">
            <a:avLst/>
          </a:prstGeom>
          <a:noFill/>
          <a:ln/>
        </p:spPr>
        <p:txBody>
          <a:bodyPr wrap="square" lIns="0" tIns="0" rIns="0" bIns="0" rtlCol="0" anchor="ctr"/>
          <a:lstStyle/>
          <a:p>
            <a:pPr indent="0" marL="0">
              <a:buNone/>
            </a:pPr>
            <a:r>
              <a:rPr lang="en-US" sz="3600" b="1" dirty="0">
                <a:solidFill>
                  <a:schemeClr val="bg1"/>
                </a:solidFill>
              </a:rPr>
              <a:t>Time is muscle.</a:t>
            </a:r>
            <a:endParaRPr lang="en-US" sz="3600" dirty="0"/>
          </a:p>
        </p:txBody>
      </p:sp>
      <p:sp>
        <p:nvSpPr>
          <p:cNvPr id="4" name="Text 1"/>
          <p:cNvSpPr txBox="1"/>
          <p:nvPr/>
        </p:nvSpPr>
        <p:spPr>
          <a:xfrm>
            <a:off x="4937760" y="2011680"/>
            <a:ext cx="3840480" cy="640080"/>
          </a:xfrm>
          <a:prstGeom prst="rect">
            <a:avLst/>
          </a:prstGeom>
          <a:noFill/>
          <a:ln/>
        </p:spPr>
        <p:txBody>
          <a:bodyPr wrap="square" lIns="0" tIns="0" rIns="0" bIns="0" rtlCol="0" anchor="ctr"/>
          <a:lstStyle/>
          <a:p>
            <a:pPr indent="0" marL="0">
              <a:buNone/>
            </a:pPr>
            <a:r>
              <a:rPr lang="en-US" sz="2800" b="1" dirty="0">
                <a:solidFill>
                  <a:schemeClr val="accent2"/>
                </a:solidFill>
              </a:rPr>
              <a:t>Practice is free.</a:t>
            </a:r>
            <a:endParaRPr lang="en-US" sz="2800" dirty="0"/>
          </a:p>
        </p:txBody>
      </p:sp>
      <p:sp>
        <p:nvSpPr>
          <p:cNvPr id="5" name="Text 2"/>
          <p:cNvSpPr txBox="1"/>
          <p:nvPr/>
        </p:nvSpPr>
        <p:spPr>
          <a:xfrm>
            <a:off x="4937760" y="3108960"/>
            <a:ext cx="3840480" cy="365760"/>
          </a:xfrm>
          <a:prstGeom prst="rect">
            <a:avLst/>
          </a:prstGeom>
          <a:noFill/>
          <a:ln/>
        </p:spPr>
        <p:txBody>
          <a:bodyPr wrap="square" lIns="0" tIns="0" rIns="0" bIns="0" rtlCol="0" anchor="ctr"/>
          <a:lstStyle/>
          <a:p>
            <a:pPr indent="0" marL="0">
              <a:buNone/>
            </a:pPr>
            <a:r>
              <a:rPr lang="en-US" sz="1800" dirty="0">
                <a:solidFill>
                  <a:schemeClr val="accent3"/>
                </a:solidFill>
                <a:latin typeface="Courier New" pitchFamily="34" charset="0"/>
                <a:ea typeface="Courier New" pitchFamily="34" charset="-122"/>
                <a:cs typeface="Courier New" pitchFamily="34" charset="-120"/>
              </a:rPr>
              <a:t>corosim.com</a:t>
            </a:r>
            <a:endParaRPr lang="en-US" sz="1800" dirty="0"/>
          </a:p>
        </p:txBody>
      </p:sp>
      <p:sp>
        <p:nvSpPr>
          <p:cNvPr id="6" name="Text 3"/>
          <p:cNvSpPr txBox="1"/>
          <p:nvPr/>
        </p:nvSpPr>
        <p:spPr>
          <a:xfrm>
            <a:off x="4937760" y="4343400"/>
            <a:ext cx="3840480" cy="274320"/>
          </a:xfrm>
          <a:prstGeom prst="rect">
            <a:avLst/>
          </a:prstGeom>
          <a:noFill/>
          <a:ln/>
        </p:spPr>
        <p:txBody>
          <a:bodyPr wrap="square" lIns="0" tIns="0" rIns="0" bIns="0" rtlCol="0" anchor="ctr"/>
          <a:lstStyle/>
          <a:p>
            <a:pPr indent="0" marL="0">
              <a:buNone/>
            </a:pPr>
            <a:r>
              <a:rPr lang="en-US" sz="1000" dirty="0">
                <a:solidFill>
                  <a:schemeClr val="accent4"/>
                </a:solidFill>
              </a:rPr>
              <a:t>Educational simulation; not for clinical decisions.</a:t>
            </a:r>
            <a:endParaRPr lang="en-US" sz="1000" dirty="0"/>
          </a:p>
        </p:txBody>
      </p:sp>
      <p:sp>
        <p:nvSpPr>
          <p:cNvPr id="7" name="Text 0"/>
          <p:cNvSpPr/>
          <p:nvPr>
            <p:ph idx="100" type="title" hasCustomPrompt="1"/>
          </p:nvPr>
        </p:nvSpPr>
        <p:spPr>
          <a:xfrm>
            <a:off x="457200" y="1417320"/>
            <a:ext cx="4206240" cy="914400"/>
          </a:xfrm>
          <a:prstGeom prst="rect">
            <a:avLst/>
          </a:prstGeom>
          <a:noFill/>
          <a:ln/>
        </p:spPr>
        <p:txBody>
          <a:bodyPr wrap="square" lIns="0" tIns="0" rIns="0" bIns="0" rtlCol="0" anchor="t"/>
          <a:lstStyle/>
          <a:p>
            <a:pPr algn="l" indent="0" marL="0">
              <a:buNone/>
            </a:pPr>
            <a:endParaRPr lang="en-US" sz="5400" dirty="0"/>
          </a:p>
        </p:txBody>
      </p:sp>
      <p:sp>
        <p:nvSpPr>
          <p:cNvPr id="8" name="Text 0"/>
          <p:cNvSpPr/>
          <p:nvPr>
            <p:ph idx="101" type="body" hasCustomPrompt="1"/>
          </p:nvPr>
        </p:nvSpPr>
        <p:spPr>
          <a:xfrm>
            <a:off x="457200" y="2468880"/>
            <a:ext cx="4023360" cy="109728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REFERENCES</a:t>
            </a:r>
            <a:endParaRPr lang="en-US" sz="1000" dirty="0"/>
          </a:p>
        </p:txBody>
      </p:sp>
      <p:sp>
        <p:nvSpPr>
          <p:cNvPr id="3" name="Text 0"/>
          <p:cNvSpPr/>
          <p:nvPr>
            <p:ph idx="101" type="title" hasCustomPrompt="1"/>
          </p:nvPr>
        </p:nvSpPr>
        <p:spPr>
          <a:xfrm>
            <a:off x="457200" y="484632"/>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Sources for the problem statement</a:t>
            </a:r>
            <a:endParaRPr lang="en-US" sz="2600" dirty="0"/>
          </a:p>
        </p:txBody>
      </p:sp>
      <p:sp>
        <p:nvSpPr>
          <p:cNvPr id="4" name="Text 2"/>
          <p:cNvSpPr txBox="1"/>
          <p:nvPr/>
        </p:nvSpPr>
        <p:spPr>
          <a:xfrm>
            <a:off x="457200" y="1234440"/>
            <a:ext cx="8229600" cy="33832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100" dirty="0">
                <a:solidFill>
                  <a:schemeClr val="tx1"/>
                </a:solidFill>
              </a:rPr>
              <a:t>El-Baba M, McLaren J, Argintaru N. The HEARTS ECG workshop: a novel approach to resident and student ECG education. Int J Emerg Med. 2023;16:81. doi:10.1186/s12245-023-00559-0</a:t>
            </a:r>
            <a:endParaRPr lang="en-US" sz="1100" dirty="0"/>
          </a:p>
          <a:p>
            <a:pPr marL="342900" indent="-342900">
              <a:spcAft>
                <a:spcPts val="800"/>
              </a:spcAft>
              <a:buSzPct val="100000"/>
              <a:buFont typeface="+mj-lt"/>
              <a:buAutoNum type="arabicPeriod" startAt="1"/>
            </a:pPr>
            <a:r>
              <a:rPr lang="en-US" sz="1100" dirty="0">
                <a:solidFill>
                  <a:schemeClr val="tx1"/>
                </a:solidFill>
              </a:rPr>
              <a:t>Liang S, Lai R, Xu T. Evaluating the competency and confidence in ECG interpretation among residents: a multi-center pilot study. Adv Med Educ Pract. 2025;16:2481-2489. doi:10.2147/AMEP.S550536</a:t>
            </a:r>
            <a:endParaRPr lang="en-US" sz="1100" dirty="0"/>
          </a:p>
          <a:p>
            <a:pPr marL="342900" indent="-342900">
              <a:spcAft>
                <a:spcPts val="800"/>
              </a:spcAft>
              <a:buSzPct val="100000"/>
              <a:buFont typeface="+mj-lt"/>
              <a:buAutoNum type="arabicPeriod" startAt="1"/>
            </a:pPr>
            <a:r>
              <a:rPr lang="en-US" sz="1100" dirty="0">
                <a:solidFill>
                  <a:schemeClr val="tx1"/>
                </a:solidFill>
              </a:rPr>
              <a:t>Lee KS, Klein AJ, Bricker RS, et al. Current state of simulation in interventional cardiology training: results of a SCAI survey. J Soc Cardiovasc Angiogr Interv. 2025;4(3PA):102566. doi:10.1016/j.jscai.2025.102566</a:t>
            </a:r>
            <a:endParaRPr lang="en-US" sz="1100" dirty="0"/>
          </a:p>
          <a:p>
            <a:pPr marL="342900" indent="-342900">
              <a:spcAft>
                <a:spcPts val="800"/>
              </a:spcAft>
              <a:buSzPct val="100000"/>
              <a:buFont typeface="+mj-lt"/>
              <a:buAutoNum type="arabicPeriod" startAt="1"/>
            </a:pPr>
            <a:r>
              <a:rPr lang="en-US" sz="1100" dirty="0">
                <a:solidFill>
                  <a:schemeClr val="tx1"/>
                </a:solidFill>
              </a:rPr>
              <a:t>Esomonye TC, Makawi A, Azees R, et al. A burst-learning electrocardiogram curriculum for internal medicine residents: a single-center quality improvement initiative. JACC Case Rep. 2026;31:108886. doi:10.1016/j.jaccas.2026.108886</a:t>
            </a:r>
            <a:endParaRPr lang="en-US" sz="1100" dirty="0"/>
          </a:p>
          <a:p>
            <a:pPr marL="342900" indent="-342900">
              <a:spcAft>
                <a:spcPts val="800"/>
              </a:spcAft>
              <a:buSzPct val="100000"/>
              <a:buFont typeface="+mj-lt"/>
              <a:buAutoNum type="arabicPeriod" startAt="1"/>
            </a:pPr>
            <a:r>
              <a:rPr lang="en-US" sz="1100" dirty="0">
                <a:solidFill>
                  <a:schemeClr val="tx1"/>
                </a:solidFill>
              </a:rPr>
              <a:t>Echo loops: I.A.C. van der Bilt, AMC (CardioNetworks ECHOpedia), CC BY-SA 3.0. Cath-lab heart mesh: Rodero C, et al. PLoS Comput Biol. 2021;17(4):e1008851, CC BY 4.0.</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oroSim">
  <a:themeElements>
    <a:clrScheme name="CoroSim">
      <a:dk1>
        <a:srgbClr val="1C1B1A"/>
      </a:dk1>
      <a:lt1>
        <a:srgbClr val="FFFFFF"/>
      </a:lt1>
      <a:dk2>
        <a:srgbClr val="000000"/>
      </a:dk2>
      <a:lt2>
        <a:srgbClr val="F2F0EC"/>
      </a:lt2>
      <a:accent1>
        <a:srgbClr val="B8322A"/>
      </a:accent1>
      <a:accent2>
        <a:srgbClr val="F2902E"/>
      </a:accent2>
      <a:accent3>
        <a:srgbClr val="FFD98A"/>
      </a:accent3>
      <a:accent4>
        <a:srgbClr val="6E6A65"/>
      </a:accent4>
      <a:accent5>
        <a:srgbClr val="5B3A6E"/>
      </a:accent5>
      <a:accent6>
        <a:srgbClr val="2F7A57"/>
      </a:accent6>
      <a:hlink>
        <a:srgbClr val="B8322A"/>
      </a:hlink>
      <a:folHlink>
        <a:srgbClr val="5B3A6E"/>
      </a:folHlink>
    </a:clrScheme>
    <a:fontScheme name="CoroSi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CoroSim: ACC Cardio Sim Creator Competition</dc:title>
  <dc:subject>PptxGenJS Presentation</dc:subject>
  <dc:creator>CoroSim</dc:creator>
  <cp:lastModifiedBy>CoroSim</cp:lastModifiedBy>
  <cp:revision>1</cp:revision>
  <dcterms:created xsi:type="dcterms:W3CDTF">2026-10-20T16:10:26Z</dcterms:created>
  <dcterms:modified xsi:type="dcterms:W3CDTF">2026-10-20T16:10:26Z</dcterms:modified>
</cp:coreProperties>
</file>