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851cc1d-64f1-3c98-10cc-d72fb6e8d981}">
          <p14:sldIdLst>
            <p14:sldId id="256"/>
            <p14:sldId id="257"/>
            <p14:sldId id="258"/>
          </p14:sldIdLst>
        </p14:section>
        <p14:section name="Problem and efficacy" id="{a2cfadd0-dd89-2897-455f-a5a21e6cc365}">
          <p14:sldIdLst>
            <p14:sldId id="259"/>
            <p14:sldId id="260"/>
            <p14:sldId id="261"/>
            <p14:sldId id="262"/>
            <p14:sldId id="263"/>
            <p14:sldId id="264"/>
            <p14:sldId id="265"/>
            <p14:sldId id="266"/>
            <p14:sldId id="267"/>
          </p14:sldIdLst>
        </p14:section>
        <p14:section name="Skillsets" id="{ea406870-adac-751d-12f0-372b2d3a03d8}">
          <p14:sldIdLst>
            <p14:sldId id="268"/>
          </p14:sldIdLst>
        </p14:section>
        <p14:section name="Audience" id="{4cfac9c9-4b6c-2a64-b0ae-a44030c06301}">
          <p14:sldIdLst>
            <p14:sldId id="269"/>
          </p14:sldIdLst>
        </p14:section>
        <p14:section name="Assessment" id="{640a3c1d-2de4-6caf-6a20-792a3e6d6b5e}">
          <p14:sldIdLst>
            <p14:sldId id="270"/>
          </p14:sldIdLst>
        </p14:section>
        <p14:section name="Significance and integration" id="{08641c8c-6796-fc18-12dc-958392f4a5ad}">
          <p14:sldIdLst>
            <p14:sldId id="271"/>
            <p14:sldId id="272"/>
          </p14:sldIdLst>
        </p14:section>
        <p14:section name="Close" id="{9c64f4d5-294d-9e16-fe7c-7361bbaaafd9}">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homepage heart: a weighted Voronoi stipple drawn from the simulator's own coronary tree, colored by nearness to a vessel. One-sentence pitch: CoroSim lets a learner block any coronary artery and watch the whole patient respond (ECG, rhythm, pressure, reflexes, infarct), then treat them while the muscle is dying.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page runs on the same simulation core, so the heart, the 12-lead, the angiogram and the pressures agree with one another. The model is seeded and reproducible; constants are tagged literature-backed or assumed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across these studies: learners want more practice, feel anxious and unconfident with the ECG, carry cardiovascular misconceptions through medical school, and lectures alone raise confidence without raising accuracy. Supporting: Liang 2025 found fewer than 10% of 165 residents fully confident in their ECG reads, and none correctly identified LBBB. Full citations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Efficacy argument: CoroSim targets mechanism, not memorization. Because the ECG is computed from the injury current of the ischemic bed, a learner who moves the lesion sees the lead pattern move with it: the cause-and-effect loop that lectures and flash cards cannot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corosim.com/sim. The learner chooses a vessel, a position and a stenosis or occlusion, optionally exertion. Variants include left dominance, ramus intermedius, absent left main, wrap-around LAD, and the origin of the SA- and AV-nodal arteries.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Assessment tab lists live problems and, on request, the guideline order of steps, so a learner can decide first and check after. Warnings fire for harmful choices: nitrate in an RV infarct, a pressor in pump failure, dobutamine in ischemic muscle.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corosim.com/game. Up to 170 points per case; every case is checked to be solvable. The debrief explains what the lesion did to the tracing and compares the infarct with immediate PCI and with no reperfusion.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corosim.com/ekg. Acute coronary presets take their ST vector from the coronary model with a real lesion.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corosim.com/cath. For students this is where coronary anatomy meets the angiogram; for residents, what the cath lab will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corosim.com/structural. Shown: aortic saturation 88%, a severe pulmonary gradient and equal LV and RV pressures.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corosim.com/echo. The loops are real normal studies (ECHOpedia, CC BY-SA).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map to ACGME Medical Knowledge and Patient Care and to the cardiovascular objectives of a preclinical curriculum: reasoning from data (ECG, monitor, angiogram) to diagnosis, then to time-critical management with feedback on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audience: medical students (starting in the first-year cardiovascular physiology block) and internal medicine residents. The same model serves both: students work on mechanism and anatomy, residents on recognition and management under time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Kirkpatrick levels 1 to 3. Level 1: SUS, realism, confidence pre/post. Level 2: pre/post knowledge test on culprit localization, rhythm ID and cardiovascular concepts. Level 3: performance trend across repeated daily cases and on course exam items. The planned study is in first-year students at RSOM (Class of 2030); design and timeline to be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SUBMISSION TEXT (Significance and Seamless Integration):
Cardiology is learned by connecting cause to effect: an occluded artery to an ischemic wall, that wall to the ST segments, the failing ventricle to the blood pressure, and each treatment to its cost. Most curricula teach these links separately, in lectures, ECG flash cards and occasional mannequin sessions, and learners report the result: low confidence reading ECGs, misconceptions that persist through medical school, and a wish for more practice. CoroSim joins the links. One closed-loop model of the coronary tree, the myocardium, the ECG and the circulation drives every page, so a learner who moves a lesion sees the whole patient change, and then has to treat that patient while the muscle is dying.
CoroSim is built to fit into what programs already do rather than replace it. It runs free in any browser with no installation, account or license, so it works on a student's phone, a lecture-hall projector or a resident's workstation. Faculty can open a specific patient, tracing or cath case from a link and use it in a first-year physiology small group, flipped-classroom pre-work, clerkship ECG teaching, or internal medicine noon conference and morning report, or embed the link in an LMS module or exam. The daily 'Find the culprit' case gives spaced practice with scored feedback, and an optional AI connection lets Claude or ChatGPT run Socratic rounds on the learner's own patient. CoroSim comes before mannequin and ACLS simulation, so that lab time can go to hands-on skills and teamwork while the reasoning is practiced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corosim.com/sim/#s=… opens a set patient; corosim.com/ekg/#p=stemi-anterior opens a preset; corosim.com/cath/#case=ladocc opens a cath case. Connect AI uses the MCP connector at mcp.corosim.com.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371600"/>
            <a:ext cx="4206240" cy="914400"/>
          </a:xfrm>
          <a:prstGeom prst="rect">
            <a:avLst/>
          </a:prstGeom>
          <a:noFill/>
          <a:ln/>
        </p:spPr>
        <p:txBody>
          <a:bodyPr wrap="square" rtlCol="0"/>
          <a:lstStyle>
            <a:lvl1pPr algn="l" indent="0" marL="0">
              <a:buNone/>
              <a:defRPr lang="en-US" sz="5400" b="1" spc="-150" kern="0"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457200" y="2423160"/>
            <a:ext cx="393192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rtlCol="0"/>
          <a:lstStyle>
            <a:lvl1pPr algn="l" indent="0" marL="0">
              <a:buNone/>
              <a:defRPr lang="en-US" sz="1100" dirty="0">
                <a:solidFill>
                  <a:schemeClr val="accent4"/>
                </a:solidFill>
              </a:defRPr>
            </a:lvl1pPr>
          </a:lstStyle>
          <a:p>
            <a:pPr algn="l" indent="0" marL="0">
              <a:buNone/>
            </a:pP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rtlCol="0"/>
          <a:lstStyle>
            <a:lvl1pPr algn="l" indent="0" marL="0">
              <a:buNone/>
              <a:defRPr lang="en-US" sz="2200" b="1" spc="-50" kern="0" dirty="0">
                <a:solidFill>
                  <a:schemeClr val="tx1"/>
                </a:solidFill>
              </a:defRPr>
            </a:lvl1pPr>
          </a:lstStyle>
          <a:p>
            <a:pPr algn="l" indent="0" marL="0">
              <a:buNone/>
            </a:pPr>
            <a:endParaRPr lang="en-US" sz="2200" dirty="0"/>
          </a:p>
        </p:txBody>
      </p:sp>
      <p:sp>
        <p:nvSpPr>
          <p:cNvPr id="4" name="Text 0"/>
          <p:cNvSpPr/>
          <p:nvPr/>
        </p:nvSpPr>
        <p:spPr>
          <a:xfrm>
            <a:off x="457200" y="4773168"/>
            <a:ext cx="2743200" cy="228600"/>
          </a:xfrm>
          <a:prstGeom prst="rect">
            <a:avLst/>
          </a:prstGeom>
          <a:noFill/>
          <a:ln/>
        </p:spPr>
        <p:txBody>
          <a:bodyPr wrap="square" lIns="0" tIns="0" rIns="0" bIns="0" rtlCol="0" anchor="ctr"/>
          <a:lstStyle/>
          <a:p>
            <a:pPr indent="0" marL="0">
              <a:buNone/>
            </a:pPr>
            <a:r>
              <a:rPr lang="en-US" sz="900" dirty="0">
                <a:solidFill>
                  <a:schemeClr val="accent4"/>
                </a:solidFill>
              </a:rPr>
              <a:t>corosim.com</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tippled heart" descr="CoroSim's Voronoi-stippled human heart, vessels hot against the muscle">    </p:cNvPr>
          <p:cNvPicPr>
            <a:picLocks noChangeAspect="1"/>
          </p:cNvPicPr>
          <p:nvPr/>
        </p:nvPicPr>
        <p:blipFill>
          <a:blip r:embed="rId1"/>
          <a:stretch>
            <a:fillRect/>
          </a:stretch>
        </p:blipFill>
        <p:spPr>
          <a:xfrm>
            <a:off x="4572000" y="91440"/>
            <a:ext cx="4389120" cy="4591251"/>
          </a:xfrm>
          <a:prstGeom prst="rect">
            <a:avLst/>
          </a:prstGeom>
        </p:spPr>
      </p:pic>
      <p:sp>
        <p:nvSpPr>
          <p:cNvPr id="3" name="Text 0"/>
          <p:cNvSpPr txBox="1"/>
          <p:nvPr/>
        </p:nvSpPr>
        <p:spPr>
          <a:xfrm>
            <a:off x="457200" y="987552"/>
            <a:ext cx="4023360" cy="274320"/>
          </a:xfrm>
          <a:prstGeom prst="rect">
            <a:avLst/>
          </a:prstGeom>
          <a:noFill/>
          <a:ln/>
        </p:spPr>
        <p:txBody>
          <a:bodyPr wrap="square" lIns="0" tIns="0" rIns="0" bIns="0" rtlCol="0" anchor="t"/>
          <a:lstStyle/>
          <a:p>
            <a:pPr indent="0" marL="0">
              <a:buNone/>
            </a:pPr>
            <a:r>
              <a:rPr lang="en-US" sz="1300" dirty="0">
                <a:solidFill>
                  <a:srgbClr val="BDB6AD"/>
                </a:solidFill>
              </a:rPr>
              <a:t>ACC Cardio Sim Creator Competition</a:t>
            </a:r>
            <a:endParaRPr lang="en-US" sz="1300" dirty="0"/>
          </a:p>
        </p:txBody>
      </p:sp>
      <p:sp>
        <p:nvSpPr>
          <p:cNvPr id="4" name="Text 0"/>
          <p:cNvSpPr/>
          <p:nvPr>
            <p:ph idx="100" type="title" hasCustomPrompt="1"/>
          </p:nvPr>
        </p:nvSpPr>
        <p:spPr>
          <a:xfrm>
            <a:off x="457200" y="1371600"/>
            <a:ext cx="4206240" cy="914400"/>
          </a:xfrm>
          <a:prstGeom prst="rect">
            <a:avLst/>
          </a:prstGeom>
          <a:noFill/>
          <a:ln/>
        </p:spPr>
        <p:txBody>
          <a:bodyPr wrap="square" lIns="0" tIns="0" rIns="0" bIns="0" rtlCol="0" anchor="t"/>
          <a:lstStyle/>
          <a:p>
            <a:pPr algn="l" indent="0" marL="0">
              <a:buNone/>
            </a:pPr>
            <a:r>
              <a:rPr lang="en-US" sz="5400" b="1" spc="-150" kern="0" dirty="0">
                <a:solidFill>
                  <a:schemeClr val="bg1"/>
                </a:solidFill>
              </a:rPr>
              <a:t>CoroSim</a:t>
            </a:r>
            <a:endParaRPr lang="en-US" sz="5400" dirty="0"/>
          </a:p>
        </p:txBody>
      </p:sp>
      <p:sp>
        <p:nvSpPr>
          <p:cNvPr id="5" name="Text 0"/>
          <p:cNvSpPr/>
          <p:nvPr>
            <p:ph idx="101" type="body" hasCustomPrompt="1"/>
          </p:nvPr>
        </p:nvSpPr>
        <p:spPr>
          <a:xfrm>
            <a:off x="457200" y="2423160"/>
            <a:ext cx="3931920" cy="1005840"/>
          </a:xfrm>
          <a:prstGeom prst="rect">
            <a:avLst/>
          </a:prstGeom>
          <a:noFill/>
          <a:ln/>
        </p:spPr>
        <p:txBody>
          <a:bodyPr wrap="square" lIns="0" tIns="0" rIns="0" bIns="0" rtlCol="0" anchor="t"/>
          <a:lstStyle/>
          <a:p>
            <a:pPr algn="l" indent="0" marL="0">
              <a:buNone/>
            </a:pPr>
            <a:r>
              <a:rPr lang="en-US" sz="1800" dirty="0">
                <a:solidFill>
                  <a:schemeClr val="bg2"/>
                </a:solidFill>
              </a:rPr>
              <a:t>A cardiovascular simulator where learners change the cause and watch the effect</a:t>
            </a:r>
            <a:endParaRPr lang="en-US" sz="1800" dirty="0"/>
          </a:p>
        </p:txBody>
      </p:sp>
      <p:sp>
        <p:nvSpPr>
          <p:cNvPr id="6" name="Text 3"/>
          <p:cNvSpPr txBox="1"/>
          <p:nvPr/>
        </p:nvSpPr>
        <p:spPr>
          <a:xfrm>
            <a:off x="457200" y="4160520"/>
            <a:ext cx="3657600" cy="320040"/>
          </a:xfrm>
          <a:prstGeom prst="rect">
            <a:avLst/>
          </a:prstGeom>
          <a:noFill/>
          <a:ln/>
        </p:spPr>
        <p:txBody>
          <a:bodyPr wrap="square" lIns="0" tIns="0" rIns="0" bIns="0" rtlCol="0" anchor="t"/>
          <a:lstStyle/>
          <a:p>
            <a:pPr indent="0" marL="0">
              <a:buNone/>
            </a:pPr>
            <a:r>
              <a:rPr lang="en-US" sz="1600" dirty="0">
                <a:solidFill>
                  <a:schemeClr val="accent3"/>
                </a:solidFill>
              </a:rPr>
              <a:t>corosim.com</a:t>
            </a:r>
            <a:endParaRPr lang="en-US" sz="1600" dirty="0"/>
          </a:p>
        </p:txBody>
      </p:sp>
      <p:sp>
        <p:nvSpPr>
          <p:cNvPr id="7" name="Text 4"/>
          <p:cNvSpPr txBox="1"/>
          <p:nvPr/>
        </p:nvSpPr>
        <p:spPr>
          <a:xfrm>
            <a:off x="4754880" y="4773168"/>
            <a:ext cx="4114800" cy="228600"/>
          </a:xfrm>
          <a:prstGeom prst="rect">
            <a:avLst/>
          </a:prstGeom>
          <a:noFill/>
          <a:ln/>
        </p:spPr>
        <p:txBody>
          <a:bodyPr wrap="square" lIns="0" tIns="0" rIns="0" bIns="0" rtlCol="0" anchor="t"/>
          <a:lstStyle/>
          <a:p>
            <a:pPr algn="r" indent="0" marL="0">
              <a:buNone/>
            </a:pPr>
            <a:r>
              <a:rPr lang="en-US" sz="900" dirty="0">
                <a:solidFill>
                  <a:schemeClr val="accent4"/>
                </a:solidFill>
              </a:rPr>
              <a:t>A Voronoi stipple of CoroSim's own coronary tree.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CoroSim at a glance</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One simulated patient, six ways to learn from it</a:t>
            </a:r>
            <a:endParaRPr lang="en-US" sz="2200" dirty="0"/>
          </a:p>
        </p:txBody>
      </p:sp>
      <p:pic>
        <p:nvPicPr>
          <p:cNvPr id="4" name="Simulator, occluded LAD" descr="Simulator, occluded LAD">    </p:cNvPr>
          <p:cNvPicPr>
            <a:picLocks noChangeAspect="1"/>
          </p:cNvPicPr>
          <p:nvPr/>
        </p:nvPicPr>
        <p:blipFill>
          <a:blip r:embed="rId1"/>
          <a:stretch>
            <a:fillRect/>
          </a:stretch>
        </p:blipFill>
        <p:spPr>
          <a:xfrm>
            <a:off x="457200" y="1234440"/>
            <a:ext cx="5303520" cy="3041569"/>
          </a:xfrm>
          <a:prstGeom prst="rect">
            <a:avLst/>
          </a:prstGeom>
        </p:spPr>
      </p:pic>
      <p:sp>
        <p:nvSpPr>
          <p:cNvPr id="5" name="Simulator, occluded LAD frame"/>
          <p:cNvSpPr/>
          <p:nvPr/>
        </p:nvSpPr>
        <p:spPr>
          <a:xfrm>
            <a:off x="457200" y="1234440"/>
            <a:ext cx="5303520" cy="3041569"/>
          </a:xfrm>
          <a:prstGeom prst="rect">
            <a:avLst/>
          </a:prstGeom>
          <a:ln w="9525">
            <a:solidFill>
              <a:srgbClr val="D6D1CB"/>
            </a:solidFill>
            <a:prstDash val="solid"/>
          </a:ln>
        </p:spPr>
      </p:sp>
      <p:sp>
        <p:nvSpPr>
          <p:cNvPr id="6" name="Text 3"/>
          <p:cNvSpPr txBox="1"/>
          <p:nvPr/>
        </p:nvSpPr>
        <p:spPr>
          <a:xfrm>
            <a:off x="457200" y="4349161"/>
            <a:ext cx="5303520" cy="365760"/>
          </a:xfrm>
          <a:prstGeom prst="rect">
            <a:avLst/>
          </a:prstGeom>
          <a:noFill/>
          <a:ln/>
        </p:spPr>
        <p:txBody>
          <a:bodyPr wrap="square" lIns="0" tIns="0" rIns="0" bIns="0" rtlCol="0" anchor="t"/>
          <a:lstStyle/>
          <a:p>
            <a:pPr indent="0" marL="0">
              <a:buNone/>
            </a:pPr>
            <a:r>
              <a:rPr lang="en-US" sz="1000" b="1" dirty="0">
                <a:solidFill>
                  <a:schemeClr val="tx1"/>
                </a:solidFill>
              </a:rPr>
              <a:t>Figure 1. </a:t>
            </a:r>
            <a:pPr indent="0" marL="0">
              <a:buNone/>
            </a:pPr>
            <a:r>
              <a:rPr lang="en-US" sz="1000" dirty="0">
                <a:solidFill>
                  <a:schemeClr val="accent4"/>
                </a:solidFill>
              </a:rPr>
              <a:t>Proximal LAD occlusion 47 minutes in: anterior ST elevation, 43% of the myocardium ischemic, LVEF 37%.</a:t>
            </a:r>
            <a:endParaRPr lang="en-US" sz="1000" dirty="0"/>
          </a:p>
        </p:txBody>
      </p:sp>
      <p:sp>
        <p:nvSpPr>
          <p:cNvPr id="7" name="Text 4"/>
          <p:cNvSpPr txBox="1"/>
          <p:nvPr/>
        </p:nvSpPr>
        <p:spPr>
          <a:xfrm>
            <a:off x="6126480" y="1234440"/>
            <a:ext cx="25603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Six linked pages</a:t>
            </a:r>
            <a:endParaRPr lang="en-US" sz="1500" dirty="0"/>
          </a:p>
        </p:txBody>
      </p:sp>
      <p:sp>
        <p:nvSpPr>
          <p:cNvPr id="8" name="Text 5"/>
          <p:cNvSpPr txBox="1"/>
          <p:nvPr/>
        </p:nvSpPr>
        <p:spPr>
          <a:xfrm>
            <a:off x="6126480" y="1581912"/>
            <a:ext cx="2560320" cy="713232"/>
          </a:xfrm>
          <a:prstGeom prst="rect">
            <a:avLst/>
          </a:prstGeom>
          <a:noFill/>
          <a:ln/>
        </p:spPr>
        <p:txBody>
          <a:bodyPr wrap="square" lIns="0" tIns="0" rIns="0" bIns="0" rtlCol="0" anchor="t"/>
          <a:lstStyle/>
          <a:p>
            <a:pPr indent="0" marL="0">
              <a:buNone/>
            </a:pPr>
            <a:r>
              <a:rPr lang="en-US" sz="1200" dirty="0">
                <a:solidFill>
                  <a:schemeClr val="accent4"/>
                </a:solidFill>
              </a:rPr>
              <a:t>Simulator, daily case, EKG, cath lab, structural and echo, all running the same patient model.</a:t>
            </a:r>
            <a:endParaRPr lang="en-US" sz="1200" dirty="0"/>
          </a:p>
        </p:txBody>
      </p:sp>
      <p:sp>
        <p:nvSpPr>
          <p:cNvPr id="9" name="Text 6"/>
          <p:cNvSpPr txBox="1"/>
          <p:nvPr/>
        </p:nvSpPr>
        <p:spPr>
          <a:xfrm>
            <a:off x="6126480" y="2331720"/>
            <a:ext cx="25603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50+ EKG presets</a:t>
            </a:r>
            <a:endParaRPr lang="en-US" sz="1500" dirty="0"/>
          </a:p>
        </p:txBody>
      </p:sp>
      <p:sp>
        <p:nvSpPr>
          <p:cNvPr id="10" name="Text 7"/>
          <p:cNvSpPr txBox="1"/>
          <p:nvPr/>
        </p:nvSpPr>
        <p:spPr>
          <a:xfrm>
            <a:off x="6126480" y="2679192"/>
            <a:ext cx="2560320" cy="713232"/>
          </a:xfrm>
          <a:prstGeom prst="rect">
            <a:avLst/>
          </a:prstGeom>
          <a:noFill/>
          <a:ln/>
        </p:spPr>
        <p:txBody>
          <a:bodyPr wrap="square" lIns="0" tIns="0" rIns="0" bIns="0" rtlCol="0" anchor="t"/>
          <a:lstStyle/>
          <a:p>
            <a:pPr indent="0" marL="0">
              <a:buNone/>
            </a:pPr>
            <a:r>
              <a:rPr lang="en-US" sz="1200" dirty="0">
                <a:solidFill>
                  <a:schemeClr val="accent4"/>
                </a:solidFill>
              </a:rPr>
              <a:t>Rhythms, blocks, ischemia and STEMI mimics, plus custom tracings on request.</a:t>
            </a:r>
            <a:endParaRPr lang="en-US" sz="1200" dirty="0"/>
          </a:p>
        </p:txBody>
      </p:sp>
      <p:sp>
        <p:nvSpPr>
          <p:cNvPr id="11" name="Text 8"/>
          <p:cNvSpPr txBox="1"/>
          <p:nvPr/>
        </p:nvSpPr>
        <p:spPr>
          <a:xfrm>
            <a:off x="6126480" y="3429000"/>
            <a:ext cx="25603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Free in any browser</a:t>
            </a:r>
            <a:endParaRPr lang="en-US" sz="1500" dirty="0"/>
          </a:p>
        </p:txBody>
      </p:sp>
      <p:sp>
        <p:nvSpPr>
          <p:cNvPr id="12" name="Text 9"/>
          <p:cNvSpPr txBox="1"/>
          <p:nvPr/>
        </p:nvSpPr>
        <p:spPr>
          <a:xfrm>
            <a:off x="6126480" y="3776472"/>
            <a:ext cx="2560320" cy="713232"/>
          </a:xfrm>
          <a:prstGeom prst="rect">
            <a:avLst/>
          </a:prstGeom>
          <a:noFill/>
          <a:ln/>
        </p:spPr>
        <p:txBody>
          <a:bodyPr wrap="square" lIns="0" tIns="0" rIns="0" bIns="0" rtlCol="0" anchor="t"/>
          <a:lstStyle/>
          <a:p>
            <a:pPr indent="0" marL="0">
              <a:buNone/>
            </a:pPr>
            <a:r>
              <a:rPr lang="en-US" sz="1200" dirty="0">
                <a:solidFill>
                  <a:schemeClr val="accent4"/>
                </a:solidFill>
              </a:rPr>
              <a:t>No install, account or license.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Contents</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What this submission answers</a:t>
            </a:r>
            <a:endParaRPr lang="en-US" sz="2200" dirty="0"/>
          </a:p>
        </p:txBody>
      </p:sp>
      <p:sp>
        <p:nvSpPr>
          <p:cNvPr id="4" name="Text 2"/>
          <p:cNvSpPr txBox="1"/>
          <p:nvPr/>
        </p:nvSpPr>
        <p:spPr>
          <a:xfrm>
            <a:off x="457200" y="1280160"/>
            <a:ext cx="4023360" cy="50292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Problem solving and efficacy</a:t>
            </a:r>
            <a:endParaRPr lang="en-US" sz="1600" dirty="0"/>
          </a:p>
        </p:txBody>
      </p:sp>
      <p:sp>
        <p:nvSpPr>
          <p:cNvPr id="5" name="Text 3"/>
          <p:cNvSpPr txBox="1"/>
          <p:nvPr/>
        </p:nvSpPr>
        <p:spPr>
          <a:xfrm>
            <a:off x="4572000" y="1280160"/>
            <a:ext cx="3383280" cy="502920"/>
          </a:xfrm>
          <a:prstGeom prst="rect">
            <a:avLst/>
          </a:prstGeom>
          <a:noFill/>
          <a:ln/>
        </p:spPr>
        <p:txBody>
          <a:bodyPr wrap="square" lIns="0" tIns="0" rIns="0" bIns="0" rtlCol="0" anchor="ctr"/>
          <a:lstStyle/>
          <a:p>
            <a:pPr indent="0" marL="0">
              <a:buNone/>
            </a:pPr>
            <a:r>
              <a:rPr lang="en-US" sz="1300" dirty="0">
                <a:solidFill>
                  <a:schemeClr val="accent4"/>
                </a:solidFill>
              </a:rPr>
              <a:t>What students and residents struggle with, and how CoroSim responds</a:t>
            </a:r>
            <a:endParaRPr lang="en-US" sz="1300" dirty="0"/>
          </a:p>
        </p:txBody>
      </p:sp>
      <p:sp>
        <p:nvSpPr>
          <p:cNvPr id="6" name="Text 4"/>
          <p:cNvSpPr txBox="1"/>
          <p:nvPr/>
        </p:nvSpPr>
        <p:spPr>
          <a:xfrm>
            <a:off x="7955280" y="1280160"/>
            <a:ext cx="731520" cy="502920"/>
          </a:xfrm>
          <a:prstGeom prst="rect">
            <a:avLst/>
          </a:prstGeom>
          <a:noFill/>
          <a:ln/>
        </p:spPr>
        <p:txBody>
          <a:bodyPr wrap="square" lIns="0" tIns="0" rIns="0" bIns="0" rtlCol="0" anchor="ctr"/>
          <a:lstStyle/>
          <a:p>
            <a:pPr algn="r" indent="0" marL="0">
              <a:buNone/>
            </a:pPr>
            <a:r>
              <a:rPr lang="en-US" sz="1300" dirty="0">
                <a:solidFill>
                  <a:schemeClr val="accent1"/>
                </a:solidFill>
              </a:rPr>
              <a:t>4–12</a:t>
            </a:r>
            <a:endParaRPr lang="en-US" sz="1300" dirty="0"/>
          </a:p>
        </p:txBody>
      </p:sp>
      <p:sp>
        <p:nvSpPr>
          <p:cNvPr id="7" name="toc rule"/>
          <p:cNvSpPr/>
          <p:nvPr/>
        </p:nvSpPr>
        <p:spPr>
          <a:xfrm>
            <a:off x="457200" y="1865376"/>
            <a:ext cx="8229600" cy="0"/>
          </a:xfrm>
          <a:prstGeom prst="line">
            <a:avLst/>
          </a:prstGeom>
          <a:noFill/>
          <a:ln w="12700">
            <a:solidFill>
              <a:schemeClr val="accent5"/>
            </a:solidFill>
            <a:prstDash val="solid"/>
          </a:ln>
        </p:spPr>
      </p:sp>
      <p:sp>
        <p:nvSpPr>
          <p:cNvPr id="8" name="Text 6"/>
          <p:cNvSpPr txBox="1"/>
          <p:nvPr/>
        </p:nvSpPr>
        <p:spPr>
          <a:xfrm>
            <a:off x="457200" y="1938528"/>
            <a:ext cx="4023360" cy="50292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Skillsets targeted</a:t>
            </a:r>
            <a:endParaRPr lang="en-US" sz="1600" dirty="0"/>
          </a:p>
        </p:txBody>
      </p:sp>
      <p:sp>
        <p:nvSpPr>
          <p:cNvPr id="9" name="Text 7"/>
          <p:cNvSpPr txBox="1"/>
          <p:nvPr/>
        </p:nvSpPr>
        <p:spPr>
          <a:xfrm>
            <a:off x="4572000" y="1938528"/>
            <a:ext cx="3383280" cy="502920"/>
          </a:xfrm>
          <a:prstGeom prst="rect">
            <a:avLst/>
          </a:prstGeom>
          <a:noFill/>
          <a:ln/>
        </p:spPr>
        <p:txBody>
          <a:bodyPr wrap="square" lIns="0" tIns="0" rIns="0" bIns="0" rtlCol="0" anchor="ctr"/>
          <a:lstStyle/>
          <a:p>
            <a:pPr indent="0" marL="0">
              <a:buNone/>
            </a:pPr>
            <a:r>
              <a:rPr lang="en-US" sz="1300" dirty="0">
                <a:solidFill>
                  <a:schemeClr val="accent4"/>
                </a:solidFill>
              </a:rPr>
              <a:t>Six skills, and which pages practice each</a:t>
            </a:r>
            <a:endParaRPr lang="en-US" sz="1300" dirty="0"/>
          </a:p>
        </p:txBody>
      </p:sp>
      <p:sp>
        <p:nvSpPr>
          <p:cNvPr id="10" name="Text 8"/>
          <p:cNvSpPr txBox="1"/>
          <p:nvPr/>
        </p:nvSpPr>
        <p:spPr>
          <a:xfrm>
            <a:off x="7955280" y="1938528"/>
            <a:ext cx="731520" cy="502920"/>
          </a:xfrm>
          <a:prstGeom prst="rect">
            <a:avLst/>
          </a:prstGeom>
          <a:noFill/>
          <a:ln/>
        </p:spPr>
        <p:txBody>
          <a:bodyPr wrap="square" lIns="0" tIns="0" rIns="0" bIns="0" rtlCol="0" anchor="ctr"/>
          <a:lstStyle/>
          <a:p>
            <a:pPr algn="r" indent="0" marL="0">
              <a:buNone/>
            </a:pPr>
            <a:r>
              <a:rPr lang="en-US" sz="1300" dirty="0">
                <a:solidFill>
                  <a:schemeClr val="accent1"/>
                </a:solidFill>
              </a:rPr>
              <a:t>13</a:t>
            </a:r>
            <a:endParaRPr lang="en-US" sz="1300" dirty="0"/>
          </a:p>
        </p:txBody>
      </p:sp>
      <p:sp>
        <p:nvSpPr>
          <p:cNvPr id="11" name="toc rule"/>
          <p:cNvSpPr/>
          <p:nvPr/>
        </p:nvSpPr>
        <p:spPr>
          <a:xfrm>
            <a:off x="457200" y="2523744"/>
            <a:ext cx="8229600" cy="0"/>
          </a:xfrm>
          <a:prstGeom prst="line">
            <a:avLst/>
          </a:prstGeom>
          <a:noFill/>
          <a:ln w="12700">
            <a:solidFill>
              <a:schemeClr val="accent5"/>
            </a:solidFill>
            <a:prstDash val="solid"/>
          </a:ln>
        </p:spPr>
      </p:sp>
      <p:sp>
        <p:nvSpPr>
          <p:cNvPr id="12" name="Text 10"/>
          <p:cNvSpPr txBox="1"/>
          <p:nvPr/>
        </p:nvSpPr>
        <p:spPr>
          <a:xfrm>
            <a:off x="457200" y="2596896"/>
            <a:ext cx="4023360" cy="50292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Intended audience</a:t>
            </a:r>
            <a:endParaRPr lang="en-US" sz="1600" dirty="0"/>
          </a:p>
        </p:txBody>
      </p:sp>
      <p:sp>
        <p:nvSpPr>
          <p:cNvPr id="13" name="Text 11"/>
          <p:cNvSpPr txBox="1"/>
          <p:nvPr/>
        </p:nvSpPr>
        <p:spPr>
          <a:xfrm>
            <a:off x="4572000" y="2596896"/>
            <a:ext cx="3383280" cy="502920"/>
          </a:xfrm>
          <a:prstGeom prst="rect">
            <a:avLst/>
          </a:prstGeom>
          <a:noFill/>
          <a:ln/>
        </p:spPr>
        <p:txBody>
          <a:bodyPr wrap="square" lIns="0" tIns="0" rIns="0" bIns="0" rtlCol="0" anchor="ctr"/>
          <a:lstStyle/>
          <a:p>
            <a:pPr indent="0" marL="0">
              <a:buNone/>
            </a:pPr>
            <a:r>
              <a:rPr lang="en-US" sz="1300" dirty="0">
                <a:solidFill>
                  <a:schemeClr val="accent4"/>
                </a:solidFill>
              </a:rPr>
              <a:t>Medical students and internal medicine residents</a:t>
            </a:r>
            <a:endParaRPr lang="en-US" sz="1300" dirty="0"/>
          </a:p>
        </p:txBody>
      </p:sp>
      <p:sp>
        <p:nvSpPr>
          <p:cNvPr id="14" name="Text 12"/>
          <p:cNvSpPr txBox="1"/>
          <p:nvPr/>
        </p:nvSpPr>
        <p:spPr>
          <a:xfrm>
            <a:off x="7955280" y="2596896"/>
            <a:ext cx="731520" cy="502920"/>
          </a:xfrm>
          <a:prstGeom prst="rect">
            <a:avLst/>
          </a:prstGeom>
          <a:noFill/>
          <a:ln/>
        </p:spPr>
        <p:txBody>
          <a:bodyPr wrap="square" lIns="0" tIns="0" rIns="0" bIns="0" rtlCol="0" anchor="ctr"/>
          <a:lstStyle/>
          <a:p>
            <a:pPr algn="r" indent="0" marL="0">
              <a:buNone/>
            </a:pPr>
            <a:r>
              <a:rPr lang="en-US" sz="1300" dirty="0">
                <a:solidFill>
                  <a:schemeClr val="accent1"/>
                </a:solidFill>
              </a:rPr>
              <a:t>14</a:t>
            </a:r>
            <a:endParaRPr lang="en-US" sz="1300" dirty="0"/>
          </a:p>
        </p:txBody>
      </p:sp>
      <p:sp>
        <p:nvSpPr>
          <p:cNvPr id="15" name="toc rule"/>
          <p:cNvSpPr/>
          <p:nvPr/>
        </p:nvSpPr>
        <p:spPr>
          <a:xfrm>
            <a:off x="457200" y="3182112"/>
            <a:ext cx="8229600" cy="0"/>
          </a:xfrm>
          <a:prstGeom prst="line">
            <a:avLst/>
          </a:prstGeom>
          <a:noFill/>
          <a:ln w="12700">
            <a:solidFill>
              <a:schemeClr val="accent5"/>
            </a:solidFill>
            <a:prstDash val="solid"/>
          </a:ln>
        </p:spPr>
      </p:sp>
      <p:sp>
        <p:nvSpPr>
          <p:cNvPr id="16" name="Text 14"/>
          <p:cNvSpPr txBox="1"/>
          <p:nvPr/>
        </p:nvSpPr>
        <p:spPr>
          <a:xfrm>
            <a:off x="457200" y="3255264"/>
            <a:ext cx="4023360" cy="50292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Assessment metrics and competency evaluation</a:t>
            </a:r>
            <a:endParaRPr lang="en-US" sz="1600" dirty="0"/>
          </a:p>
        </p:txBody>
      </p:sp>
      <p:sp>
        <p:nvSpPr>
          <p:cNvPr id="17" name="Text 15"/>
          <p:cNvSpPr txBox="1"/>
          <p:nvPr/>
        </p:nvSpPr>
        <p:spPr>
          <a:xfrm>
            <a:off x="4572000" y="3255264"/>
            <a:ext cx="3383280" cy="502920"/>
          </a:xfrm>
          <a:prstGeom prst="rect">
            <a:avLst/>
          </a:prstGeom>
          <a:noFill/>
          <a:ln/>
        </p:spPr>
        <p:txBody>
          <a:bodyPr wrap="square" lIns="0" tIns="0" rIns="0" bIns="0" rtlCol="0" anchor="ctr"/>
          <a:lstStyle/>
          <a:p>
            <a:pPr indent="0" marL="0">
              <a:buNone/>
            </a:pPr>
            <a:r>
              <a:rPr lang="en-US" sz="1300" dirty="0">
                <a:solidFill>
                  <a:schemeClr val="accent4"/>
                </a:solidFill>
              </a:rPr>
              <a:t>Three levels, and a planned study in RSOM's Class of 2030</a:t>
            </a:r>
            <a:endParaRPr lang="en-US" sz="1300" dirty="0"/>
          </a:p>
        </p:txBody>
      </p:sp>
      <p:sp>
        <p:nvSpPr>
          <p:cNvPr id="18" name="Text 16"/>
          <p:cNvSpPr txBox="1"/>
          <p:nvPr/>
        </p:nvSpPr>
        <p:spPr>
          <a:xfrm>
            <a:off x="7955280" y="3255264"/>
            <a:ext cx="731520" cy="502920"/>
          </a:xfrm>
          <a:prstGeom prst="rect">
            <a:avLst/>
          </a:prstGeom>
          <a:noFill/>
          <a:ln/>
        </p:spPr>
        <p:txBody>
          <a:bodyPr wrap="square" lIns="0" tIns="0" rIns="0" bIns="0" rtlCol="0" anchor="ctr"/>
          <a:lstStyle/>
          <a:p>
            <a:pPr algn="r" indent="0" marL="0">
              <a:buNone/>
            </a:pPr>
            <a:r>
              <a:rPr lang="en-US" sz="1300" dirty="0">
                <a:solidFill>
                  <a:schemeClr val="accent1"/>
                </a:solidFill>
              </a:rPr>
              <a:t>15</a:t>
            </a:r>
            <a:endParaRPr lang="en-US" sz="1300" dirty="0"/>
          </a:p>
        </p:txBody>
      </p:sp>
      <p:sp>
        <p:nvSpPr>
          <p:cNvPr id="19" name="toc rule"/>
          <p:cNvSpPr/>
          <p:nvPr/>
        </p:nvSpPr>
        <p:spPr>
          <a:xfrm>
            <a:off x="457200" y="3840480"/>
            <a:ext cx="8229600" cy="0"/>
          </a:xfrm>
          <a:prstGeom prst="line">
            <a:avLst/>
          </a:prstGeom>
          <a:noFill/>
          <a:ln w="12700">
            <a:solidFill>
              <a:schemeClr val="accent5"/>
            </a:solidFill>
            <a:prstDash val="solid"/>
          </a:ln>
        </p:spPr>
      </p:sp>
      <p:sp>
        <p:nvSpPr>
          <p:cNvPr id="20" name="Text 18"/>
          <p:cNvSpPr txBox="1"/>
          <p:nvPr/>
        </p:nvSpPr>
        <p:spPr>
          <a:xfrm>
            <a:off x="457200" y="3913632"/>
            <a:ext cx="4023360" cy="50292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Significance and seamless integration</a:t>
            </a:r>
            <a:endParaRPr lang="en-US" sz="1600" dirty="0"/>
          </a:p>
        </p:txBody>
      </p:sp>
      <p:sp>
        <p:nvSpPr>
          <p:cNvPr id="21" name="Text 19"/>
          <p:cNvSpPr txBox="1"/>
          <p:nvPr/>
        </p:nvSpPr>
        <p:spPr>
          <a:xfrm>
            <a:off x="4572000" y="3913632"/>
            <a:ext cx="3383280" cy="502920"/>
          </a:xfrm>
          <a:prstGeom prst="rect">
            <a:avLst/>
          </a:prstGeom>
          <a:noFill/>
          <a:ln/>
        </p:spPr>
        <p:txBody>
          <a:bodyPr wrap="square" lIns="0" tIns="0" rIns="0" bIns="0" rtlCol="0" anchor="ctr"/>
          <a:lstStyle/>
          <a:p>
            <a:pPr indent="0" marL="0">
              <a:buNone/>
            </a:pPr>
            <a:r>
              <a:rPr lang="en-US" sz="1300" dirty="0">
                <a:solidFill>
                  <a:schemeClr val="accent4"/>
                </a:solidFill>
              </a:rPr>
              <a:t>Why it matters, and how it drops into existing teaching</a:t>
            </a:r>
            <a:endParaRPr lang="en-US" sz="1300" dirty="0"/>
          </a:p>
        </p:txBody>
      </p:sp>
      <p:sp>
        <p:nvSpPr>
          <p:cNvPr id="22" name="Text 20"/>
          <p:cNvSpPr txBox="1"/>
          <p:nvPr/>
        </p:nvSpPr>
        <p:spPr>
          <a:xfrm>
            <a:off x="7955280" y="3913632"/>
            <a:ext cx="731520" cy="502920"/>
          </a:xfrm>
          <a:prstGeom prst="rect">
            <a:avLst/>
          </a:prstGeom>
          <a:noFill/>
          <a:ln/>
        </p:spPr>
        <p:txBody>
          <a:bodyPr wrap="square" lIns="0" tIns="0" rIns="0" bIns="0" rtlCol="0" anchor="ctr"/>
          <a:lstStyle/>
          <a:p>
            <a:pPr algn="r" indent="0" marL="0">
              <a:buNone/>
            </a:pPr>
            <a:r>
              <a:rPr lang="en-US" sz="1300" dirty="0">
                <a:solidFill>
                  <a:schemeClr val="accent1"/>
                </a:solidFill>
              </a:rPr>
              <a:t>16–17</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Learners want more ECG practice than they get</a:t>
            </a:r>
            <a:endParaRPr lang="en-US" sz="2200" dirty="0"/>
          </a:p>
        </p:txBody>
      </p:sp>
      <p:sp>
        <p:nvSpPr>
          <p:cNvPr id="4" name="quadrant rule v"/>
          <p:cNvSpPr/>
          <p:nvPr/>
        </p:nvSpPr>
        <p:spPr>
          <a:xfrm>
            <a:off x="4572000" y="1325880"/>
            <a:ext cx="0" cy="3200400"/>
          </a:xfrm>
          <a:prstGeom prst="line">
            <a:avLst/>
          </a:prstGeom>
          <a:noFill/>
          <a:ln w="12700">
            <a:solidFill>
              <a:schemeClr val="accent5"/>
            </a:solidFill>
            <a:prstDash val="solid"/>
          </a:ln>
        </p:spPr>
      </p:sp>
      <p:sp>
        <p:nvSpPr>
          <p:cNvPr id="5" name="quadrant rule h"/>
          <p:cNvSpPr/>
          <p:nvPr/>
        </p:nvSpPr>
        <p:spPr>
          <a:xfrm>
            <a:off x="457200" y="2926080"/>
            <a:ext cx="8229600" cy="0"/>
          </a:xfrm>
          <a:prstGeom prst="line">
            <a:avLst/>
          </a:prstGeom>
          <a:noFill/>
          <a:ln w="12700">
            <a:solidFill>
              <a:schemeClr val="accent5"/>
            </a:solidFill>
            <a:prstDash val="solid"/>
          </a:ln>
        </p:spPr>
      </p:sp>
      <p:sp>
        <p:nvSpPr>
          <p:cNvPr id="6" name="Text 4"/>
          <p:cNvSpPr txBox="1"/>
          <p:nvPr/>
        </p:nvSpPr>
        <p:spPr>
          <a:xfrm>
            <a:off x="457200" y="1280160"/>
            <a:ext cx="3840480" cy="54864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96%</a:t>
            </a:r>
            <a:endParaRPr lang="en-US" sz="3400" dirty="0"/>
          </a:p>
        </p:txBody>
      </p:sp>
      <p:sp>
        <p:nvSpPr>
          <p:cNvPr id="7" name="Text 5"/>
          <p:cNvSpPr txBox="1"/>
          <p:nvPr/>
        </p:nvSpPr>
        <p:spPr>
          <a:xfrm>
            <a:off x="457200" y="1874520"/>
            <a:ext cx="3840480" cy="685800"/>
          </a:xfrm>
          <a:prstGeom prst="rect">
            <a:avLst/>
          </a:prstGeom>
          <a:noFill/>
          <a:ln/>
        </p:spPr>
        <p:txBody>
          <a:bodyPr wrap="square" lIns="0" tIns="0" rIns="0" bIns="0" rtlCol="0" anchor="t"/>
          <a:lstStyle/>
          <a:p>
            <a:pPr indent="0" marL="0">
              <a:buNone/>
            </a:pPr>
            <a:r>
              <a:rPr lang="en-US" sz="1300" dirty="0">
                <a:solidFill>
                  <a:schemeClr val="tx1"/>
                </a:solidFill>
              </a:rPr>
              <a:t>of 401 medical students wanted more ECG training; they rated their teaching 2 of 5, and their confidence in emergencies 2 of 5.</a:t>
            </a:r>
            <a:endParaRPr lang="en-US" sz="1300" dirty="0"/>
          </a:p>
        </p:txBody>
      </p:sp>
      <p:sp>
        <p:nvSpPr>
          <p:cNvPr id="8" name="Text 6"/>
          <p:cNvSpPr txBox="1"/>
          <p:nvPr/>
        </p:nvSpPr>
        <p:spPr>
          <a:xfrm>
            <a:off x="457200" y="2578608"/>
            <a:ext cx="3840480" cy="201168"/>
          </a:xfrm>
          <a:prstGeom prst="rect">
            <a:avLst/>
          </a:prstGeom>
          <a:noFill/>
          <a:ln/>
        </p:spPr>
        <p:txBody>
          <a:bodyPr wrap="square" lIns="0" tIns="0" rIns="0" bIns="0" rtlCol="0" anchor="t"/>
          <a:lstStyle/>
          <a:p>
            <a:pPr indent="0" marL="0">
              <a:buNone/>
            </a:pPr>
            <a:r>
              <a:rPr lang="en-US" sz="900" dirty="0">
                <a:solidFill>
                  <a:schemeClr val="accent4"/>
                </a:solidFill>
              </a:rPr>
              <a:t>Chaumont et al., BMC Med Educ 2024</a:t>
            </a:r>
            <a:endParaRPr lang="en-US" sz="900" dirty="0"/>
          </a:p>
        </p:txBody>
      </p:sp>
      <p:sp>
        <p:nvSpPr>
          <p:cNvPr id="9" name="Text 7"/>
          <p:cNvSpPr txBox="1"/>
          <p:nvPr/>
        </p:nvSpPr>
        <p:spPr>
          <a:xfrm>
            <a:off x="4846320" y="1280160"/>
            <a:ext cx="3840480" cy="54864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83%</a:t>
            </a:r>
            <a:endParaRPr lang="en-US" sz="3400" dirty="0"/>
          </a:p>
        </p:txBody>
      </p:sp>
      <p:sp>
        <p:nvSpPr>
          <p:cNvPr id="10" name="Text 8"/>
          <p:cNvSpPr txBox="1"/>
          <p:nvPr/>
        </p:nvSpPr>
        <p:spPr>
          <a:xfrm>
            <a:off x="4846320" y="1874520"/>
            <a:ext cx="3840480" cy="685800"/>
          </a:xfrm>
          <a:prstGeom prst="rect">
            <a:avLst/>
          </a:prstGeom>
          <a:noFill/>
          <a:ln/>
        </p:spPr>
        <p:txBody>
          <a:bodyPr wrap="square" lIns="0" tIns="0" rIns="0" bIns="0" rtlCol="0" anchor="t"/>
          <a:lstStyle/>
          <a:p>
            <a:pPr indent="0" marL="0">
              <a:buNone/>
            </a:pPr>
            <a:r>
              <a:rPr lang="en-US" sz="1300" dirty="0">
                <a:solidFill>
                  <a:schemeClr val="tx1"/>
                </a:solidFill>
              </a:rPr>
              <a:t>of medical students said reading ECGs in a clinical setting makes them anxious.</a:t>
            </a:r>
            <a:endParaRPr lang="en-US" sz="1300" dirty="0"/>
          </a:p>
        </p:txBody>
      </p:sp>
      <p:sp>
        <p:nvSpPr>
          <p:cNvPr id="11" name="Text 9"/>
          <p:cNvSpPr txBox="1"/>
          <p:nvPr/>
        </p:nvSpPr>
        <p:spPr>
          <a:xfrm>
            <a:off x="4846320" y="2578608"/>
            <a:ext cx="3840480" cy="201168"/>
          </a:xfrm>
          <a:prstGeom prst="rect">
            <a:avLst/>
          </a:prstGeom>
          <a:noFill/>
          <a:ln/>
        </p:spPr>
        <p:txBody>
          <a:bodyPr wrap="square" lIns="0" tIns="0" rIns="0" bIns="0" rtlCol="0" anchor="t"/>
          <a:lstStyle/>
          <a:p>
            <a:pPr indent="0" marL="0">
              <a:buNone/>
            </a:pPr>
            <a:r>
              <a:rPr lang="en-US" sz="900" dirty="0">
                <a:solidFill>
                  <a:schemeClr val="accent4"/>
                </a:solidFill>
              </a:rPr>
              <a:t>El-Baba et al., Int J Emerg Med 2023</a:t>
            </a:r>
            <a:endParaRPr lang="en-US" sz="900" dirty="0"/>
          </a:p>
        </p:txBody>
      </p:sp>
      <p:sp>
        <p:nvSpPr>
          <p:cNvPr id="12" name="Text 10"/>
          <p:cNvSpPr txBox="1"/>
          <p:nvPr/>
        </p:nvSpPr>
        <p:spPr>
          <a:xfrm>
            <a:off x="457200" y="3063240"/>
            <a:ext cx="3840480" cy="54864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35%</a:t>
            </a:r>
            <a:endParaRPr lang="en-US" sz="3400" dirty="0"/>
          </a:p>
        </p:txBody>
      </p:sp>
      <p:sp>
        <p:nvSpPr>
          <p:cNvPr id="13" name="Text 11"/>
          <p:cNvSpPr txBox="1"/>
          <p:nvPr/>
        </p:nvSpPr>
        <p:spPr>
          <a:xfrm>
            <a:off x="457200" y="3657600"/>
            <a:ext cx="3840480" cy="685800"/>
          </a:xfrm>
          <a:prstGeom prst="rect">
            <a:avLst/>
          </a:prstGeom>
          <a:noFill/>
          <a:ln/>
        </p:spPr>
        <p:txBody>
          <a:bodyPr wrap="square" lIns="0" tIns="0" rIns="0" bIns="0" rtlCol="0" anchor="t"/>
          <a:lstStyle/>
          <a:p>
            <a:pPr indent="0" marL="0">
              <a:buNone/>
            </a:pPr>
            <a:r>
              <a:rPr lang="en-US" sz="1300" dirty="0">
                <a:solidFill>
                  <a:schemeClr val="tx1"/>
                </a:solidFill>
              </a:rPr>
              <a:t>of answers on core cardiovascular and respiratory concepts stayed wrong from second year to the final year (987 students).</a:t>
            </a:r>
            <a:endParaRPr lang="en-US" sz="1300" dirty="0"/>
          </a:p>
        </p:txBody>
      </p:sp>
      <p:sp>
        <p:nvSpPr>
          <p:cNvPr id="14" name="Text 12"/>
          <p:cNvSpPr txBox="1"/>
          <p:nvPr/>
        </p:nvSpPr>
        <p:spPr>
          <a:xfrm>
            <a:off x="457200" y="4361688"/>
            <a:ext cx="3840480" cy="201168"/>
          </a:xfrm>
          <a:prstGeom prst="rect">
            <a:avLst/>
          </a:prstGeom>
          <a:noFill/>
          <a:ln/>
        </p:spPr>
        <p:txBody>
          <a:bodyPr wrap="square" lIns="0" tIns="0" rIns="0" bIns="0" rtlCol="0" anchor="t"/>
          <a:lstStyle/>
          <a:p>
            <a:pPr indent="0" marL="0">
              <a:buNone/>
            </a:pPr>
            <a:r>
              <a:rPr lang="en-US" sz="900" dirty="0">
                <a:solidFill>
                  <a:schemeClr val="accent4"/>
                </a:solidFill>
              </a:rPr>
              <a:t>Badenhorst et al., Adv Physiol Educ 2021</a:t>
            </a:r>
            <a:endParaRPr lang="en-US" sz="900" dirty="0"/>
          </a:p>
        </p:txBody>
      </p:sp>
      <p:sp>
        <p:nvSpPr>
          <p:cNvPr id="15" name="Text 13"/>
          <p:cNvSpPr txBox="1"/>
          <p:nvPr/>
        </p:nvSpPr>
        <p:spPr>
          <a:xfrm>
            <a:off x="4846320" y="3063240"/>
            <a:ext cx="3840480" cy="54864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No gain</a:t>
            </a:r>
            <a:endParaRPr lang="en-US" sz="3400" dirty="0"/>
          </a:p>
        </p:txBody>
      </p:sp>
      <p:sp>
        <p:nvSpPr>
          <p:cNvPr id="16" name="Text 14"/>
          <p:cNvSpPr txBox="1"/>
          <p:nvPr/>
        </p:nvSpPr>
        <p:spPr>
          <a:xfrm>
            <a:off x="4846320" y="3657600"/>
            <a:ext cx="3840480" cy="685800"/>
          </a:xfrm>
          <a:prstGeom prst="rect">
            <a:avLst/>
          </a:prstGeom>
          <a:noFill/>
          <a:ln/>
        </p:spPr>
        <p:txBody>
          <a:bodyPr wrap="square" lIns="0" tIns="0" rIns="0" bIns="0" rtlCol="0" anchor="t"/>
          <a:lstStyle/>
          <a:p>
            <a:pPr indent="0" marL="0">
              <a:buNone/>
            </a:pPr>
            <a:r>
              <a:rPr lang="en-US" sz="1300" dirty="0">
                <a:solidFill>
                  <a:schemeClr val="tx1"/>
                </a:solidFill>
              </a:rPr>
              <a:t>in knowledge after a 14-week ECG lecture series for internal medicine residents, though their confidence rose (2.8 to 3.5 of 5).</a:t>
            </a:r>
            <a:endParaRPr lang="en-US" sz="1300" dirty="0"/>
          </a:p>
        </p:txBody>
      </p:sp>
      <p:sp>
        <p:nvSpPr>
          <p:cNvPr id="17" name="Text 15"/>
          <p:cNvSpPr txBox="1"/>
          <p:nvPr/>
        </p:nvSpPr>
        <p:spPr>
          <a:xfrm>
            <a:off x="4846320" y="4361688"/>
            <a:ext cx="3840480" cy="201168"/>
          </a:xfrm>
          <a:prstGeom prst="rect">
            <a:avLst/>
          </a:prstGeom>
          <a:noFill/>
          <a:ln/>
        </p:spPr>
        <p:txBody>
          <a:bodyPr wrap="square" lIns="0" tIns="0" rIns="0" bIns="0" rtlCol="0" anchor="t"/>
          <a:lstStyle/>
          <a:p>
            <a:pPr indent="0" marL="0">
              <a:buNone/>
            </a:pPr>
            <a:r>
              <a:rPr lang="en-US" sz="900" dirty="0">
                <a:solidFill>
                  <a:schemeClr val="accent4"/>
                </a:solidFill>
              </a:rPr>
              <a:t>Esomonye et al., JACC Case Rep 2026</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Where learning breaks down, and what changes</a:t>
            </a:r>
            <a:endParaRPr lang="en-US" sz="2200" dirty="0"/>
          </a:p>
        </p:txBody>
      </p:sp>
      <p:sp>
        <p:nvSpPr>
          <p:cNvPr id="4" name="Text 2"/>
          <p:cNvSpPr txBox="1"/>
          <p:nvPr/>
        </p:nvSpPr>
        <p:spPr>
          <a:xfrm>
            <a:off x="457200" y="1234440"/>
            <a:ext cx="3566160" cy="274320"/>
          </a:xfrm>
          <a:prstGeom prst="rect">
            <a:avLst/>
          </a:prstGeom>
          <a:noFill/>
          <a:ln/>
        </p:spPr>
        <p:txBody>
          <a:bodyPr wrap="square" lIns="0" tIns="0" rIns="0" bIns="0" rtlCol="0" anchor="t"/>
          <a:lstStyle/>
          <a:p>
            <a:pPr indent="0" marL="0">
              <a:buNone/>
            </a:pPr>
            <a:r>
              <a:rPr lang="en-US" sz="1400" b="1" dirty="0">
                <a:solidFill>
                  <a:schemeClr val="accent4"/>
                </a:solidFill>
                <a:latin typeface="+mj-lt" pitchFamily="34" charset="0"/>
                <a:ea typeface="+mj-lt" pitchFamily="34" charset="-122"/>
                <a:cs typeface="+mj-lt" pitchFamily="34" charset="-120"/>
              </a:rPr>
              <a:t>What gets in the way</a:t>
            </a:r>
            <a:endParaRPr lang="en-US" sz="1400" dirty="0"/>
          </a:p>
        </p:txBody>
      </p:sp>
      <p:sp>
        <p:nvSpPr>
          <p:cNvPr id="5" name="Text 3"/>
          <p:cNvSpPr txBox="1"/>
          <p:nvPr/>
        </p:nvSpPr>
        <p:spPr>
          <a:xfrm>
            <a:off x="4389120" y="1234440"/>
            <a:ext cx="4297680" cy="274320"/>
          </a:xfrm>
          <a:prstGeom prst="rect">
            <a:avLst/>
          </a:prstGeom>
          <a:noFill/>
          <a:ln/>
        </p:spPr>
        <p:txBody>
          <a:bodyPr wrap="square" lIns="0" tIns="0" rIns="0" bIns="0" rtlCol="0" anchor="t"/>
          <a:lstStyle/>
          <a:p>
            <a:pPr indent="0" marL="0">
              <a:buNone/>
            </a:pPr>
            <a:r>
              <a:rPr lang="en-US" sz="1400" b="1" dirty="0">
                <a:solidFill>
                  <a:schemeClr val="accent1"/>
                </a:solidFill>
                <a:latin typeface="+mj-lt" pitchFamily="34" charset="0"/>
                <a:ea typeface="+mj-lt" pitchFamily="34" charset="-122"/>
                <a:cs typeface="+mj-lt" pitchFamily="34" charset="-120"/>
              </a:rPr>
              <a:t>What CoroSim does</a:t>
            </a:r>
            <a:endParaRPr lang="en-US" sz="1400" dirty="0"/>
          </a:p>
        </p:txBody>
      </p:sp>
      <p:sp>
        <p:nvSpPr>
          <p:cNvPr id="6" name="gap rule"/>
          <p:cNvSpPr/>
          <p:nvPr/>
        </p:nvSpPr>
        <p:spPr>
          <a:xfrm>
            <a:off x="457200" y="1545336"/>
            <a:ext cx="8229600" cy="0"/>
          </a:xfrm>
          <a:prstGeom prst="line">
            <a:avLst/>
          </a:prstGeom>
          <a:noFill/>
          <a:ln w="12700">
            <a:solidFill>
              <a:schemeClr val="accent5"/>
            </a:solidFill>
            <a:prstDash val="solid"/>
          </a:ln>
        </p:spPr>
      </p:sp>
      <p:sp>
        <p:nvSpPr>
          <p:cNvPr id="7" name="Text 5"/>
          <p:cNvSpPr txBox="1"/>
          <p:nvPr/>
        </p:nvSpPr>
        <p:spPr>
          <a:xfrm>
            <a:off x="457200" y="1600200"/>
            <a:ext cx="3566160" cy="658368"/>
          </a:xfrm>
          <a:prstGeom prst="rect">
            <a:avLst/>
          </a:prstGeom>
          <a:noFill/>
          <a:ln/>
        </p:spPr>
        <p:txBody>
          <a:bodyPr wrap="square" lIns="0" tIns="0" rIns="0" bIns="0" rtlCol="0" anchor="t"/>
          <a:lstStyle/>
          <a:p>
            <a:pPr indent="0" marL="0">
              <a:buNone/>
            </a:pPr>
            <a:r>
              <a:rPr lang="en-US" sz="1300" dirty="0">
                <a:solidFill>
                  <a:schemeClr val="tx1"/>
                </a:solidFill>
              </a:rPr>
              <a:t>ECGs are memorized as patterns, cut off from anatomy</a:t>
            </a:r>
            <a:endParaRPr lang="en-US" sz="1300" dirty="0"/>
          </a:p>
          <a:p>
            <a:pPr indent="0" marL="0">
              <a:buNone/>
            </a:pPr>
            <a:r>
              <a:rPr lang="en-US" sz="900" dirty="0">
                <a:solidFill>
                  <a:schemeClr val="accent4"/>
                </a:solidFill>
              </a:rPr>
              <a:t>Students say past teaching "focused on memorizing traces" (Cardoso Pinto 2024)</a:t>
            </a:r>
            <a:endParaRPr lang="en-US" sz="1300" dirty="0"/>
          </a:p>
        </p:txBody>
      </p:sp>
      <p:sp>
        <p:nvSpPr>
          <p:cNvPr id="8" name="Text 6"/>
          <p:cNvSpPr txBox="1"/>
          <p:nvPr/>
        </p:nvSpPr>
        <p:spPr>
          <a:xfrm>
            <a:off x="4389120" y="1600200"/>
            <a:ext cx="4297680" cy="658368"/>
          </a:xfrm>
          <a:prstGeom prst="rect">
            <a:avLst/>
          </a:prstGeom>
          <a:noFill/>
          <a:ln/>
        </p:spPr>
        <p:txBody>
          <a:bodyPr wrap="square" lIns="0" tIns="0" rIns="0" bIns="0" rtlCol="0" anchor="t"/>
          <a:lstStyle/>
          <a:p>
            <a:pPr indent="0" marL="0">
              <a:buNone/>
            </a:pPr>
            <a:r>
              <a:rPr lang="en-US" sz="1300" dirty="0">
                <a:solidFill>
                  <a:schemeClr val="tx1"/>
                </a:solidFill>
              </a:rPr>
              <a:t>Every tracing comes from a lesion in a 3D coronary tree, and the leads are drawn as axes, so learners see why ST rises or falls</a:t>
            </a:r>
            <a:endParaRPr lang="en-US" sz="1300" dirty="0"/>
          </a:p>
        </p:txBody>
      </p:sp>
      <p:sp>
        <p:nvSpPr>
          <p:cNvPr id="9" name="gap rule"/>
          <p:cNvSpPr/>
          <p:nvPr/>
        </p:nvSpPr>
        <p:spPr>
          <a:xfrm>
            <a:off x="457200" y="2313432"/>
            <a:ext cx="8229600" cy="0"/>
          </a:xfrm>
          <a:prstGeom prst="line">
            <a:avLst/>
          </a:prstGeom>
          <a:noFill/>
          <a:ln w="12700">
            <a:solidFill>
              <a:schemeClr val="accent5"/>
            </a:solidFill>
            <a:prstDash val="solid"/>
          </a:ln>
        </p:spPr>
      </p:sp>
      <p:sp>
        <p:nvSpPr>
          <p:cNvPr id="10" name="Text 8"/>
          <p:cNvSpPr txBox="1"/>
          <p:nvPr/>
        </p:nvSpPr>
        <p:spPr>
          <a:xfrm>
            <a:off x="457200" y="2368296"/>
            <a:ext cx="3566160" cy="658368"/>
          </a:xfrm>
          <a:prstGeom prst="rect">
            <a:avLst/>
          </a:prstGeom>
          <a:noFill/>
          <a:ln/>
        </p:spPr>
        <p:txBody>
          <a:bodyPr wrap="square" lIns="0" tIns="0" rIns="0" bIns="0" rtlCol="0" anchor="t"/>
          <a:lstStyle/>
          <a:p>
            <a:pPr indent="0" marL="0">
              <a:buNone/>
            </a:pPr>
            <a:r>
              <a:rPr lang="en-US" sz="1300" dirty="0">
                <a:solidFill>
                  <a:schemeClr val="tx1"/>
                </a:solidFill>
              </a:rPr>
              <a:t>Physiology is taught as static curves</a:t>
            </a:r>
            <a:endParaRPr lang="en-US" sz="1300" dirty="0"/>
          </a:p>
          <a:p>
            <a:pPr indent="0" marL="0">
              <a:buNone/>
            </a:pPr>
            <a:r>
              <a:rPr lang="en-US" sz="900" dirty="0">
                <a:solidFill>
                  <a:schemeClr val="accent4"/>
                </a:solidFill>
              </a:rPr>
              <a:t>Misconceptions persist through training (Badenhorst 2021)</a:t>
            </a:r>
            <a:endParaRPr lang="en-US" sz="1300" dirty="0"/>
          </a:p>
        </p:txBody>
      </p:sp>
      <p:sp>
        <p:nvSpPr>
          <p:cNvPr id="11" name="Text 9"/>
          <p:cNvSpPr txBox="1"/>
          <p:nvPr/>
        </p:nvSpPr>
        <p:spPr>
          <a:xfrm>
            <a:off x="4389120" y="2368296"/>
            <a:ext cx="4297680" cy="658368"/>
          </a:xfrm>
          <a:prstGeom prst="rect">
            <a:avLst/>
          </a:prstGeom>
          <a:noFill/>
          <a:ln/>
        </p:spPr>
        <p:txBody>
          <a:bodyPr wrap="square" lIns="0" tIns="0" rIns="0" bIns="0" rtlCol="0" anchor="t"/>
          <a:lstStyle/>
          <a:p>
            <a:pPr indent="0" marL="0">
              <a:buNone/>
            </a:pPr>
            <a:r>
              <a:rPr lang="en-US" sz="1300" dirty="0">
                <a:solidFill>
                  <a:schemeClr val="tx1"/>
                </a:solidFill>
              </a:rPr>
              <a:t>One closed loop: lesion, ischemia, ECG, pressure and reflexes, beat by beat</a:t>
            </a:r>
            <a:endParaRPr lang="en-US" sz="1300" dirty="0"/>
          </a:p>
        </p:txBody>
      </p:sp>
      <p:sp>
        <p:nvSpPr>
          <p:cNvPr id="12" name="gap rule"/>
          <p:cNvSpPr/>
          <p:nvPr/>
        </p:nvSpPr>
        <p:spPr>
          <a:xfrm>
            <a:off x="457200" y="3081528"/>
            <a:ext cx="8229600" cy="0"/>
          </a:xfrm>
          <a:prstGeom prst="line">
            <a:avLst/>
          </a:prstGeom>
          <a:noFill/>
          <a:ln w="12700">
            <a:solidFill>
              <a:schemeClr val="accent5"/>
            </a:solidFill>
            <a:prstDash val="solid"/>
          </a:ln>
        </p:spPr>
      </p:sp>
      <p:sp>
        <p:nvSpPr>
          <p:cNvPr id="13" name="Text 11"/>
          <p:cNvSpPr txBox="1"/>
          <p:nvPr/>
        </p:nvSpPr>
        <p:spPr>
          <a:xfrm>
            <a:off x="457200" y="3136392"/>
            <a:ext cx="3566160" cy="658368"/>
          </a:xfrm>
          <a:prstGeom prst="rect">
            <a:avLst/>
          </a:prstGeom>
          <a:noFill/>
          <a:ln/>
        </p:spPr>
        <p:txBody>
          <a:bodyPr wrap="square" lIns="0" tIns="0" rIns="0" bIns="0" rtlCol="0" anchor="t"/>
          <a:lstStyle/>
          <a:p>
            <a:pPr indent="0" marL="0">
              <a:buNone/>
            </a:pPr>
            <a:r>
              <a:rPr lang="en-US" sz="1300" dirty="0">
                <a:solidFill>
                  <a:schemeClr val="tx1"/>
                </a:solidFill>
              </a:rPr>
              <a:t>STEMI and shock decisions are rarely practiced</a:t>
            </a:r>
            <a:endParaRPr lang="en-US" sz="1300" dirty="0"/>
          </a:p>
        </p:txBody>
      </p:sp>
      <p:sp>
        <p:nvSpPr>
          <p:cNvPr id="14" name="Text 12"/>
          <p:cNvSpPr txBox="1"/>
          <p:nvPr/>
        </p:nvSpPr>
        <p:spPr>
          <a:xfrm>
            <a:off x="4389120" y="3136392"/>
            <a:ext cx="4297680" cy="658368"/>
          </a:xfrm>
          <a:prstGeom prst="rect">
            <a:avLst/>
          </a:prstGeom>
          <a:noFill/>
          <a:ln/>
        </p:spPr>
        <p:txBody>
          <a:bodyPr wrap="square" lIns="0" tIns="0" rIns="0" bIns="0" rtlCol="0" anchor="t"/>
          <a:lstStyle/>
          <a:p>
            <a:pPr indent="0" marL="0">
              <a:buNone/>
            </a:pPr>
            <a:r>
              <a:rPr lang="en-US" sz="1300" dirty="0">
                <a:solidFill>
                  <a:schemeClr val="tx1"/>
                </a:solidFill>
              </a:rPr>
              <a:t>Learners treat while the muscle dies; every drug and device has its real cost, and warnings name the harm</a:t>
            </a:r>
            <a:endParaRPr lang="en-US" sz="1300" dirty="0"/>
          </a:p>
        </p:txBody>
      </p:sp>
      <p:sp>
        <p:nvSpPr>
          <p:cNvPr id="15" name="gap rule"/>
          <p:cNvSpPr/>
          <p:nvPr/>
        </p:nvSpPr>
        <p:spPr>
          <a:xfrm>
            <a:off x="457200" y="3849624"/>
            <a:ext cx="8229600" cy="0"/>
          </a:xfrm>
          <a:prstGeom prst="line">
            <a:avLst/>
          </a:prstGeom>
          <a:noFill/>
          <a:ln w="12700">
            <a:solidFill>
              <a:schemeClr val="accent5"/>
            </a:solidFill>
            <a:prstDash val="solid"/>
          </a:ln>
        </p:spPr>
      </p:sp>
      <p:sp>
        <p:nvSpPr>
          <p:cNvPr id="16" name="Text 14"/>
          <p:cNvSpPr txBox="1"/>
          <p:nvPr/>
        </p:nvSpPr>
        <p:spPr>
          <a:xfrm>
            <a:off x="457200" y="3904488"/>
            <a:ext cx="3566160" cy="658368"/>
          </a:xfrm>
          <a:prstGeom prst="rect">
            <a:avLst/>
          </a:prstGeom>
          <a:noFill/>
          <a:ln/>
        </p:spPr>
        <p:txBody>
          <a:bodyPr wrap="square" lIns="0" tIns="0" rIns="0" bIns="0" rtlCol="0" anchor="t"/>
          <a:lstStyle/>
          <a:p>
            <a:pPr indent="0" marL="0">
              <a:buNone/>
            </a:pPr>
            <a:r>
              <a:rPr lang="en-US" sz="1300" dirty="0">
                <a:solidFill>
                  <a:schemeClr val="tx1"/>
                </a:solidFill>
              </a:rPr>
              <a:t>Simulation time is scarce and tied to a lab</a:t>
            </a:r>
            <a:endParaRPr lang="en-US" sz="1300" dirty="0"/>
          </a:p>
        </p:txBody>
      </p:sp>
      <p:sp>
        <p:nvSpPr>
          <p:cNvPr id="17" name="Text 15"/>
          <p:cNvSpPr txBox="1"/>
          <p:nvPr/>
        </p:nvSpPr>
        <p:spPr>
          <a:xfrm>
            <a:off x="4389120" y="3904488"/>
            <a:ext cx="4297680" cy="658368"/>
          </a:xfrm>
          <a:prstGeom prst="rect">
            <a:avLst/>
          </a:prstGeom>
          <a:noFill/>
          <a:ln/>
        </p:spPr>
        <p:txBody>
          <a:bodyPr wrap="square" lIns="0" tIns="0" rIns="0" bIns="0" rtlCol="0" anchor="t"/>
          <a:lstStyle/>
          <a:p>
            <a:pPr indent="0" marL="0">
              <a:buNone/>
            </a:pPr>
            <a:r>
              <a:rPr lang="en-US" sz="1300" dirty="0">
                <a:solidFill>
                  <a:schemeClr val="tx1"/>
                </a:solidFill>
              </a:rPr>
              <a:t>Free in any browser, at any hour; a link opens a specific case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simulator</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Block an artery and watch the patient respond</a:t>
            </a:r>
            <a:endParaRPr lang="en-US" sz="2200" dirty="0"/>
          </a:p>
        </p:txBody>
      </p:sp>
      <p:pic>
        <p:nvPicPr>
          <p:cNvPr id="4" name="simulator" descr="simulator">    </p:cNvPr>
          <p:cNvPicPr>
            <a:picLocks noChangeAspect="1"/>
          </p:cNvPicPr>
          <p:nvPr/>
        </p:nvPicPr>
        <p:blipFill>
          <a:blip r:embed="rId1"/>
          <a:stretch>
            <a:fillRect/>
          </a:stretch>
        </p:blipFill>
        <p:spPr>
          <a:xfrm>
            <a:off x="457200" y="1234440"/>
            <a:ext cx="5486400" cy="3086100"/>
          </a:xfrm>
          <a:prstGeom prst="rect">
            <a:avLst/>
          </a:prstGeom>
        </p:spPr>
      </p:pic>
      <p:sp>
        <p:nvSpPr>
          <p:cNvPr id="5" name="simulator frame"/>
          <p:cNvSpPr/>
          <p:nvPr/>
        </p:nvSpPr>
        <p:spPr>
          <a:xfrm>
            <a:off x="457200" y="1234440"/>
            <a:ext cx="5486400" cy="3086100"/>
          </a:xfrm>
          <a:prstGeom prst="rect">
            <a:avLst/>
          </a:prstGeom>
          <a:ln w="9525">
            <a:solidFill>
              <a:srgbClr val="D6D1CB"/>
            </a:solidFill>
            <a:prstDash val="solid"/>
          </a:ln>
        </p:spPr>
      </p:sp>
      <p:sp>
        <p:nvSpPr>
          <p:cNvPr id="6" name="Text 3"/>
          <p:cNvSpPr txBox="1"/>
          <p:nvPr/>
        </p:nvSpPr>
        <p:spPr>
          <a:xfrm>
            <a:off x="457200" y="4393692"/>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2. </a:t>
            </a:r>
            <a:pPr indent="0" marL="0">
              <a:buNone/>
            </a:pPr>
            <a:r>
              <a:rPr lang="en-US" sz="1000" dirty="0">
                <a:solidFill>
                  <a:schemeClr val="accent4"/>
                </a:solidFill>
              </a:rPr>
              <a:t>The simulator during a proximal LAD occlusion.</a:t>
            </a:r>
            <a:endParaRPr lang="en-US" sz="1000" dirty="0"/>
          </a:p>
        </p:txBody>
      </p:sp>
      <p:sp>
        <p:nvSpPr>
          <p:cNvPr id="7" name="points"/>
          <p:cNvSpPr txBox="1"/>
          <p:nvPr/>
        </p:nvSpPr>
        <p:spPr>
          <a:xfrm>
            <a:off x="6263640" y="1280160"/>
            <a:ext cx="2423160" cy="329184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Place a lesion on any of 14 arteries, across nine anatomic variants</a:t>
            </a:r>
            <a:endParaRPr lang="en-US" sz="1400" dirty="0"/>
          </a:p>
          <a:p>
            <a:pPr marL="165100" indent="-165100">
              <a:spcAft>
                <a:spcPts val="900"/>
              </a:spcAft>
              <a:buSzPct val="100000"/>
              <a:buChar char="•"/>
            </a:pPr>
            <a:r>
              <a:rPr lang="en-US" sz="1400" dirty="0">
                <a:solidFill>
                  <a:schemeClr val="tx1"/>
                </a:solidFill>
              </a:rPr>
              <a:t>Ischemia, the 12-lead, rhythm, AV block and blood pressure all follow from the physics</a:t>
            </a:r>
            <a:endParaRPr lang="en-US" sz="1400" dirty="0"/>
          </a:p>
          <a:p>
            <a:pPr marL="165100" indent="-165100">
              <a:spcAft>
                <a:spcPts val="900"/>
              </a:spcAft>
              <a:buSzPct val="100000"/>
              <a:buChar char="•"/>
            </a:pPr>
            <a:r>
              <a:rPr lang="en-US" sz="1400" dirty="0">
                <a:solidFill>
                  <a:schemeClr val="tx1"/>
                </a:solidFill>
              </a:rPr>
              <a:t>The infarct grows in clinical minutes and lowers LVEF until reperfusion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simulator</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Read the 12-lead, then treat the patient</a:t>
            </a:r>
            <a:endParaRPr lang="en-US" sz="2200" dirty="0"/>
          </a:p>
        </p:txBody>
      </p:sp>
      <p:pic>
        <p:nvPicPr>
          <p:cNvPr id="4" name="12-lead ECG from the simulator" descr="12-lead ECG from the simulator">    </p:cNvPr>
          <p:cNvPicPr>
            <a:picLocks noChangeAspect="1"/>
          </p:cNvPicPr>
          <p:nvPr/>
        </p:nvPicPr>
        <p:blipFill>
          <a:blip r:embed="rId1"/>
          <a:stretch>
            <a:fillRect/>
          </a:stretch>
        </p:blipFill>
        <p:spPr>
          <a:xfrm>
            <a:off x="457200" y="1234440"/>
            <a:ext cx="5486400" cy="2068643"/>
          </a:xfrm>
          <a:prstGeom prst="rect">
            <a:avLst/>
          </a:prstGeom>
        </p:spPr>
      </p:pic>
      <p:sp>
        <p:nvSpPr>
          <p:cNvPr id="5" name="12-lead ECG from the simulator frame"/>
          <p:cNvSpPr/>
          <p:nvPr/>
        </p:nvSpPr>
        <p:spPr>
          <a:xfrm>
            <a:off x="457200" y="1234440"/>
            <a:ext cx="5486400" cy="2068643"/>
          </a:xfrm>
          <a:prstGeom prst="rect">
            <a:avLst/>
          </a:prstGeom>
          <a:ln w="9525">
            <a:solidFill>
              <a:srgbClr val="D6D1CB"/>
            </a:solidFill>
            <a:prstDash val="solid"/>
          </a:ln>
        </p:spPr>
      </p:sp>
      <p:sp>
        <p:nvSpPr>
          <p:cNvPr id="6" name="Text 3"/>
          <p:cNvSpPr txBox="1"/>
          <p:nvPr/>
        </p:nvSpPr>
        <p:spPr>
          <a:xfrm>
            <a:off x="457200" y="3376235"/>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3. </a:t>
            </a:r>
            <a:pPr indent="0" marL="0">
              <a:buNone/>
            </a:pPr>
            <a:r>
              <a:rPr lang="en-US" sz="1000" dirty="0">
                <a:solidFill>
                  <a:schemeClr val="accent4"/>
                </a:solidFill>
              </a:rPr>
              <a:t>The simulator's own 12-lead: ST up in I, aVL and V1–V6, down in III and aVF.</a:t>
            </a:r>
            <a:endParaRPr lang="en-US" sz="1000" dirty="0"/>
          </a:p>
        </p:txBody>
      </p:sp>
      <p:sp>
        <p:nvSpPr>
          <p:cNvPr id="7" name="points"/>
          <p:cNvSpPr txBox="1"/>
          <p:nvPr/>
        </p:nvSpPr>
        <p:spPr>
          <a:xfrm>
            <a:off x="457200" y="3794760"/>
            <a:ext cx="5486400" cy="914400"/>
          </a:xfrm>
          <a:prstGeom prst="rect">
            <a:avLst/>
          </a:prstGeom>
          <a:noFill/>
          <a:ln/>
        </p:spPr>
        <p:txBody>
          <a:bodyPr wrap="square" lIns="0" tIns="0" rIns="0" bIns="0" rtlCol="0" anchor="t"/>
          <a:lstStyle/>
          <a:p>
            <a:pPr marL="165100" indent="-165100">
              <a:spcAft>
                <a:spcPts val="900"/>
              </a:spcAft>
              <a:buSzPct val="100000"/>
              <a:buChar char="•"/>
            </a:pPr>
            <a:r>
              <a:rPr lang="en-US" sz="1300" dirty="0">
                <a:solidFill>
                  <a:schemeClr val="tx1"/>
                </a:solidFill>
              </a:rPr>
              <a:t>ST shifts point to the blocked artery</a:t>
            </a:r>
            <a:endParaRPr lang="en-US" sz="1300" dirty="0"/>
          </a:p>
          <a:p>
            <a:pPr marL="165100" indent="-165100">
              <a:spcAft>
                <a:spcPts val="900"/>
              </a:spcAft>
              <a:buSzPct val="100000"/>
              <a:buChar char="•"/>
            </a:pPr>
            <a:r>
              <a:rPr lang="en-US" sz="1300" dirty="0">
                <a:solidFill>
                  <a:schemeClr val="tx1"/>
                </a:solidFill>
              </a:rPr>
              <a:t>Each drug and device carries its real cost</a:t>
            </a:r>
            <a:endParaRPr lang="en-US" sz="1300" dirty="0"/>
          </a:p>
          <a:p>
            <a:pPr marL="165100" indent="-165100">
              <a:spcAft>
                <a:spcPts val="900"/>
              </a:spcAft>
              <a:buSzPct val="100000"/>
              <a:buChar char="•"/>
            </a:pPr>
            <a:r>
              <a:rPr lang="en-US" sz="1300" dirty="0">
                <a:solidFill>
                  <a:schemeClr val="tx1"/>
                </a:solidFill>
              </a:rPr>
              <a:t>PCI, lysis and CABG take their real time</a:t>
            </a:r>
            <a:endParaRPr lang="en-US" sz="1300" dirty="0"/>
          </a:p>
        </p:txBody>
      </p:sp>
      <p:pic>
        <p:nvPicPr>
          <p:cNvPr id="8" name="Management assessment panel" descr="Management assessment panel">    </p:cNvPr>
          <p:cNvPicPr>
            <a:picLocks noChangeAspect="1"/>
          </p:cNvPicPr>
          <p:nvPr/>
        </p:nvPicPr>
        <p:blipFill>
          <a:blip r:embed="rId2"/>
          <a:stretch>
            <a:fillRect/>
          </a:stretch>
        </p:blipFill>
        <p:spPr>
          <a:xfrm>
            <a:off x="6355080" y="1234440"/>
            <a:ext cx="2331720" cy="2741537"/>
          </a:xfrm>
          <a:prstGeom prst="rect">
            <a:avLst/>
          </a:prstGeom>
        </p:spPr>
      </p:pic>
      <p:sp>
        <p:nvSpPr>
          <p:cNvPr id="9" name="Management assessment panel frame"/>
          <p:cNvSpPr/>
          <p:nvPr/>
        </p:nvSpPr>
        <p:spPr>
          <a:xfrm>
            <a:off x="6355080" y="1234440"/>
            <a:ext cx="2331720" cy="2741537"/>
          </a:xfrm>
          <a:prstGeom prst="rect">
            <a:avLst/>
          </a:prstGeom>
          <a:ln w="9525">
            <a:solidFill>
              <a:srgbClr val="D6D1CB"/>
            </a:solidFill>
            <a:prstDash val="solid"/>
          </a:ln>
        </p:spPr>
      </p:sp>
      <p:sp>
        <p:nvSpPr>
          <p:cNvPr id="10" name="Text 6"/>
          <p:cNvSpPr txBox="1"/>
          <p:nvPr/>
        </p:nvSpPr>
        <p:spPr>
          <a:xfrm>
            <a:off x="6355080" y="4049129"/>
            <a:ext cx="2331720" cy="365760"/>
          </a:xfrm>
          <a:prstGeom prst="rect">
            <a:avLst/>
          </a:prstGeom>
          <a:noFill/>
          <a:ln/>
        </p:spPr>
        <p:txBody>
          <a:bodyPr wrap="square" lIns="0" tIns="0" rIns="0" bIns="0" rtlCol="0" anchor="t"/>
          <a:lstStyle/>
          <a:p>
            <a:pPr indent="0" marL="0">
              <a:buNone/>
            </a:pPr>
            <a:r>
              <a:rPr lang="en-US" sz="1000" b="1" dirty="0">
                <a:solidFill>
                  <a:schemeClr val="tx1"/>
                </a:solidFill>
              </a:rPr>
              <a:t>Figure 4. </a:t>
            </a:r>
            <a:pPr indent="0" marL="0">
              <a:buNone/>
            </a:pPr>
            <a:r>
              <a:rPr lang="en-US" sz="1000" dirty="0">
                <a:solidFill>
                  <a:schemeClr val="accent4"/>
                </a:solidFill>
              </a:rPr>
              <a:t>Assessment tab.</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Find the culprit</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A daily hidden-lesion case, the same for everyone</a:t>
            </a:r>
            <a:endParaRPr lang="en-US" sz="2200" dirty="0"/>
          </a:p>
        </p:txBody>
      </p:sp>
      <p:pic>
        <p:nvPicPr>
          <p:cNvPr id="4" name="Find the culprit" descr="Find the culprit">    </p:cNvPr>
          <p:cNvPicPr>
            <a:picLocks noChangeAspect="1"/>
          </p:cNvPicPr>
          <p:nvPr/>
        </p:nvPicPr>
        <p:blipFill>
          <a:blip r:embed="rId1"/>
          <a:stretch>
            <a:fillRect/>
          </a:stretch>
        </p:blipFill>
        <p:spPr>
          <a:xfrm>
            <a:off x="3200400" y="1234440"/>
            <a:ext cx="5486400" cy="3086100"/>
          </a:xfrm>
          <a:prstGeom prst="rect">
            <a:avLst/>
          </a:prstGeom>
        </p:spPr>
      </p:pic>
      <p:sp>
        <p:nvSpPr>
          <p:cNvPr id="5" name="Find the culprit frame"/>
          <p:cNvSpPr/>
          <p:nvPr/>
        </p:nvSpPr>
        <p:spPr>
          <a:xfrm>
            <a:off x="3200400" y="1234440"/>
            <a:ext cx="5486400" cy="3086100"/>
          </a:xfrm>
          <a:prstGeom prst="rect">
            <a:avLst/>
          </a:prstGeom>
          <a:ln w="9525">
            <a:solidFill>
              <a:srgbClr val="D6D1CB"/>
            </a:solidFill>
            <a:prstDash val="solid"/>
          </a:ln>
        </p:spPr>
      </p:sp>
      <p:sp>
        <p:nvSpPr>
          <p:cNvPr id="6" name="Text 3"/>
          <p:cNvSpPr txBox="1"/>
          <p:nvPr/>
        </p:nvSpPr>
        <p:spPr>
          <a:xfrm>
            <a:off x="3200400" y="4393692"/>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5. </a:t>
            </a:r>
            <a:pPr indent="0" marL="0">
              <a:buNone/>
            </a:pPr>
            <a:r>
              <a:rPr lang="en-US" sz="1000" dirty="0">
                <a:solidFill>
                  <a:schemeClr val="accent4"/>
                </a:solidFill>
              </a:rPr>
              <a:t>Find the culprit, case 14, mid-case.</a:t>
            </a:r>
            <a:endParaRPr lang="en-US" sz="1000" dirty="0"/>
          </a:p>
        </p:txBody>
      </p:sp>
      <p:sp>
        <p:nvSpPr>
          <p:cNvPr id="7" name="points"/>
          <p:cNvSpPr txBox="1"/>
          <p:nvPr/>
        </p:nvSpPr>
        <p:spPr>
          <a:xfrm>
            <a:off x="457200" y="1280160"/>
            <a:ext cx="2423160" cy="329184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The lesion is hidden: read the tracing and monitor, then click where it is</a:t>
            </a:r>
            <a:endParaRPr lang="en-US" sz="1400" dirty="0"/>
          </a:p>
          <a:p>
            <a:pPr marL="165100" indent="-165100">
              <a:spcAft>
                <a:spcPts val="900"/>
              </a:spcAft>
              <a:buSzPct val="100000"/>
              <a:buChar char="•"/>
            </a:pPr>
            <a:r>
              <a:rPr lang="en-US" sz="1400" dirty="0">
                <a:solidFill>
                  <a:schemeClr val="tx1"/>
                </a:solidFill>
              </a:rPr>
              <a:t>Points for accuracy along the vessel tree and for speed, then the RV call</a:t>
            </a:r>
            <a:endParaRPr lang="en-US" sz="1400" dirty="0"/>
          </a:p>
          <a:p>
            <a:pPr marL="165100" indent="-165100">
              <a:spcAft>
                <a:spcPts val="900"/>
              </a:spcAft>
              <a:buSzPct val="100000"/>
              <a:buChar char="•"/>
            </a:pPr>
            <a:r>
              <a:rPr lang="en-US" sz="1400" dirty="0">
                <a:solidFill>
                  <a:schemeClr val="tx1"/>
                </a:solidFill>
              </a:rPr>
              <a:t>Then manage the case: points for muscle saved and time out of shock, minus harm</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EKG</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More than 50 tracings, each drawn through a 3D heart</a:t>
            </a:r>
            <a:endParaRPr lang="en-US" sz="2200" dirty="0"/>
          </a:p>
        </p:txBody>
      </p:sp>
      <p:pic>
        <p:nvPicPr>
          <p:cNvPr id="4" name="EKG" descr="EKG">    </p:cNvPr>
          <p:cNvPicPr>
            <a:picLocks noChangeAspect="1"/>
          </p:cNvPicPr>
          <p:nvPr/>
        </p:nvPicPr>
        <p:blipFill>
          <a:blip r:embed="rId1"/>
          <a:stretch>
            <a:fillRect/>
          </a:stretch>
        </p:blipFill>
        <p:spPr>
          <a:xfrm>
            <a:off x="457200" y="1234440"/>
            <a:ext cx="5486400" cy="3086100"/>
          </a:xfrm>
          <a:prstGeom prst="rect">
            <a:avLst/>
          </a:prstGeom>
        </p:spPr>
      </p:pic>
      <p:sp>
        <p:nvSpPr>
          <p:cNvPr id="5" name="EKG frame"/>
          <p:cNvSpPr/>
          <p:nvPr/>
        </p:nvSpPr>
        <p:spPr>
          <a:xfrm>
            <a:off x="457200" y="1234440"/>
            <a:ext cx="5486400" cy="3086100"/>
          </a:xfrm>
          <a:prstGeom prst="rect">
            <a:avLst/>
          </a:prstGeom>
          <a:ln w="9525">
            <a:solidFill>
              <a:srgbClr val="D6D1CB"/>
            </a:solidFill>
            <a:prstDash val="solid"/>
          </a:ln>
        </p:spPr>
      </p:sp>
      <p:sp>
        <p:nvSpPr>
          <p:cNvPr id="6" name="Text 3"/>
          <p:cNvSpPr txBox="1"/>
          <p:nvPr/>
        </p:nvSpPr>
        <p:spPr>
          <a:xfrm>
            <a:off x="457200" y="4393692"/>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6. </a:t>
            </a:r>
            <a:pPr indent="0" marL="0">
              <a:buNone/>
            </a:pPr>
            <a:r>
              <a:rPr lang="en-US" sz="1000" dirty="0">
                <a:solidFill>
                  <a:schemeClr val="accent4"/>
                </a:solidFill>
              </a:rPr>
              <a:t>The EKG page, anterior STEMI preset.</a:t>
            </a:r>
            <a:endParaRPr lang="en-US" sz="1000" dirty="0"/>
          </a:p>
        </p:txBody>
      </p:sp>
      <p:sp>
        <p:nvSpPr>
          <p:cNvPr id="7" name="points"/>
          <p:cNvSpPr txBox="1"/>
          <p:nvPr/>
        </p:nvSpPr>
        <p:spPr>
          <a:xfrm>
            <a:off x="6263640" y="1280160"/>
            <a:ext cx="2423160" cy="329184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Rhythms, blocks, ischemia patterns and STEMI mimics, with teaching points</a:t>
            </a:r>
            <a:endParaRPr lang="en-US" sz="1400" dirty="0"/>
          </a:p>
          <a:p>
            <a:pPr marL="165100" indent="-165100">
              <a:spcAft>
                <a:spcPts val="900"/>
              </a:spcAft>
              <a:buSzPct val="100000"/>
              <a:buChar char="•"/>
            </a:pPr>
            <a:r>
              <a:rPr lang="en-US" sz="1400" dirty="0">
                <a:solidFill>
                  <a:schemeClr val="tx1"/>
                </a:solidFill>
              </a:rPr>
              <a:t>Each lead is an axis through the heart, so learners see why it goes up or down</a:t>
            </a:r>
            <a:endParaRPr lang="en-US" sz="1400" dirty="0"/>
          </a:p>
          <a:p>
            <a:pPr marL="165100" indent="-165100">
              <a:spcAft>
                <a:spcPts val="900"/>
              </a:spcAft>
              <a:buSzPct val="100000"/>
              <a:buChar char="•"/>
            </a:pPr>
            <a:r>
              <a:rPr lang="en-US" sz="1400" dirty="0">
                <a:solidFill>
                  <a:schemeClr val="tx1"/>
                </a:solidFill>
              </a:rPr>
              <a:t>Intervals, axis and ST are measured from the waveform; a quiz mode hides the name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cath lab</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A virtual cath lab on the same patient</a:t>
            </a:r>
            <a:endParaRPr lang="en-US" sz="2200" dirty="0"/>
          </a:p>
        </p:txBody>
      </p:sp>
      <p:pic>
        <p:nvPicPr>
          <p:cNvPr id="4" name="cath lab" descr="cath lab">    </p:cNvPr>
          <p:cNvPicPr>
            <a:picLocks noChangeAspect="1"/>
          </p:cNvPicPr>
          <p:nvPr/>
        </p:nvPicPr>
        <p:blipFill>
          <a:blip r:embed="rId1"/>
          <a:stretch>
            <a:fillRect/>
          </a:stretch>
        </p:blipFill>
        <p:spPr>
          <a:xfrm>
            <a:off x="3200400" y="1234440"/>
            <a:ext cx="5486400" cy="3086100"/>
          </a:xfrm>
          <a:prstGeom prst="rect">
            <a:avLst/>
          </a:prstGeom>
        </p:spPr>
      </p:pic>
      <p:sp>
        <p:nvSpPr>
          <p:cNvPr id="5" name="cath lab frame"/>
          <p:cNvSpPr/>
          <p:nvPr/>
        </p:nvSpPr>
        <p:spPr>
          <a:xfrm>
            <a:off x="3200400" y="1234440"/>
            <a:ext cx="5486400" cy="3086100"/>
          </a:xfrm>
          <a:prstGeom prst="rect">
            <a:avLst/>
          </a:prstGeom>
          <a:ln w="9525">
            <a:solidFill>
              <a:srgbClr val="D6D1CB"/>
            </a:solidFill>
            <a:prstDash val="solid"/>
          </a:ln>
        </p:spPr>
      </p:sp>
      <p:sp>
        <p:nvSpPr>
          <p:cNvPr id="6" name="Text 3"/>
          <p:cNvSpPr txBox="1"/>
          <p:nvPr/>
        </p:nvSpPr>
        <p:spPr>
          <a:xfrm>
            <a:off x="3200400" y="4393692"/>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7. </a:t>
            </a:r>
            <a:pPr indent="0" marL="0">
              <a:buNone/>
            </a:pPr>
            <a:r>
              <a:rPr lang="en-US" sz="1000" dirty="0">
                <a:solidFill>
                  <a:schemeClr val="accent4"/>
                </a:solidFill>
              </a:rPr>
              <a:t>The cath lab, proximal LAD occlusion: TIMI 0 flow.</a:t>
            </a:r>
            <a:endParaRPr lang="en-US" sz="1000" dirty="0"/>
          </a:p>
        </p:txBody>
      </p:sp>
      <p:sp>
        <p:nvSpPr>
          <p:cNvPr id="7" name="points"/>
          <p:cNvSpPr txBox="1"/>
          <p:nvPr/>
        </p:nvSpPr>
        <p:spPr>
          <a:xfrm>
            <a:off x="457200" y="1280160"/>
            <a:ext cx="2423160" cy="329184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Angiography from any C-arm angle; dye moves at each vessel's solved flow</a:t>
            </a:r>
            <a:endParaRPr lang="en-US" sz="1400" dirty="0"/>
          </a:p>
          <a:p>
            <a:pPr marL="165100" indent="-165100">
              <a:spcAft>
                <a:spcPts val="900"/>
              </a:spcAft>
              <a:buSzPct val="100000"/>
              <a:buChar char="•"/>
            </a:pPr>
            <a:r>
              <a:rPr lang="en-US" sz="1400" dirty="0">
                <a:solidFill>
                  <a:schemeClr val="tx1"/>
                </a:solidFill>
              </a:rPr>
              <a:t>A pressure-wire pullback reads Pd/Pa and FFR</a:t>
            </a:r>
            <a:endParaRPr lang="en-US" sz="1400" dirty="0"/>
          </a:p>
          <a:p>
            <a:pPr marL="165100" indent="-165100">
              <a:spcAft>
                <a:spcPts val="900"/>
              </a:spcAft>
              <a:buSzPct val="100000"/>
              <a:buChar char="•"/>
            </a:pPr>
            <a:r>
              <a:rPr lang="en-US" sz="1400" dirty="0">
                <a:solidFill>
                  <a:schemeClr val="tx1"/>
                </a:solidFill>
              </a:rPr>
              <a:t>PCI, lysis and CABG show the vessel before and after</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structural</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Valve and congenital lesions on a closed-loop heart</a:t>
            </a:r>
            <a:endParaRPr lang="en-US" sz="2200" dirty="0"/>
          </a:p>
        </p:txBody>
      </p:sp>
      <p:pic>
        <p:nvPicPr>
          <p:cNvPr id="4" name="structural" descr="structural">    </p:cNvPr>
          <p:cNvPicPr>
            <a:picLocks noChangeAspect="1"/>
          </p:cNvPicPr>
          <p:nvPr/>
        </p:nvPicPr>
        <p:blipFill>
          <a:blip r:embed="rId1"/>
          <a:stretch>
            <a:fillRect/>
          </a:stretch>
        </p:blipFill>
        <p:spPr>
          <a:xfrm>
            <a:off x="457200" y="1234440"/>
            <a:ext cx="5486400" cy="3086100"/>
          </a:xfrm>
          <a:prstGeom prst="rect">
            <a:avLst/>
          </a:prstGeom>
        </p:spPr>
      </p:pic>
      <p:sp>
        <p:nvSpPr>
          <p:cNvPr id="5" name="structural frame"/>
          <p:cNvSpPr/>
          <p:nvPr/>
        </p:nvSpPr>
        <p:spPr>
          <a:xfrm>
            <a:off x="457200" y="1234440"/>
            <a:ext cx="5486400" cy="3086100"/>
          </a:xfrm>
          <a:prstGeom prst="rect">
            <a:avLst/>
          </a:prstGeom>
          <a:ln w="9525">
            <a:solidFill>
              <a:srgbClr val="D6D1CB"/>
            </a:solidFill>
            <a:prstDash val="solid"/>
          </a:ln>
        </p:spPr>
      </p:sp>
      <p:sp>
        <p:nvSpPr>
          <p:cNvPr id="6" name="Text 3"/>
          <p:cNvSpPr txBox="1"/>
          <p:nvPr/>
        </p:nvSpPr>
        <p:spPr>
          <a:xfrm>
            <a:off x="457200" y="4393692"/>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8. </a:t>
            </a:r>
            <a:pPr indent="0" marL="0">
              <a:buNone/>
            </a:pPr>
            <a:r>
              <a:rPr lang="en-US" sz="1000" dirty="0">
                <a:solidFill>
                  <a:schemeClr val="accent4"/>
                </a:solidFill>
              </a:rPr>
              <a:t>The structural page, tetralogy of Fallot.</a:t>
            </a:r>
            <a:endParaRPr lang="en-US" sz="1000" dirty="0"/>
          </a:p>
        </p:txBody>
      </p:sp>
      <p:sp>
        <p:nvSpPr>
          <p:cNvPr id="7" name="points"/>
          <p:cNvSpPr txBox="1"/>
          <p:nvPr/>
        </p:nvSpPr>
        <p:spPr>
          <a:xfrm>
            <a:off x="6263640" y="1280160"/>
            <a:ext cx="2423160" cy="329184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Eight valve lesions and eight congenital defects, each with severity sliders</a:t>
            </a:r>
            <a:endParaRPr lang="en-US" sz="1400" dirty="0"/>
          </a:p>
          <a:p>
            <a:pPr marL="165100" indent="-165100">
              <a:spcAft>
                <a:spcPts val="900"/>
              </a:spcAft>
              <a:buSzPct val="100000"/>
              <a:buChar char="•"/>
            </a:pPr>
            <a:r>
              <a:rPr lang="en-US" sz="1400" dirty="0">
                <a:solidFill>
                  <a:schemeClr val="tx1"/>
                </a:solidFill>
              </a:rPr>
              <a:t>Pressures, saturations, gradients, Qp:Qs and pressure–volume loops update live</a:t>
            </a:r>
            <a:endParaRPr lang="en-US" sz="1400" dirty="0"/>
          </a:p>
          <a:p>
            <a:pPr marL="165100" indent="-165100">
              <a:spcAft>
                <a:spcPts val="900"/>
              </a:spcAft>
              <a:buSzPct val="100000"/>
              <a:buChar char="•"/>
            </a:pPr>
            <a:r>
              <a:rPr lang="en-US" sz="1400" dirty="0">
                <a:solidFill>
                  <a:schemeClr val="tx1"/>
                </a:solidFill>
              </a:rPr>
              <a:t>Auscultation findings and oxygen saturation shown on the 3D heart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Problem solving and efficacy: echo</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From probe position to the echo loop</a:t>
            </a:r>
            <a:endParaRPr lang="en-US" sz="2200" dirty="0"/>
          </a:p>
        </p:txBody>
      </p:sp>
      <p:pic>
        <p:nvPicPr>
          <p:cNvPr id="4" name="echo" descr="echo">    </p:cNvPr>
          <p:cNvPicPr>
            <a:picLocks noChangeAspect="1"/>
          </p:cNvPicPr>
          <p:nvPr/>
        </p:nvPicPr>
        <p:blipFill>
          <a:blip r:embed="rId1"/>
          <a:stretch>
            <a:fillRect/>
          </a:stretch>
        </p:blipFill>
        <p:spPr>
          <a:xfrm>
            <a:off x="3200400" y="1234440"/>
            <a:ext cx="5486400" cy="3086100"/>
          </a:xfrm>
          <a:prstGeom prst="rect">
            <a:avLst/>
          </a:prstGeom>
        </p:spPr>
      </p:pic>
      <p:sp>
        <p:nvSpPr>
          <p:cNvPr id="5" name="echo frame"/>
          <p:cNvSpPr/>
          <p:nvPr/>
        </p:nvSpPr>
        <p:spPr>
          <a:xfrm>
            <a:off x="3200400" y="1234440"/>
            <a:ext cx="5486400" cy="3086100"/>
          </a:xfrm>
          <a:prstGeom prst="rect">
            <a:avLst/>
          </a:prstGeom>
          <a:ln w="9525">
            <a:solidFill>
              <a:srgbClr val="D6D1CB"/>
            </a:solidFill>
            <a:prstDash val="solid"/>
          </a:ln>
        </p:spPr>
      </p:sp>
      <p:sp>
        <p:nvSpPr>
          <p:cNvPr id="6" name="Text 3"/>
          <p:cNvSpPr txBox="1"/>
          <p:nvPr/>
        </p:nvSpPr>
        <p:spPr>
          <a:xfrm>
            <a:off x="3200400" y="4393692"/>
            <a:ext cx="5486400" cy="365760"/>
          </a:xfrm>
          <a:prstGeom prst="rect">
            <a:avLst/>
          </a:prstGeom>
          <a:noFill/>
          <a:ln/>
        </p:spPr>
        <p:txBody>
          <a:bodyPr wrap="square" lIns="0" tIns="0" rIns="0" bIns="0" rtlCol="0" anchor="t"/>
          <a:lstStyle/>
          <a:p>
            <a:pPr indent="0" marL="0">
              <a:buNone/>
            </a:pPr>
            <a:r>
              <a:rPr lang="en-US" sz="1000" b="1" dirty="0">
                <a:solidFill>
                  <a:schemeClr val="tx1"/>
                </a:solidFill>
              </a:rPr>
              <a:t>Figure 9. </a:t>
            </a:r>
            <a:pPr indent="0" marL="0">
              <a:buNone/>
            </a:pPr>
            <a:r>
              <a:rPr lang="en-US" sz="1000" dirty="0">
                <a:solidFill>
                  <a:schemeClr val="accent4"/>
                </a:solidFill>
              </a:rPr>
              <a:t>The echo atlas, parasternal long axis.</a:t>
            </a:r>
            <a:endParaRPr lang="en-US" sz="1000" dirty="0"/>
          </a:p>
        </p:txBody>
      </p:sp>
      <p:sp>
        <p:nvSpPr>
          <p:cNvPr id="7" name="points"/>
          <p:cNvSpPr txBox="1"/>
          <p:nvPr/>
        </p:nvSpPr>
        <p:spPr>
          <a:xfrm>
            <a:off x="457200" y="1280160"/>
            <a:ext cx="2423160" cy="329184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Probe and imaging plane on the 3D heart beside a real TTE loop</a:t>
            </a:r>
            <a:endParaRPr lang="en-US" sz="1400" dirty="0"/>
          </a:p>
          <a:p>
            <a:pPr marL="165100" indent="-165100">
              <a:spcAft>
                <a:spcPts val="900"/>
              </a:spcAft>
              <a:buSzPct val="100000"/>
              <a:buChar char="•"/>
            </a:pPr>
            <a:r>
              <a:rPr lang="en-US" sz="1400" dirty="0">
                <a:solidFill>
                  <a:schemeClr val="tx1"/>
                </a:solidFill>
              </a:rPr>
              <a:t>Parasternal long axis, short axis and subcostal views</a:t>
            </a:r>
            <a:endParaRPr lang="en-US" sz="1400" dirty="0"/>
          </a:p>
          <a:p>
            <a:pPr marL="165100" indent="-165100">
              <a:spcAft>
                <a:spcPts val="900"/>
              </a:spcAft>
              <a:buSzPct val="100000"/>
              <a:buChar char="•"/>
            </a:pPr>
            <a:r>
              <a:rPr lang="en-US" sz="1400" dirty="0">
                <a:solidFill>
                  <a:schemeClr val="tx1"/>
                </a:solidFill>
              </a:rPr>
              <a:t>Probe placement, index mark and what to look for</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Skillsets targeted</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Six skills, and the pages that practice them</a:t>
            </a:r>
            <a:endParaRPr lang="en-US" sz="2200" dirty="0"/>
          </a:p>
        </p:txBody>
      </p:sp>
      <p:sp>
        <p:nvSpPr>
          <p:cNvPr id="4" name="Text 2"/>
          <p:cNvSpPr txBox="1"/>
          <p:nvPr/>
        </p:nvSpPr>
        <p:spPr>
          <a:xfrm>
            <a:off x="4069080" y="1188720"/>
            <a:ext cx="777240" cy="457200"/>
          </a:xfrm>
          <a:prstGeom prst="rect">
            <a:avLst/>
          </a:prstGeom>
          <a:noFill/>
          <a:ln/>
        </p:spPr>
        <p:txBody>
          <a:bodyPr wrap="square" lIns="0" tIns="0" rIns="0" bIns="0" rtlCol="0" anchor="b"/>
          <a:lstStyle/>
          <a:p>
            <a:pPr algn="ctr" indent="0" marL="0">
              <a:buNone/>
            </a:pPr>
            <a:r>
              <a:rPr lang="en-US" sz="1000" b="1" dirty="0">
                <a:solidFill>
                  <a:schemeClr val="tx1"/>
                </a:solidFill>
              </a:rPr>
              <a:t>Simulator</a:t>
            </a:r>
            <a:endParaRPr lang="en-US" sz="1000" dirty="0"/>
          </a:p>
        </p:txBody>
      </p:sp>
      <p:sp>
        <p:nvSpPr>
          <p:cNvPr id="5" name="Text 3"/>
          <p:cNvSpPr txBox="1"/>
          <p:nvPr/>
        </p:nvSpPr>
        <p:spPr>
          <a:xfrm>
            <a:off x="4846320" y="1188720"/>
            <a:ext cx="777240" cy="457200"/>
          </a:xfrm>
          <a:prstGeom prst="rect">
            <a:avLst/>
          </a:prstGeom>
          <a:noFill/>
          <a:ln/>
        </p:spPr>
        <p:txBody>
          <a:bodyPr wrap="square" lIns="0" tIns="0" rIns="0" bIns="0" rtlCol="0" anchor="b"/>
          <a:lstStyle/>
          <a:p>
            <a:pPr algn="ctr" indent="0" marL="0">
              <a:buNone/>
            </a:pPr>
            <a:r>
              <a:rPr lang="en-US" sz="1000" b="1" dirty="0">
                <a:solidFill>
                  <a:schemeClr val="tx1"/>
                </a:solidFill>
              </a:rPr>
              <a:t>Find the culprit</a:t>
            </a:r>
            <a:endParaRPr lang="en-US" sz="1000" dirty="0"/>
          </a:p>
        </p:txBody>
      </p:sp>
      <p:sp>
        <p:nvSpPr>
          <p:cNvPr id="6" name="Text 4"/>
          <p:cNvSpPr txBox="1"/>
          <p:nvPr/>
        </p:nvSpPr>
        <p:spPr>
          <a:xfrm>
            <a:off x="5623560" y="1188720"/>
            <a:ext cx="777240" cy="457200"/>
          </a:xfrm>
          <a:prstGeom prst="rect">
            <a:avLst/>
          </a:prstGeom>
          <a:noFill/>
          <a:ln/>
        </p:spPr>
        <p:txBody>
          <a:bodyPr wrap="square" lIns="0" tIns="0" rIns="0" bIns="0" rtlCol="0" anchor="b"/>
          <a:lstStyle/>
          <a:p>
            <a:pPr algn="ctr" indent="0" marL="0">
              <a:buNone/>
            </a:pPr>
            <a:r>
              <a:rPr lang="en-US" sz="1000" b="1" dirty="0">
                <a:solidFill>
                  <a:schemeClr val="tx1"/>
                </a:solidFill>
              </a:rPr>
              <a:t>EKG</a:t>
            </a:r>
            <a:endParaRPr lang="en-US" sz="1000" dirty="0"/>
          </a:p>
        </p:txBody>
      </p:sp>
      <p:sp>
        <p:nvSpPr>
          <p:cNvPr id="7" name="Text 5"/>
          <p:cNvSpPr txBox="1"/>
          <p:nvPr/>
        </p:nvSpPr>
        <p:spPr>
          <a:xfrm>
            <a:off x="6400800" y="1188720"/>
            <a:ext cx="777240" cy="457200"/>
          </a:xfrm>
          <a:prstGeom prst="rect">
            <a:avLst/>
          </a:prstGeom>
          <a:noFill/>
          <a:ln/>
        </p:spPr>
        <p:txBody>
          <a:bodyPr wrap="square" lIns="0" tIns="0" rIns="0" bIns="0" rtlCol="0" anchor="b"/>
          <a:lstStyle/>
          <a:p>
            <a:pPr algn="ctr" indent="0" marL="0">
              <a:buNone/>
            </a:pPr>
            <a:r>
              <a:rPr lang="en-US" sz="1000" b="1" dirty="0">
                <a:solidFill>
                  <a:schemeClr val="tx1"/>
                </a:solidFill>
              </a:rPr>
              <a:t>Cath lab</a:t>
            </a:r>
            <a:endParaRPr lang="en-US" sz="1000" dirty="0"/>
          </a:p>
        </p:txBody>
      </p:sp>
      <p:sp>
        <p:nvSpPr>
          <p:cNvPr id="8" name="Text 6"/>
          <p:cNvSpPr txBox="1"/>
          <p:nvPr/>
        </p:nvSpPr>
        <p:spPr>
          <a:xfrm>
            <a:off x="7178040" y="1188720"/>
            <a:ext cx="777240" cy="457200"/>
          </a:xfrm>
          <a:prstGeom prst="rect">
            <a:avLst/>
          </a:prstGeom>
          <a:noFill/>
          <a:ln/>
        </p:spPr>
        <p:txBody>
          <a:bodyPr wrap="square" lIns="0" tIns="0" rIns="0" bIns="0" rtlCol="0" anchor="b"/>
          <a:lstStyle/>
          <a:p>
            <a:pPr algn="ctr" indent="0" marL="0">
              <a:buNone/>
            </a:pPr>
            <a:r>
              <a:rPr lang="en-US" sz="1000" b="1" dirty="0">
                <a:solidFill>
                  <a:schemeClr val="tx1"/>
                </a:solidFill>
              </a:rPr>
              <a:t>Structural</a:t>
            </a:r>
            <a:endParaRPr lang="en-US" sz="1000" dirty="0"/>
          </a:p>
        </p:txBody>
      </p:sp>
      <p:sp>
        <p:nvSpPr>
          <p:cNvPr id="9" name="Text 7"/>
          <p:cNvSpPr txBox="1"/>
          <p:nvPr/>
        </p:nvSpPr>
        <p:spPr>
          <a:xfrm>
            <a:off x="7955280" y="1188720"/>
            <a:ext cx="777240" cy="457200"/>
          </a:xfrm>
          <a:prstGeom prst="rect">
            <a:avLst/>
          </a:prstGeom>
          <a:noFill/>
          <a:ln/>
        </p:spPr>
        <p:txBody>
          <a:bodyPr wrap="square" lIns="0" tIns="0" rIns="0" bIns="0" rtlCol="0" anchor="b"/>
          <a:lstStyle/>
          <a:p>
            <a:pPr algn="ctr" indent="0" marL="0">
              <a:buNone/>
            </a:pPr>
            <a:r>
              <a:rPr lang="en-US" sz="1000" b="1" dirty="0">
                <a:solidFill>
                  <a:schemeClr val="tx1"/>
                </a:solidFill>
              </a:rPr>
              <a:t>Echo</a:t>
            </a:r>
            <a:endParaRPr lang="en-US" sz="1000" dirty="0"/>
          </a:p>
        </p:txBody>
      </p:sp>
      <p:sp>
        <p:nvSpPr>
          <p:cNvPr id="10" name="matrix rule"/>
          <p:cNvSpPr/>
          <p:nvPr/>
        </p:nvSpPr>
        <p:spPr>
          <a:xfrm>
            <a:off x="457200" y="1691640"/>
            <a:ext cx="8229600" cy="0"/>
          </a:xfrm>
          <a:prstGeom prst="line">
            <a:avLst/>
          </a:prstGeom>
          <a:noFill/>
          <a:ln w="12700">
            <a:solidFill>
              <a:schemeClr val="accent5"/>
            </a:solidFill>
            <a:prstDash val="solid"/>
          </a:ln>
        </p:spPr>
      </p:sp>
      <p:sp>
        <p:nvSpPr>
          <p:cNvPr id="11" name="Text 9"/>
          <p:cNvSpPr txBox="1"/>
          <p:nvPr/>
        </p:nvSpPr>
        <p:spPr>
          <a:xfrm>
            <a:off x="457200" y="1691640"/>
            <a:ext cx="3520440" cy="429768"/>
          </a:xfrm>
          <a:prstGeom prst="rect">
            <a:avLst/>
          </a:prstGeom>
          <a:noFill/>
          <a:ln/>
        </p:spPr>
        <p:txBody>
          <a:bodyPr wrap="square" lIns="0" tIns="0" rIns="0" bIns="0" rtlCol="0" anchor="ctr"/>
          <a:lstStyle/>
          <a:p>
            <a:pPr indent="0" marL="0">
              <a:buNone/>
            </a:pPr>
            <a:r>
              <a:rPr lang="en-US" sz="1300" dirty="0">
                <a:solidFill>
                  <a:schemeClr val="tx1"/>
                </a:solidFill>
              </a:rPr>
              <a:t>Reading the ECG and localizing the culprit</a:t>
            </a:r>
            <a:endParaRPr lang="en-US" sz="1300" dirty="0"/>
          </a:p>
        </p:txBody>
      </p:sp>
      <p:sp>
        <p:nvSpPr>
          <p:cNvPr id="12" name="primary mark"/>
          <p:cNvSpPr/>
          <p:nvPr/>
        </p:nvSpPr>
        <p:spPr>
          <a:xfrm>
            <a:off x="4366260" y="1815084"/>
            <a:ext cx="182880" cy="182880"/>
          </a:xfrm>
          <a:prstGeom prst="ellipse">
            <a:avLst/>
          </a:prstGeom>
          <a:solidFill>
            <a:schemeClr val="accent1"/>
          </a:solidFill>
          <a:ln/>
        </p:spPr>
      </p:sp>
      <p:sp>
        <p:nvSpPr>
          <p:cNvPr id="13" name="primary mark"/>
          <p:cNvSpPr/>
          <p:nvPr/>
        </p:nvSpPr>
        <p:spPr>
          <a:xfrm>
            <a:off x="5143500" y="1815084"/>
            <a:ext cx="182880" cy="182880"/>
          </a:xfrm>
          <a:prstGeom prst="ellipse">
            <a:avLst/>
          </a:prstGeom>
          <a:solidFill>
            <a:schemeClr val="accent1"/>
          </a:solidFill>
          <a:ln/>
        </p:spPr>
      </p:sp>
      <p:sp>
        <p:nvSpPr>
          <p:cNvPr id="14" name="primary mark"/>
          <p:cNvSpPr/>
          <p:nvPr/>
        </p:nvSpPr>
        <p:spPr>
          <a:xfrm>
            <a:off x="5920740" y="1815084"/>
            <a:ext cx="182880" cy="182880"/>
          </a:xfrm>
          <a:prstGeom prst="ellipse">
            <a:avLst/>
          </a:prstGeom>
          <a:solidFill>
            <a:schemeClr val="accent1"/>
          </a:solidFill>
          <a:ln/>
        </p:spPr>
      </p:sp>
      <p:sp>
        <p:nvSpPr>
          <p:cNvPr id="15" name="matrix rule"/>
          <p:cNvSpPr/>
          <p:nvPr/>
        </p:nvSpPr>
        <p:spPr>
          <a:xfrm>
            <a:off x="457200" y="2121408"/>
            <a:ext cx="8229600" cy="0"/>
          </a:xfrm>
          <a:prstGeom prst="line">
            <a:avLst/>
          </a:prstGeom>
          <a:noFill/>
          <a:ln w="12700">
            <a:solidFill>
              <a:schemeClr val="accent5"/>
            </a:solidFill>
            <a:prstDash val="solid"/>
          </a:ln>
        </p:spPr>
      </p:sp>
      <p:sp>
        <p:nvSpPr>
          <p:cNvPr id="16" name="Text 14"/>
          <p:cNvSpPr txBox="1"/>
          <p:nvPr/>
        </p:nvSpPr>
        <p:spPr>
          <a:xfrm>
            <a:off x="457200" y="2121408"/>
            <a:ext cx="3520440" cy="429768"/>
          </a:xfrm>
          <a:prstGeom prst="rect">
            <a:avLst/>
          </a:prstGeom>
          <a:noFill/>
          <a:ln/>
        </p:spPr>
        <p:txBody>
          <a:bodyPr wrap="square" lIns="0" tIns="0" rIns="0" bIns="0" rtlCol="0" anchor="ctr"/>
          <a:lstStyle/>
          <a:p>
            <a:pPr indent="0" marL="0">
              <a:buNone/>
            </a:pPr>
            <a:r>
              <a:rPr lang="en-US" sz="1300" dirty="0">
                <a:solidFill>
                  <a:schemeClr val="tx1"/>
                </a:solidFill>
              </a:rPr>
              <a:t>Coronary anatomy and territories</a:t>
            </a:r>
            <a:endParaRPr lang="en-US" sz="1300" dirty="0"/>
          </a:p>
        </p:txBody>
      </p:sp>
      <p:sp>
        <p:nvSpPr>
          <p:cNvPr id="17" name="primary mark"/>
          <p:cNvSpPr/>
          <p:nvPr/>
        </p:nvSpPr>
        <p:spPr>
          <a:xfrm>
            <a:off x="4366260" y="2244852"/>
            <a:ext cx="182880" cy="182880"/>
          </a:xfrm>
          <a:prstGeom prst="ellipse">
            <a:avLst/>
          </a:prstGeom>
          <a:solidFill>
            <a:schemeClr val="accent1"/>
          </a:solidFill>
          <a:ln/>
        </p:spPr>
      </p:sp>
      <p:sp>
        <p:nvSpPr>
          <p:cNvPr id="18" name="primary mark"/>
          <p:cNvSpPr/>
          <p:nvPr/>
        </p:nvSpPr>
        <p:spPr>
          <a:xfrm>
            <a:off x="5143500" y="2244852"/>
            <a:ext cx="182880" cy="182880"/>
          </a:xfrm>
          <a:prstGeom prst="ellipse">
            <a:avLst/>
          </a:prstGeom>
          <a:solidFill>
            <a:schemeClr val="accent1"/>
          </a:solidFill>
          <a:ln/>
        </p:spPr>
      </p:sp>
      <p:sp>
        <p:nvSpPr>
          <p:cNvPr id="19" name="supporting mark"/>
          <p:cNvSpPr/>
          <p:nvPr/>
        </p:nvSpPr>
        <p:spPr>
          <a:xfrm>
            <a:off x="6697980" y="2244852"/>
            <a:ext cx="182880" cy="182880"/>
          </a:xfrm>
          <a:prstGeom prst="ellipse">
            <a:avLst/>
          </a:prstGeom>
          <a:ln w="22225">
            <a:solidFill>
              <a:schemeClr val="accent2"/>
            </a:solidFill>
            <a:prstDash val="solid"/>
          </a:ln>
        </p:spPr>
      </p:sp>
      <p:sp>
        <p:nvSpPr>
          <p:cNvPr id="20" name="matrix rule"/>
          <p:cNvSpPr/>
          <p:nvPr/>
        </p:nvSpPr>
        <p:spPr>
          <a:xfrm>
            <a:off x="457200" y="2551176"/>
            <a:ext cx="8229600" cy="0"/>
          </a:xfrm>
          <a:prstGeom prst="line">
            <a:avLst/>
          </a:prstGeom>
          <a:noFill/>
          <a:ln w="12700">
            <a:solidFill>
              <a:schemeClr val="accent5"/>
            </a:solidFill>
            <a:prstDash val="solid"/>
          </a:ln>
        </p:spPr>
      </p:sp>
      <p:sp>
        <p:nvSpPr>
          <p:cNvPr id="21" name="Text 19"/>
          <p:cNvSpPr txBox="1"/>
          <p:nvPr/>
        </p:nvSpPr>
        <p:spPr>
          <a:xfrm>
            <a:off x="457200" y="2551176"/>
            <a:ext cx="3520440" cy="429768"/>
          </a:xfrm>
          <a:prstGeom prst="rect">
            <a:avLst/>
          </a:prstGeom>
          <a:noFill/>
          <a:ln/>
        </p:spPr>
        <p:txBody>
          <a:bodyPr wrap="square" lIns="0" tIns="0" rIns="0" bIns="0" rtlCol="0" anchor="ctr"/>
          <a:lstStyle/>
          <a:p>
            <a:pPr indent="0" marL="0">
              <a:buNone/>
            </a:pPr>
            <a:r>
              <a:rPr lang="en-US" sz="1300" dirty="0">
                <a:solidFill>
                  <a:schemeClr val="tx1"/>
                </a:solidFill>
              </a:rPr>
              <a:t>Ischemia and hemodynamic physiology</a:t>
            </a:r>
            <a:endParaRPr lang="en-US" sz="1300" dirty="0"/>
          </a:p>
        </p:txBody>
      </p:sp>
      <p:sp>
        <p:nvSpPr>
          <p:cNvPr id="22" name="primary mark"/>
          <p:cNvSpPr/>
          <p:nvPr/>
        </p:nvSpPr>
        <p:spPr>
          <a:xfrm>
            <a:off x="4366260" y="2674620"/>
            <a:ext cx="182880" cy="182880"/>
          </a:xfrm>
          <a:prstGeom prst="ellipse">
            <a:avLst/>
          </a:prstGeom>
          <a:solidFill>
            <a:schemeClr val="accent1"/>
          </a:solidFill>
          <a:ln/>
        </p:spPr>
      </p:sp>
      <p:sp>
        <p:nvSpPr>
          <p:cNvPr id="23" name="supporting mark"/>
          <p:cNvSpPr/>
          <p:nvPr/>
        </p:nvSpPr>
        <p:spPr>
          <a:xfrm>
            <a:off x="5143500" y="2674620"/>
            <a:ext cx="182880" cy="182880"/>
          </a:xfrm>
          <a:prstGeom prst="ellipse">
            <a:avLst/>
          </a:prstGeom>
          <a:ln w="22225">
            <a:solidFill>
              <a:schemeClr val="accent2"/>
            </a:solidFill>
            <a:prstDash val="solid"/>
          </a:ln>
        </p:spPr>
      </p:sp>
      <p:sp>
        <p:nvSpPr>
          <p:cNvPr id="24" name="supporting mark"/>
          <p:cNvSpPr/>
          <p:nvPr/>
        </p:nvSpPr>
        <p:spPr>
          <a:xfrm>
            <a:off x="6697980" y="2674620"/>
            <a:ext cx="182880" cy="182880"/>
          </a:xfrm>
          <a:prstGeom prst="ellipse">
            <a:avLst/>
          </a:prstGeom>
          <a:ln w="22225">
            <a:solidFill>
              <a:schemeClr val="accent2"/>
            </a:solidFill>
            <a:prstDash val="solid"/>
          </a:ln>
        </p:spPr>
      </p:sp>
      <p:sp>
        <p:nvSpPr>
          <p:cNvPr id="25" name="primary mark"/>
          <p:cNvSpPr/>
          <p:nvPr/>
        </p:nvSpPr>
        <p:spPr>
          <a:xfrm>
            <a:off x="7475220" y="2674620"/>
            <a:ext cx="182880" cy="182880"/>
          </a:xfrm>
          <a:prstGeom prst="ellipse">
            <a:avLst/>
          </a:prstGeom>
          <a:solidFill>
            <a:schemeClr val="accent1"/>
          </a:solidFill>
          <a:ln/>
        </p:spPr>
      </p:sp>
      <p:sp>
        <p:nvSpPr>
          <p:cNvPr id="26" name="matrix rule"/>
          <p:cNvSpPr/>
          <p:nvPr/>
        </p:nvSpPr>
        <p:spPr>
          <a:xfrm>
            <a:off x="457200" y="2980944"/>
            <a:ext cx="8229600" cy="0"/>
          </a:xfrm>
          <a:prstGeom prst="line">
            <a:avLst/>
          </a:prstGeom>
          <a:noFill/>
          <a:ln w="12700">
            <a:solidFill>
              <a:schemeClr val="accent5"/>
            </a:solidFill>
            <a:prstDash val="solid"/>
          </a:ln>
        </p:spPr>
      </p:sp>
      <p:sp>
        <p:nvSpPr>
          <p:cNvPr id="27" name="Text 25"/>
          <p:cNvSpPr txBox="1"/>
          <p:nvPr/>
        </p:nvSpPr>
        <p:spPr>
          <a:xfrm>
            <a:off x="457200" y="2980944"/>
            <a:ext cx="3520440" cy="429768"/>
          </a:xfrm>
          <a:prstGeom prst="rect">
            <a:avLst/>
          </a:prstGeom>
          <a:noFill/>
          <a:ln/>
        </p:spPr>
        <p:txBody>
          <a:bodyPr wrap="square" lIns="0" tIns="0" rIns="0" bIns="0" rtlCol="0" anchor="ctr"/>
          <a:lstStyle/>
          <a:p>
            <a:pPr indent="0" marL="0">
              <a:buNone/>
            </a:pPr>
            <a:r>
              <a:rPr lang="en-US" sz="1300" dirty="0">
                <a:solidFill>
                  <a:schemeClr val="tx1"/>
                </a:solidFill>
              </a:rPr>
              <a:t>STEMI and shock management</a:t>
            </a:r>
            <a:endParaRPr lang="en-US" sz="1300" dirty="0"/>
          </a:p>
        </p:txBody>
      </p:sp>
      <p:sp>
        <p:nvSpPr>
          <p:cNvPr id="28" name="primary mark"/>
          <p:cNvSpPr/>
          <p:nvPr/>
        </p:nvSpPr>
        <p:spPr>
          <a:xfrm>
            <a:off x="4366260" y="3104388"/>
            <a:ext cx="182880" cy="182880"/>
          </a:xfrm>
          <a:prstGeom prst="ellipse">
            <a:avLst/>
          </a:prstGeom>
          <a:solidFill>
            <a:schemeClr val="accent1"/>
          </a:solidFill>
          <a:ln/>
        </p:spPr>
      </p:sp>
      <p:sp>
        <p:nvSpPr>
          <p:cNvPr id="29" name="primary mark"/>
          <p:cNvSpPr/>
          <p:nvPr/>
        </p:nvSpPr>
        <p:spPr>
          <a:xfrm>
            <a:off x="5143500" y="3104388"/>
            <a:ext cx="182880" cy="182880"/>
          </a:xfrm>
          <a:prstGeom prst="ellipse">
            <a:avLst/>
          </a:prstGeom>
          <a:solidFill>
            <a:schemeClr val="accent1"/>
          </a:solidFill>
          <a:ln/>
        </p:spPr>
      </p:sp>
      <p:sp>
        <p:nvSpPr>
          <p:cNvPr id="30" name="supporting mark"/>
          <p:cNvSpPr/>
          <p:nvPr/>
        </p:nvSpPr>
        <p:spPr>
          <a:xfrm>
            <a:off x="6697980" y="3104388"/>
            <a:ext cx="182880" cy="182880"/>
          </a:xfrm>
          <a:prstGeom prst="ellipse">
            <a:avLst/>
          </a:prstGeom>
          <a:ln w="22225">
            <a:solidFill>
              <a:schemeClr val="accent2"/>
            </a:solidFill>
            <a:prstDash val="solid"/>
          </a:ln>
        </p:spPr>
      </p:sp>
      <p:sp>
        <p:nvSpPr>
          <p:cNvPr id="31" name="matrix rule"/>
          <p:cNvSpPr/>
          <p:nvPr/>
        </p:nvSpPr>
        <p:spPr>
          <a:xfrm>
            <a:off x="457200" y="3410712"/>
            <a:ext cx="8229600" cy="0"/>
          </a:xfrm>
          <a:prstGeom prst="line">
            <a:avLst/>
          </a:prstGeom>
          <a:noFill/>
          <a:ln w="12700">
            <a:solidFill>
              <a:schemeClr val="accent5"/>
            </a:solidFill>
            <a:prstDash val="solid"/>
          </a:ln>
        </p:spPr>
      </p:sp>
      <p:sp>
        <p:nvSpPr>
          <p:cNvPr id="32" name="Text 30"/>
          <p:cNvSpPr txBox="1"/>
          <p:nvPr/>
        </p:nvSpPr>
        <p:spPr>
          <a:xfrm>
            <a:off x="457200" y="3410712"/>
            <a:ext cx="3520440" cy="429768"/>
          </a:xfrm>
          <a:prstGeom prst="rect">
            <a:avLst/>
          </a:prstGeom>
          <a:noFill/>
          <a:ln/>
        </p:spPr>
        <p:txBody>
          <a:bodyPr wrap="square" lIns="0" tIns="0" rIns="0" bIns="0" rtlCol="0" anchor="ctr"/>
          <a:lstStyle/>
          <a:p>
            <a:pPr indent="0" marL="0">
              <a:buNone/>
            </a:pPr>
            <a:r>
              <a:rPr lang="en-US" sz="1300" dirty="0">
                <a:solidFill>
                  <a:schemeClr val="tx1"/>
                </a:solidFill>
              </a:rPr>
              <a:t>Reading angiograms, FFR and echo views</a:t>
            </a:r>
            <a:endParaRPr lang="en-US" sz="1300" dirty="0"/>
          </a:p>
        </p:txBody>
      </p:sp>
      <p:sp>
        <p:nvSpPr>
          <p:cNvPr id="33" name="primary mark"/>
          <p:cNvSpPr/>
          <p:nvPr/>
        </p:nvSpPr>
        <p:spPr>
          <a:xfrm>
            <a:off x="6697980" y="3534156"/>
            <a:ext cx="182880" cy="182880"/>
          </a:xfrm>
          <a:prstGeom prst="ellipse">
            <a:avLst/>
          </a:prstGeom>
          <a:solidFill>
            <a:schemeClr val="accent1"/>
          </a:solidFill>
          <a:ln/>
        </p:spPr>
      </p:sp>
      <p:sp>
        <p:nvSpPr>
          <p:cNvPr id="34" name="primary mark"/>
          <p:cNvSpPr/>
          <p:nvPr/>
        </p:nvSpPr>
        <p:spPr>
          <a:xfrm>
            <a:off x="8252460" y="3534156"/>
            <a:ext cx="182880" cy="182880"/>
          </a:xfrm>
          <a:prstGeom prst="ellipse">
            <a:avLst/>
          </a:prstGeom>
          <a:solidFill>
            <a:schemeClr val="accent1"/>
          </a:solidFill>
          <a:ln/>
        </p:spPr>
      </p:sp>
      <p:sp>
        <p:nvSpPr>
          <p:cNvPr id="35" name="matrix rule"/>
          <p:cNvSpPr/>
          <p:nvPr/>
        </p:nvSpPr>
        <p:spPr>
          <a:xfrm>
            <a:off x="457200" y="3840480"/>
            <a:ext cx="8229600" cy="0"/>
          </a:xfrm>
          <a:prstGeom prst="line">
            <a:avLst/>
          </a:prstGeom>
          <a:noFill/>
          <a:ln w="12700">
            <a:solidFill>
              <a:schemeClr val="accent5"/>
            </a:solidFill>
            <a:prstDash val="solid"/>
          </a:ln>
        </p:spPr>
      </p:sp>
      <p:sp>
        <p:nvSpPr>
          <p:cNvPr id="36" name="Text 34"/>
          <p:cNvSpPr txBox="1"/>
          <p:nvPr/>
        </p:nvSpPr>
        <p:spPr>
          <a:xfrm>
            <a:off x="457200" y="3840480"/>
            <a:ext cx="3520440" cy="429768"/>
          </a:xfrm>
          <a:prstGeom prst="rect">
            <a:avLst/>
          </a:prstGeom>
          <a:noFill/>
          <a:ln/>
        </p:spPr>
        <p:txBody>
          <a:bodyPr wrap="square" lIns="0" tIns="0" rIns="0" bIns="0" rtlCol="0" anchor="ctr"/>
          <a:lstStyle/>
          <a:p>
            <a:pPr indent="0" marL="0">
              <a:buNone/>
            </a:pPr>
            <a:r>
              <a:rPr lang="en-US" sz="1300" dirty="0">
                <a:solidFill>
                  <a:schemeClr val="tx1"/>
                </a:solidFill>
              </a:rPr>
              <a:t>Valve and congenital hemodynamics</a:t>
            </a:r>
            <a:endParaRPr lang="en-US" sz="1300" dirty="0"/>
          </a:p>
        </p:txBody>
      </p:sp>
      <p:sp>
        <p:nvSpPr>
          <p:cNvPr id="37" name="primary mark"/>
          <p:cNvSpPr/>
          <p:nvPr/>
        </p:nvSpPr>
        <p:spPr>
          <a:xfrm>
            <a:off x="7475220" y="3963924"/>
            <a:ext cx="182880" cy="182880"/>
          </a:xfrm>
          <a:prstGeom prst="ellipse">
            <a:avLst/>
          </a:prstGeom>
          <a:solidFill>
            <a:schemeClr val="accent1"/>
          </a:solidFill>
          <a:ln/>
        </p:spPr>
      </p:sp>
      <p:sp>
        <p:nvSpPr>
          <p:cNvPr id="38" name="supporting mark"/>
          <p:cNvSpPr/>
          <p:nvPr/>
        </p:nvSpPr>
        <p:spPr>
          <a:xfrm>
            <a:off x="8252460" y="3963924"/>
            <a:ext cx="182880" cy="182880"/>
          </a:xfrm>
          <a:prstGeom prst="ellipse">
            <a:avLst/>
          </a:prstGeom>
          <a:ln w="22225">
            <a:solidFill>
              <a:schemeClr val="accent2"/>
            </a:solidFill>
            <a:prstDash val="solid"/>
          </a:ln>
        </p:spPr>
      </p:sp>
      <p:sp>
        <p:nvSpPr>
          <p:cNvPr id="39" name="matrix rule"/>
          <p:cNvSpPr/>
          <p:nvPr/>
        </p:nvSpPr>
        <p:spPr>
          <a:xfrm>
            <a:off x="457200" y="4270248"/>
            <a:ext cx="8229600" cy="0"/>
          </a:xfrm>
          <a:prstGeom prst="line">
            <a:avLst/>
          </a:prstGeom>
          <a:noFill/>
          <a:ln w="12700">
            <a:solidFill>
              <a:schemeClr val="accent5"/>
            </a:solidFill>
            <a:prstDash val="solid"/>
          </a:ln>
        </p:spPr>
      </p:sp>
      <p:sp>
        <p:nvSpPr>
          <p:cNvPr id="40" name="legend primary"/>
          <p:cNvSpPr/>
          <p:nvPr/>
        </p:nvSpPr>
        <p:spPr>
          <a:xfrm>
            <a:off x="457200" y="4434840"/>
            <a:ext cx="146304" cy="146304"/>
          </a:xfrm>
          <a:prstGeom prst="ellipse">
            <a:avLst/>
          </a:prstGeom>
          <a:solidFill>
            <a:schemeClr val="accent1"/>
          </a:solidFill>
          <a:ln/>
        </p:spPr>
      </p:sp>
      <p:sp>
        <p:nvSpPr>
          <p:cNvPr id="41" name="Text 39"/>
          <p:cNvSpPr txBox="1"/>
          <p:nvPr/>
        </p:nvSpPr>
        <p:spPr>
          <a:xfrm>
            <a:off x="676656" y="4389120"/>
            <a:ext cx="1463040" cy="237744"/>
          </a:xfrm>
          <a:prstGeom prst="rect">
            <a:avLst/>
          </a:prstGeom>
          <a:noFill/>
          <a:ln/>
        </p:spPr>
        <p:txBody>
          <a:bodyPr wrap="square" lIns="0" tIns="0" rIns="0" bIns="0" rtlCol="0" anchor="ctr"/>
          <a:lstStyle/>
          <a:p>
            <a:pPr indent="0" marL="0">
              <a:buNone/>
            </a:pPr>
            <a:r>
              <a:rPr lang="en-US" sz="1100" dirty="0">
                <a:solidFill>
                  <a:schemeClr val="accent4"/>
                </a:solidFill>
              </a:rPr>
              <a:t>practiced directly</a:t>
            </a:r>
            <a:endParaRPr lang="en-US" sz="1100" dirty="0"/>
          </a:p>
        </p:txBody>
      </p:sp>
      <p:sp>
        <p:nvSpPr>
          <p:cNvPr id="42" name="legend supporting"/>
          <p:cNvSpPr/>
          <p:nvPr/>
        </p:nvSpPr>
        <p:spPr>
          <a:xfrm>
            <a:off x="2194560" y="4434840"/>
            <a:ext cx="146304" cy="146304"/>
          </a:xfrm>
          <a:prstGeom prst="ellipse">
            <a:avLst/>
          </a:prstGeom>
          <a:ln w="19050">
            <a:solidFill>
              <a:schemeClr val="accent2"/>
            </a:solidFill>
            <a:prstDash val="solid"/>
          </a:ln>
        </p:spPr>
      </p:sp>
      <p:sp>
        <p:nvSpPr>
          <p:cNvPr id="43" name="Text 41"/>
          <p:cNvSpPr txBox="1"/>
          <p:nvPr/>
        </p:nvSpPr>
        <p:spPr>
          <a:xfrm>
            <a:off x="2414016" y="4389120"/>
            <a:ext cx="1097280" cy="237744"/>
          </a:xfrm>
          <a:prstGeom prst="rect">
            <a:avLst/>
          </a:prstGeom>
          <a:noFill/>
          <a:ln/>
        </p:spPr>
        <p:txBody>
          <a:bodyPr wrap="square" lIns="0" tIns="0" rIns="0" bIns="0" rtlCol="0" anchor="ctr"/>
          <a:lstStyle/>
          <a:p>
            <a:pPr indent="0" marL="0">
              <a:buNone/>
            </a:pPr>
            <a:r>
              <a:rPr lang="en-US" sz="1100" dirty="0">
                <a:solidFill>
                  <a:schemeClr val="accent4"/>
                </a:solidFill>
              </a:rPr>
              <a:t>reinforced</a:t>
            </a:r>
            <a:endParaRPr lang="en-US" sz="1100" dirty="0"/>
          </a:p>
        </p:txBody>
      </p:sp>
      <p:sp>
        <p:nvSpPr>
          <p:cNvPr id="44" name="Text 42"/>
          <p:cNvSpPr txBox="1"/>
          <p:nvPr/>
        </p:nvSpPr>
        <p:spPr>
          <a:xfrm>
            <a:off x="3657600" y="4389120"/>
            <a:ext cx="5029200" cy="237744"/>
          </a:xfrm>
          <a:prstGeom prst="rect">
            <a:avLst/>
          </a:prstGeom>
          <a:noFill/>
          <a:ln/>
        </p:spPr>
        <p:txBody>
          <a:bodyPr wrap="square" lIns="0" tIns="0" rIns="0" bIns="0" rtlCol="0" anchor="ctr"/>
          <a:lstStyle/>
          <a:p>
            <a:pPr algn="r" indent="0" marL="0">
              <a:buNone/>
            </a:pPr>
            <a:r>
              <a:rPr lang="en-US" sz="1100" dirty="0">
                <a:solidFill>
                  <a:schemeClr val="accent4"/>
                </a:solidFill>
              </a:rPr>
              <a:t>Students start with rows 1–3; residents add the rest.</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Intended audience</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Built for medical students and IM residents</a:t>
            </a:r>
            <a:endParaRPr lang="en-US" sz="2200" dirty="0"/>
          </a:p>
        </p:txBody>
      </p:sp>
      <p:sp>
        <p:nvSpPr>
          <p:cNvPr id="4" name="Text 2"/>
          <p:cNvSpPr txBox="1"/>
          <p:nvPr/>
        </p:nvSpPr>
        <p:spPr>
          <a:xfrm>
            <a:off x="457200" y="1280160"/>
            <a:ext cx="397764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Medical students</a:t>
            </a:r>
            <a:endParaRPr lang="en-US" sz="2000" dirty="0"/>
          </a:p>
        </p:txBody>
      </p:sp>
      <p:sp>
        <p:nvSpPr>
          <p:cNvPr id="5" name="Text 3"/>
          <p:cNvSpPr txBox="1"/>
          <p:nvPr/>
        </p:nvSpPr>
        <p:spPr>
          <a:xfrm>
            <a:off x="457200" y="1691640"/>
            <a:ext cx="3977640" cy="274320"/>
          </a:xfrm>
          <a:prstGeom prst="rect">
            <a:avLst/>
          </a:prstGeom>
          <a:noFill/>
          <a:ln/>
        </p:spPr>
        <p:txBody>
          <a:bodyPr wrap="square" lIns="0" tIns="0" rIns="0" bIns="0" rtlCol="0" anchor="t"/>
          <a:lstStyle/>
          <a:p>
            <a:pPr indent="0" marL="0">
              <a:buNone/>
            </a:pPr>
            <a:r>
              <a:rPr lang="en-US" sz="1300" i="1" dirty="0">
                <a:solidFill>
                  <a:schemeClr val="accent4"/>
                </a:solidFill>
              </a:rPr>
              <a:t>First-year physiology through the clerkships</a:t>
            </a:r>
            <a:endParaRPr lang="en-US" sz="1300" dirty="0"/>
          </a:p>
        </p:txBody>
      </p:sp>
      <p:sp>
        <p:nvSpPr>
          <p:cNvPr id="6" name="audience rule"/>
          <p:cNvSpPr/>
          <p:nvPr/>
        </p:nvSpPr>
        <p:spPr>
          <a:xfrm>
            <a:off x="457200" y="2103120"/>
            <a:ext cx="3977640" cy="0"/>
          </a:xfrm>
          <a:prstGeom prst="line">
            <a:avLst/>
          </a:prstGeom>
          <a:noFill/>
          <a:ln w="12700">
            <a:solidFill>
              <a:schemeClr val="accent5"/>
            </a:solidFill>
            <a:prstDash val="solid"/>
          </a:ln>
        </p:spPr>
      </p:sp>
      <p:sp>
        <p:nvSpPr>
          <p:cNvPr id="7" name="points"/>
          <p:cNvSpPr txBox="1"/>
          <p:nvPr/>
        </p:nvSpPr>
        <p:spPr>
          <a:xfrm>
            <a:off x="457200" y="2240280"/>
            <a:ext cx="3977640" cy="210312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Cardiovascular physiology block and small groups</a:t>
            </a:r>
            <a:endParaRPr lang="en-US" sz="1400" dirty="0"/>
          </a:p>
          <a:p>
            <a:pPr marL="165100" indent="-165100">
              <a:spcAft>
                <a:spcPts val="900"/>
              </a:spcAft>
              <a:buSzPct val="100000"/>
              <a:buChar char="•"/>
            </a:pPr>
            <a:r>
              <a:rPr lang="en-US" sz="1400" dirty="0">
                <a:solidFill>
                  <a:schemeClr val="tx1"/>
                </a:solidFill>
              </a:rPr>
              <a:t>Coronary anatomy and territories</a:t>
            </a:r>
            <a:endParaRPr lang="en-US" sz="1400" dirty="0"/>
          </a:p>
          <a:p>
            <a:pPr marL="165100" indent="-165100">
              <a:spcAft>
                <a:spcPts val="900"/>
              </a:spcAft>
              <a:buSzPct val="100000"/>
              <a:buChar char="•"/>
            </a:pPr>
            <a:r>
              <a:rPr lang="en-US" sz="1400" dirty="0">
                <a:solidFill>
                  <a:schemeClr val="tx1"/>
                </a:solidFill>
              </a:rPr>
              <a:t>How a blocked artery becomes an ST change</a:t>
            </a:r>
            <a:endParaRPr lang="en-US" sz="1400" dirty="0"/>
          </a:p>
          <a:p>
            <a:pPr marL="165100" indent="-165100">
              <a:spcAft>
                <a:spcPts val="900"/>
              </a:spcAft>
              <a:buSzPct val="100000"/>
              <a:buChar char="•"/>
            </a:pPr>
            <a:r>
              <a:rPr lang="en-US" sz="1400" dirty="0">
                <a:solidFill>
                  <a:schemeClr val="tx1"/>
                </a:solidFill>
              </a:rPr>
              <a:t>Normal and abnormal rhythms</a:t>
            </a:r>
            <a:endParaRPr lang="en-US" sz="1400" dirty="0"/>
          </a:p>
        </p:txBody>
      </p:sp>
      <p:sp>
        <p:nvSpPr>
          <p:cNvPr id="8" name="Text 6"/>
          <p:cNvSpPr txBox="1"/>
          <p:nvPr/>
        </p:nvSpPr>
        <p:spPr>
          <a:xfrm>
            <a:off x="4709160" y="1280160"/>
            <a:ext cx="397764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Internal medicine residents</a:t>
            </a:r>
            <a:endParaRPr lang="en-US" sz="2000" dirty="0"/>
          </a:p>
        </p:txBody>
      </p:sp>
      <p:sp>
        <p:nvSpPr>
          <p:cNvPr id="9" name="Text 7"/>
          <p:cNvSpPr txBox="1"/>
          <p:nvPr/>
        </p:nvSpPr>
        <p:spPr>
          <a:xfrm>
            <a:off x="4709160" y="1691640"/>
            <a:ext cx="3977640" cy="274320"/>
          </a:xfrm>
          <a:prstGeom prst="rect">
            <a:avLst/>
          </a:prstGeom>
          <a:noFill/>
          <a:ln/>
        </p:spPr>
        <p:txBody>
          <a:bodyPr wrap="square" lIns="0" tIns="0" rIns="0" bIns="0" rtlCol="0" anchor="t"/>
          <a:lstStyle/>
          <a:p>
            <a:pPr indent="0" marL="0">
              <a:buNone/>
            </a:pPr>
            <a:r>
              <a:rPr lang="en-US" sz="1300" i="1" dirty="0">
                <a:solidFill>
                  <a:schemeClr val="accent4"/>
                </a:solidFill>
              </a:rPr>
              <a:t>Wards, CCU and the cardiology rotation</a:t>
            </a:r>
            <a:endParaRPr lang="en-US" sz="1300" dirty="0"/>
          </a:p>
        </p:txBody>
      </p:sp>
      <p:sp>
        <p:nvSpPr>
          <p:cNvPr id="10" name="audience rule"/>
          <p:cNvSpPr/>
          <p:nvPr/>
        </p:nvSpPr>
        <p:spPr>
          <a:xfrm>
            <a:off x="4709160" y="2103120"/>
            <a:ext cx="3977640" cy="0"/>
          </a:xfrm>
          <a:prstGeom prst="line">
            <a:avLst/>
          </a:prstGeom>
          <a:noFill/>
          <a:ln w="12700">
            <a:solidFill>
              <a:schemeClr val="accent5"/>
            </a:solidFill>
            <a:prstDash val="solid"/>
          </a:ln>
        </p:spPr>
      </p:sp>
      <p:sp>
        <p:nvSpPr>
          <p:cNvPr id="11" name="points"/>
          <p:cNvSpPr txBox="1"/>
          <p:nvPr/>
        </p:nvSpPr>
        <p:spPr>
          <a:xfrm>
            <a:off x="4709160" y="2240280"/>
            <a:ext cx="3977640" cy="2103120"/>
          </a:xfrm>
          <a:prstGeom prst="rect">
            <a:avLst/>
          </a:prstGeom>
          <a:noFill/>
          <a:ln/>
        </p:spPr>
        <p:txBody>
          <a:bodyPr wrap="square" lIns="0" tIns="0" rIns="0" bIns="0" rtlCol="0" anchor="t"/>
          <a:lstStyle/>
          <a:p>
            <a:pPr marL="165100" indent="-165100">
              <a:spcAft>
                <a:spcPts val="900"/>
              </a:spcAft>
              <a:buSzPct val="100000"/>
              <a:buChar char="•"/>
            </a:pPr>
            <a:r>
              <a:rPr lang="en-US" sz="1400" dirty="0">
                <a:solidFill>
                  <a:schemeClr val="tx1"/>
                </a:solidFill>
              </a:rPr>
              <a:t>Noon conference, ECG conference and morning report</a:t>
            </a:r>
            <a:endParaRPr lang="en-US" sz="1400" dirty="0"/>
          </a:p>
          <a:p>
            <a:pPr marL="165100" indent="-165100">
              <a:spcAft>
                <a:spcPts val="900"/>
              </a:spcAft>
              <a:buSzPct val="100000"/>
              <a:buChar char="•"/>
            </a:pPr>
            <a:r>
              <a:rPr lang="en-US" sz="1400" dirty="0">
                <a:solidFill>
                  <a:schemeClr val="tx1"/>
                </a:solidFill>
              </a:rPr>
              <a:t>Culprit localization and STEMI mimics</a:t>
            </a:r>
            <a:endParaRPr lang="en-US" sz="1400" dirty="0"/>
          </a:p>
          <a:p>
            <a:pPr marL="165100" indent="-165100">
              <a:spcAft>
                <a:spcPts val="900"/>
              </a:spcAft>
              <a:buSzPct val="100000"/>
              <a:buChar char="•"/>
            </a:pPr>
            <a:r>
              <a:rPr lang="en-US" sz="1400" dirty="0">
                <a:solidFill>
                  <a:schemeClr val="tx1"/>
                </a:solidFill>
              </a:rPr>
              <a:t>Reperfusion timing, pressors, inotropes and support devices</a:t>
            </a:r>
            <a:endParaRPr lang="en-US" sz="1400" dirty="0"/>
          </a:p>
          <a:p>
            <a:pPr marL="165100" indent="-165100">
              <a:spcAft>
                <a:spcPts val="900"/>
              </a:spcAft>
              <a:buSzPct val="100000"/>
              <a:buChar char="•"/>
            </a:pPr>
            <a:r>
              <a:rPr lang="en-US" sz="1400" dirty="0">
                <a:solidFill>
                  <a:schemeClr val="tx1"/>
                </a:solidFill>
              </a:rPr>
              <a:t>Right-ventricular infarct pitfalls</a:t>
            </a:r>
            <a:endParaRPr lang="en-US" sz="1400" dirty="0"/>
          </a:p>
        </p:txBody>
      </p:sp>
      <p:sp>
        <p:nvSpPr>
          <p:cNvPr id="12" name="audience divider"/>
          <p:cNvSpPr/>
          <p:nvPr/>
        </p:nvSpPr>
        <p:spPr>
          <a:xfrm>
            <a:off x="4407408" y="1325880"/>
            <a:ext cx="0" cy="301752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Assessment metrics and competency evaluation</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Three levels of evaluation, starting with one class</a:t>
            </a:r>
            <a:endParaRPr lang="en-US" sz="2200" dirty="0"/>
          </a:p>
        </p:txBody>
      </p:sp>
      <p:sp>
        <p:nvSpPr>
          <p:cNvPr id="4" name="level 1"/>
          <p:cNvSpPr/>
          <p:nvPr/>
        </p:nvSpPr>
        <p:spPr>
          <a:xfrm>
            <a:off x="457200" y="1280160"/>
            <a:ext cx="402336" cy="402336"/>
          </a:xfrm>
          <a:prstGeom prst="ellipse">
            <a:avLst/>
          </a:prstGeom>
          <a:solidFill>
            <a:schemeClr val="accent1"/>
          </a:solidFill>
          <a:ln/>
        </p:spPr>
      </p:sp>
      <p:sp>
        <p:nvSpPr>
          <p:cNvPr id="5" name="Text 3"/>
          <p:cNvSpPr txBox="1"/>
          <p:nvPr/>
        </p:nvSpPr>
        <p:spPr>
          <a:xfrm>
            <a:off x="457200" y="128016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6" name="Text 4"/>
          <p:cNvSpPr txBox="1"/>
          <p:nvPr/>
        </p:nvSpPr>
        <p:spPr>
          <a:xfrm>
            <a:off x="960120" y="1280160"/>
            <a:ext cx="20116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Reaction</a:t>
            </a:r>
            <a:endParaRPr lang="en-US" sz="1800" dirty="0"/>
          </a:p>
        </p:txBody>
      </p:sp>
      <p:sp>
        <p:nvSpPr>
          <p:cNvPr id="7" name="points"/>
          <p:cNvSpPr txBox="1"/>
          <p:nvPr/>
        </p:nvSpPr>
        <p:spPr>
          <a:xfrm>
            <a:off x="457200" y="1828800"/>
            <a:ext cx="2514600" cy="1463040"/>
          </a:xfrm>
          <a:prstGeom prst="rect">
            <a:avLst/>
          </a:prstGeom>
          <a:noFill/>
          <a:ln/>
        </p:spPr>
        <p:txBody>
          <a:bodyPr wrap="square" lIns="0" tIns="0" rIns="0" bIns="0" rtlCol="0" anchor="t"/>
          <a:lstStyle/>
          <a:p>
            <a:pPr marL="165100" indent="-165100">
              <a:spcAft>
                <a:spcPts val="900"/>
              </a:spcAft>
              <a:buSzPct val="100000"/>
              <a:buChar char="•"/>
            </a:pPr>
            <a:r>
              <a:rPr lang="en-US" sz="1300" dirty="0">
                <a:solidFill>
                  <a:schemeClr val="tx1"/>
                </a:solidFill>
              </a:rPr>
              <a:t>Usability (System Usability Scale)</a:t>
            </a:r>
            <a:endParaRPr lang="en-US" sz="1300" dirty="0"/>
          </a:p>
          <a:p>
            <a:pPr marL="165100" indent="-165100">
              <a:spcAft>
                <a:spcPts val="900"/>
              </a:spcAft>
              <a:buSzPct val="100000"/>
              <a:buChar char="•"/>
            </a:pPr>
            <a:r>
              <a:rPr lang="en-US" sz="1300" dirty="0">
                <a:solidFill>
                  <a:schemeClr val="tx1"/>
                </a:solidFill>
              </a:rPr>
              <a:t>Perceived realism</a:t>
            </a:r>
            <a:endParaRPr lang="en-US" sz="1300" dirty="0"/>
          </a:p>
          <a:p>
            <a:pPr marL="165100" indent="-165100">
              <a:spcAft>
                <a:spcPts val="900"/>
              </a:spcAft>
              <a:buSzPct val="100000"/>
              <a:buChar char="•"/>
            </a:pPr>
            <a:r>
              <a:rPr lang="en-US" sz="1300" dirty="0">
                <a:solidFill>
                  <a:schemeClr val="tx1"/>
                </a:solidFill>
              </a:rPr>
              <a:t>Confidence reading ECGs, before and after</a:t>
            </a:r>
            <a:endParaRPr lang="en-US" sz="1300" dirty="0"/>
          </a:p>
        </p:txBody>
      </p:sp>
      <p:sp>
        <p:nvSpPr>
          <p:cNvPr id="8" name="level 2"/>
          <p:cNvSpPr/>
          <p:nvPr/>
        </p:nvSpPr>
        <p:spPr>
          <a:xfrm>
            <a:off x="3200400" y="1280160"/>
            <a:ext cx="402336" cy="402336"/>
          </a:xfrm>
          <a:prstGeom prst="ellipse">
            <a:avLst/>
          </a:prstGeom>
          <a:solidFill>
            <a:schemeClr val="accent1"/>
          </a:solidFill>
          <a:ln/>
        </p:spPr>
      </p:sp>
      <p:sp>
        <p:nvSpPr>
          <p:cNvPr id="9" name="Text 7"/>
          <p:cNvSpPr txBox="1"/>
          <p:nvPr/>
        </p:nvSpPr>
        <p:spPr>
          <a:xfrm>
            <a:off x="3200400" y="128016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0" name="Text 8"/>
          <p:cNvSpPr txBox="1"/>
          <p:nvPr/>
        </p:nvSpPr>
        <p:spPr>
          <a:xfrm>
            <a:off x="3703320" y="1280160"/>
            <a:ext cx="20116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Learning</a:t>
            </a:r>
            <a:endParaRPr lang="en-US" sz="1800" dirty="0"/>
          </a:p>
        </p:txBody>
      </p:sp>
      <p:sp>
        <p:nvSpPr>
          <p:cNvPr id="11" name="points"/>
          <p:cNvSpPr txBox="1"/>
          <p:nvPr/>
        </p:nvSpPr>
        <p:spPr>
          <a:xfrm>
            <a:off x="3200400" y="1828800"/>
            <a:ext cx="2514600" cy="1463040"/>
          </a:xfrm>
          <a:prstGeom prst="rect">
            <a:avLst/>
          </a:prstGeom>
          <a:noFill/>
          <a:ln/>
        </p:spPr>
        <p:txBody>
          <a:bodyPr wrap="square" lIns="0" tIns="0" rIns="0" bIns="0" rtlCol="0" anchor="t"/>
          <a:lstStyle/>
          <a:p>
            <a:pPr marL="165100" indent="-165100">
              <a:spcAft>
                <a:spcPts val="900"/>
              </a:spcAft>
              <a:buSzPct val="100000"/>
              <a:buChar char="•"/>
            </a:pPr>
            <a:r>
              <a:rPr lang="en-US" sz="1300" dirty="0">
                <a:solidFill>
                  <a:schemeClr val="tx1"/>
                </a:solidFill>
              </a:rPr>
              <a:t>Pre/post test: culprit localization from 12-leads</a:t>
            </a:r>
            <a:endParaRPr lang="en-US" sz="1300" dirty="0"/>
          </a:p>
          <a:p>
            <a:pPr marL="165100" indent="-165100">
              <a:spcAft>
                <a:spcPts val="900"/>
              </a:spcAft>
              <a:buSzPct val="100000"/>
              <a:buChar char="•"/>
            </a:pPr>
            <a:r>
              <a:rPr lang="en-US" sz="1300" dirty="0">
                <a:solidFill>
                  <a:schemeClr val="tx1"/>
                </a:solidFill>
              </a:rPr>
              <a:t>Rhythm identification</a:t>
            </a:r>
            <a:endParaRPr lang="en-US" sz="1300" dirty="0"/>
          </a:p>
          <a:p>
            <a:pPr marL="165100" indent="-165100">
              <a:spcAft>
                <a:spcPts val="900"/>
              </a:spcAft>
              <a:buSzPct val="100000"/>
              <a:buChar char="•"/>
            </a:pPr>
            <a:r>
              <a:rPr lang="en-US" sz="1300" dirty="0">
                <a:solidFill>
                  <a:schemeClr val="tx1"/>
                </a:solidFill>
              </a:rPr>
              <a:t>Core cardiovascular concept questions</a:t>
            </a:r>
            <a:endParaRPr lang="en-US" sz="1300" dirty="0"/>
          </a:p>
        </p:txBody>
      </p:sp>
      <p:sp>
        <p:nvSpPr>
          <p:cNvPr id="12" name="level 3"/>
          <p:cNvSpPr/>
          <p:nvPr/>
        </p:nvSpPr>
        <p:spPr>
          <a:xfrm>
            <a:off x="5943600" y="1280160"/>
            <a:ext cx="402336" cy="402336"/>
          </a:xfrm>
          <a:prstGeom prst="ellipse">
            <a:avLst/>
          </a:prstGeom>
          <a:solidFill>
            <a:schemeClr val="accent1"/>
          </a:solidFill>
          <a:ln/>
        </p:spPr>
      </p:sp>
      <p:sp>
        <p:nvSpPr>
          <p:cNvPr id="13" name="Text 11"/>
          <p:cNvSpPr txBox="1"/>
          <p:nvPr/>
        </p:nvSpPr>
        <p:spPr>
          <a:xfrm>
            <a:off x="5943600" y="128016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4" name="Text 12"/>
          <p:cNvSpPr txBox="1"/>
          <p:nvPr/>
        </p:nvSpPr>
        <p:spPr>
          <a:xfrm>
            <a:off x="6446520" y="1280160"/>
            <a:ext cx="2011680" cy="402336"/>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Behavior</a:t>
            </a:r>
            <a:endParaRPr lang="en-US" sz="1800" dirty="0"/>
          </a:p>
        </p:txBody>
      </p:sp>
      <p:sp>
        <p:nvSpPr>
          <p:cNvPr id="15" name="points"/>
          <p:cNvSpPr txBox="1"/>
          <p:nvPr/>
        </p:nvSpPr>
        <p:spPr>
          <a:xfrm>
            <a:off x="5943600" y="1828800"/>
            <a:ext cx="2514600" cy="1463040"/>
          </a:xfrm>
          <a:prstGeom prst="rect">
            <a:avLst/>
          </a:prstGeom>
          <a:noFill/>
          <a:ln/>
        </p:spPr>
        <p:txBody>
          <a:bodyPr wrap="square" lIns="0" tIns="0" rIns="0" bIns="0" rtlCol="0" anchor="t"/>
          <a:lstStyle/>
          <a:p>
            <a:pPr marL="165100" indent="-165100">
              <a:spcAft>
                <a:spcPts val="900"/>
              </a:spcAft>
              <a:buSzPct val="100000"/>
              <a:buChar char="•"/>
            </a:pPr>
            <a:r>
              <a:rPr lang="en-US" sz="1300" dirty="0">
                <a:solidFill>
                  <a:schemeClr val="tx1"/>
                </a:solidFill>
              </a:rPr>
              <a:t>Performance across repeated daily cases</a:t>
            </a:r>
            <a:endParaRPr lang="en-US" sz="1300" dirty="0"/>
          </a:p>
          <a:p>
            <a:pPr marL="165100" indent="-165100">
              <a:spcAft>
                <a:spcPts val="900"/>
              </a:spcAft>
              <a:buSzPct val="100000"/>
              <a:buChar char="•"/>
            </a:pPr>
            <a:r>
              <a:rPr lang="en-US" sz="1300" dirty="0">
                <a:solidFill>
                  <a:schemeClr val="tx1"/>
                </a:solidFill>
              </a:rPr>
              <a:t>Location error, time to call, harm avoided</a:t>
            </a:r>
            <a:endParaRPr lang="en-US" sz="1300" dirty="0"/>
          </a:p>
          <a:p>
            <a:pPr marL="165100" indent="-165100">
              <a:spcAft>
                <a:spcPts val="900"/>
              </a:spcAft>
              <a:buSzPct val="100000"/>
              <a:buChar char="•"/>
            </a:pPr>
            <a:r>
              <a:rPr lang="en-US" sz="1300" dirty="0">
                <a:solidFill>
                  <a:schemeClr val="tx1"/>
                </a:solidFill>
              </a:rPr>
              <a:t>Course ECG and physiology exam items</a:t>
            </a:r>
            <a:endParaRPr lang="en-US" sz="1300" dirty="0"/>
          </a:p>
        </p:txBody>
      </p:sp>
      <p:sp>
        <p:nvSpPr>
          <p:cNvPr id="16" name="planned study"/>
          <p:cNvSpPr/>
          <p:nvPr/>
        </p:nvSpPr>
        <p:spPr>
          <a:xfrm>
            <a:off x="457200" y="3429000"/>
            <a:ext cx="8229600" cy="1188720"/>
          </a:xfrm>
          <a:prstGeom prst="rect">
            <a:avLst/>
          </a:prstGeom>
          <a:solidFill>
            <a:schemeClr val="bg2"/>
          </a:solidFill>
          <a:ln/>
        </p:spPr>
      </p:sp>
      <p:sp>
        <p:nvSpPr>
          <p:cNvPr id="17" name="Text 15"/>
          <p:cNvSpPr txBox="1"/>
          <p:nvPr/>
        </p:nvSpPr>
        <p:spPr>
          <a:xfrm>
            <a:off x="685800" y="3547872"/>
            <a:ext cx="2194560" cy="3200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Planned study</a:t>
            </a:r>
            <a:endParaRPr lang="en-US" sz="1600" dirty="0"/>
          </a:p>
        </p:txBody>
      </p:sp>
      <p:sp>
        <p:nvSpPr>
          <p:cNvPr id="18" name="Text 16"/>
          <p:cNvSpPr txBox="1"/>
          <p:nvPr/>
        </p:nvSpPr>
        <p:spPr>
          <a:xfrm>
            <a:off x="685800" y="3886200"/>
            <a:ext cx="2377440" cy="594360"/>
          </a:xfrm>
          <a:prstGeom prst="rect">
            <a:avLst/>
          </a:prstGeom>
          <a:noFill/>
          <a:ln/>
        </p:spPr>
        <p:txBody>
          <a:bodyPr wrap="square" lIns="0" tIns="0" rIns="0" bIns="0" rtlCol="0" anchor="t"/>
          <a:lstStyle/>
          <a:p>
            <a:pPr indent="0" marL="0">
              <a:buNone/>
            </a:pPr>
            <a:r>
              <a:rPr lang="en-US" sz="1300" b="1" dirty="0">
                <a:solidFill>
                  <a:schemeClr val="tx1"/>
                </a:solidFill>
              </a:rPr>
              <a:t>First-year medical students, RSOM Class of 2030</a:t>
            </a:r>
            <a:endParaRPr lang="en-US" sz="1300" dirty="0"/>
          </a:p>
        </p:txBody>
      </p:sp>
      <p:sp>
        <p:nvSpPr>
          <p:cNvPr id="19" name="Text 17"/>
          <p:cNvSpPr txBox="1"/>
          <p:nvPr/>
        </p:nvSpPr>
        <p:spPr>
          <a:xfrm>
            <a:off x="3246120" y="3547872"/>
            <a:ext cx="5257800" cy="987552"/>
          </a:xfrm>
          <a:prstGeom prst="rect">
            <a:avLst/>
          </a:prstGeom>
          <a:noFill/>
          <a:ln/>
        </p:spPr>
        <p:txBody>
          <a:bodyPr wrap="square" lIns="0" tIns="0" rIns="0" bIns="0" rtlCol="0" anchor="ctr"/>
          <a:lstStyle/>
          <a:p>
            <a:pPr indent="0" marL="0">
              <a:buNone/>
            </a:pPr>
            <a:r>
              <a:rPr lang="en-US" sz="1200" dirty="0">
                <a:solidFill>
                  <a:schemeClr val="tx1"/>
                </a:solidFill>
              </a:rPr>
              <a:t>CoroSim is being planned for study among first-year students in RSOM's Class of 2030, measuring reaction, learning and behavior as above. In-app data already scores each case: location error, time to call, the RV call, muscle saved against immediate PCI, time in shock and harmful actions.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Significance and seamless integration</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Why CoroSim matters in the wider training picture</a:t>
            </a:r>
            <a:endParaRPr lang="en-US" sz="2200" dirty="0"/>
          </a:p>
        </p:txBody>
      </p:sp>
      <p:sp>
        <p:nvSpPr>
          <p:cNvPr id="4" name="significance points"/>
          <p:cNvSpPr txBox="1"/>
          <p:nvPr/>
        </p:nvSpPr>
        <p:spPr>
          <a:xfrm>
            <a:off x="457200" y="1280160"/>
            <a:ext cx="8229600" cy="3383280"/>
          </a:xfrm>
          <a:prstGeom prst="rect">
            <a:avLst/>
          </a:prstGeom>
          <a:noFill/>
          <a:ln/>
        </p:spPr>
        <p:txBody>
          <a:bodyPr wrap="square" lIns="0" tIns="0" rIns="0" bIns="0" rtlCol="0" anchor="t"/>
          <a:lstStyle/>
          <a:p>
            <a:pPr marL="228600" indent="-228600">
              <a:buSzPct val="100000"/>
              <a:buChar char="•"/>
            </a:pPr>
            <a:r>
              <a:rPr lang="en-US" sz="1600" b="1" dirty="0">
                <a:solidFill>
                  <a:schemeClr val="tx1"/>
                </a:solidFill>
              </a:rPr>
              <a:t>Cause and effect, made changeable</a:t>
            </a:r>
            <a:endParaRPr lang="en-US" sz="1600" dirty="0"/>
          </a:p>
          <a:p>
            <a:pPr indent="0" marL="0">
              <a:spcAft>
                <a:spcPts val="1000"/>
              </a:spcAft>
              <a:buNone/>
            </a:pPr>
            <a:r>
              <a:rPr lang="en-US" sz="1300" dirty="0">
                <a:solidFill>
                  <a:schemeClr val="accent4"/>
                </a:solidFill>
              </a:rPr>
              <a:t>Cardiology is learned by seeing cause and effect; CoroSim makes the cause something a learner can change</a:t>
            </a:r>
            <a:endParaRPr lang="en-US" sz="1600" dirty="0"/>
          </a:p>
          <a:p>
            <a:pPr marL="228600" indent="-228600">
              <a:buSzPct val="100000"/>
              <a:buChar char="•"/>
            </a:pPr>
            <a:r>
              <a:rPr lang="en-US" sz="1600" b="1" dirty="0">
                <a:solidFill>
                  <a:schemeClr val="tx1"/>
                </a:solidFill>
              </a:rPr>
              <a:t>One model from physiology to residency</a:t>
            </a:r>
            <a:endParaRPr lang="en-US" sz="1600" dirty="0"/>
          </a:p>
          <a:p>
            <a:pPr indent="0" marL="0">
              <a:spcAft>
                <a:spcPts val="1000"/>
              </a:spcAft>
              <a:buNone/>
            </a:pPr>
            <a:r>
              <a:rPr lang="en-US" sz="1300" dirty="0">
                <a:solidFill>
                  <a:schemeClr val="accent4"/>
                </a:solidFill>
              </a:rPr>
              <a:t>The same heart runs from the first-year physiology block to the CCU, so learners build one mental model and keep it</a:t>
            </a:r>
            <a:endParaRPr lang="en-US" sz="1600" dirty="0"/>
          </a:p>
          <a:p>
            <a:pPr marL="228600" indent="-228600">
              <a:buSzPct val="100000"/>
              <a:buChar char="•"/>
            </a:pPr>
            <a:r>
              <a:rPr lang="en-US" sz="1600" b="1" dirty="0">
                <a:solidFill>
                  <a:schemeClr val="tx1"/>
                </a:solidFill>
              </a:rPr>
              <a:t>Practice of rare, high-stakes events</a:t>
            </a:r>
            <a:endParaRPr lang="en-US" sz="1600" dirty="0"/>
          </a:p>
          <a:p>
            <a:pPr indent="0" marL="0">
              <a:spcAft>
                <a:spcPts val="1000"/>
              </a:spcAft>
              <a:buNone/>
            </a:pPr>
            <a:r>
              <a:rPr lang="en-US" sz="1300" dirty="0">
                <a:solidFill>
                  <a:schemeClr val="accent4"/>
                </a:solidFill>
              </a:rPr>
              <a:t>Unlimited low-stakes repetitions of STEMI, shock and heart block, which rotations cannot guarantee</a:t>
            </a:r>
            <a:endParaRPr lang="en-US" sz="1600" dirty="0"/>
          </a:p>
          <a:p>
            <a:pPr marL="228600" indent="-228600">
              <a:buSzPct val="100000"/>
              <a:buChar char="•"/>
            </a:pPr>
            <a:r>
              <a:rPr lang="en-US" sz="1600" b="1" dirty="0">
                <a:solidFill>
                  <a:schemeClr val="tx1"/>
                </a:solidFill>
              </a:rPr>
              <a:t>Complements existing simulation</a:t>
            </a:r>
            <a:endParaRPr lang="en-US" sz="1600" dirty="0"/>
          </a:p>
          <a:p>
            <a:pPr indent="0" marL="0">
              <a:spcAft>
                <a:spcPts val="1000"/>
              </a:spcAft>
              <a:buNone/>
            </a:pPr>
            <a:r>
              <a:rPr lang="en-US" sz="1300" dirty="0">
                <a:solidFill>
                  <a:schemeClr val="accent4"/>
                </a:solidFill>
              </a:rPr>
              <a:t>Comes before mannequin and ACLS sessions, so lab time goes to hands-on skills and teamwork</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Significance and seamless integration</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Fits into the teaching that already happens</a:t>
            </a:r>
            <a:endParaRPr lang="en-US" sz="2200" dirty="0"/>
          </a:p>
        </p:txBody>
      </p:sp>
      <p:sp>
        <p:nvSpPr>
          <p:cNvPr id="4" name="Text 2"/>
          <p:cNvSpPr txBox="1"/>
          <p:nvPr/>
        </p:nvSpPr>
        <p:spPr>
          <a:xfrm>
            <a:off x="457200" y="1280160"/>
            <a:ext cx="31089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Opens anywhere</a:t>
            </a:r>
            <a:endParaRPr lang="en-US" sz="1500" dirty="0"/>
          </a:p>
        </p:txBody>
      </p:sp>
      <p:sp>
        <p:nvSpPr>
          <p:cNvPr id="5" name="Text 3"/>
          <p:cNvSpPr txBox="1"/>
          <p:nvPr/>
        </p:nvSpPr>
        <p:spPr>
          <a:xfrm>
            <a:off x="3657600" y="1280160"/>
            <a:ext cx="5029200" cy="502920"/>
          </a:xfrm>
          <a:prstGeom prst="rect">
            <a:avLst/>
          </a:prstGeom>
          <a:noFill/>
          <a:ln/>
        </p:spPr>
        <p:txBody>
          <a:bodyPr wrap="square" lIns="0" tIns="0" rIns="0" bIns="0" rtlCol="0" anchor="ctr"/>
          <a:lstStyle/>
          <a:p>
            <a:pPr indent="0" marL="0">
              <a:buNone/>
            </a:pPr>
            <a:r>
              <a:rPr lang="en-US" sz="1300" dirty="0">
                <a:solidFill>
                  <a:schemeClr val="tx1"/>
                </a:solidFill>
              </a:rPr>
              <a:t>Laptop, phone or the lecture-hall projector; no install, account or license.</a:t>
            </a:r>
            <a:endParaRPr lang="en-US" sz="1300" dirty="0"/>
          </a:p>
        </p:txBody>
      </p:sp>
      <p:sp>
        <p:nvSpPr>
          <p:cNvPr id="6" name="integration rule"/>
          <p:cNvSpPr/>
          <p:nvPr/>
        </p:nvSpPr>
        <p:spPr>
          <a:xfrm>
            <a:off x="457200" y="1819656"/>
            <a:ext cx="8229600" cy="0"/>
          </a:xfrm>
          <a:prstGeom prst="line">
            <a:avLst/>
          </a:prstGeom>
          <a:noFill/>
          <a:ln w="12700">
            <a:solidFill>
              <a:schemeClr val="accent5"/>
            </a:solidFill>
            <a:prstDash val="solid"/>
          </a:ln>
        </p:spPr>
      </p:sp>
      <p:sp>
        <p:nvSpPr>
          <p:cNvPr id="7" name="Text 5"/>
          <p:cNvSpPr txBox="1"/>
          <p:nvPr/>
        </p:nvSpPr>
        <p:spPr>
          <a:xfrm>
            <a:off x="457200" y="1883664"/>
            <a:ext cx="31089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Fits sessions already on the calendar</a:t>
            </a:r>
            <a:endParaRPr lang="en-US" sz="1500" dirty="0"/>
          </a:p>
        </p:txBody>
      </p:sp>
      <p:sp>
        <p:nvSpPr>
          <p:cNvPr id="8" name="Text 6"/>
          <p:cNvSpPr txBox="1"/>
          <p:nvPr/>
        </p:nvSpPr>
        <p:spPr>
          <a:xfrm>
            <a:off x="3657600" y="1883664"/>
            <a:ext cx="5029200" cy="502920"/>
          </a:xfrm>
          <a:prstGeom prst="rect">
            <a:avLst/>
          </a:prstGeom>
          <a:noFill/>
          <a:ln/>
        </p:spPr>
        <p:txBody>
          <a:bodyPr wrap="square" lIns="0" tIns="0" rIns="0" bIns="0" rtlCol="0" anchor="ctr"/>
          <a:lstStyle/>
          <a:p>
            <a:pPr indent="0" marL="0">
              <a:buNone/>
            </a:pPr>
            <a:r>
              <a:rPr lang="en-US" sz="1300" dirty="0">
                <a:solidFill>
                  <a:schemeClr val="tx1"/>
                </a:solidFill>
              </a:rPr>
              <a:t>Physiology small groups, flipped pre-work, clerkship ECG teaching, noon conference and morning report.</a:t>
            </a:r>
            <a:endParaRPr lang="en-US" sz="1300" dirty="0"/>
          </a:p>
        </p:txBody>
      </p:sp>
      <p:sp>
        <p:nvSpPr>
          <p:cNvPr id="9" name="integration rule"/>
          <p:cNvSpPr/>
          <p:nvPr/>
        </p:nvSpPr>
        <p:spPr>
          <a:xfrm>
            <a:off x="457200" y="2423160"/>
            <a:ext cx="8229600" cy="0"/>
          </a:xfrm>
          <a:prstGeom prst="line">
            <a:avLst/>
          </a:prstGeom>
          <a:noFill/>
          <a:ln w="12700">
            <a:solidFill>
              <a:schemeClr val="accent5"/>
            </a:solidFill>
            <a:prstDash val="solid"/>
          </a:ln>
        </p:spPr>
      </p:sp>
      <p:sp>
        <p:nvSpPr>
          <p:cNvPr id="10" name="Text 8"/>
          <p:cNvSpPr txBox="1"/>
          <p:nvPr/>
        </p:nvSpPr>
        <p:spPr>
          <a:xfrm>
            <a:off x="457200" y="2487168"/>
            <a:ext cx="31089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Faculty assign exact cases</a:t>
            </a:r>
            <a:endParaRPr lang="en-US" sz="1500" dirty="0"/>
          </a:p>
        </p:txBody>
      </p:sp>
      <p:sp>
        <p:nvSpPr>
          <p:cNvPr id="11" name="Text 9"/>
          <p:cNvSpPr txBox="1"/>
          <p:nvPr/>
        </p:nvSpPr>
        <p:spPr>
          <a:xfrm>
            <a:off x="3657600" y="2487168"/>
            <a:ext cx="5029200" cy="502920"/>
          </a:xfrm>
          <a:prstGeom prst="rect">
            <a:avLst/>
          </a:prstGeom>
          <a:noFill/>
          <a:ln/>
        </p:spPr>
        <p:txBody>
          <a:bodyPr wrap="square" lIns="0" tIns="0" rIns="0" bIns="0" rtlCol="0" anchor="ctr"/>
          <a:lstStyle/>
          <a:p>
            <a:pPr indent="0" marL="0">
              <a:buNone/>
            </a:pPr>
            <a:r>
              <a:rPr lang="en-US" sz="1300" dirty="0">
                <a:solidFill>
                  <a:schemeClr val="tx1"/>
                </a:solidFill>
              </a:rPr>
              <a:t>A link opens a set patient, tracing or cath case for a lecture, LMS module or exam.</a:t>
            </a:r>
            <a:endParaRPr lang="en-US" sz="1300" dirty="0"/>
          </a:p>
        </p:txBody>
      </p:sp>
      <p:sp>
        <p:nvSpPr>
          <p:cNvPr id="12" name="integration rule"/>
          <p:cNvSpPr/>
          <p:nvPr/>
        </p:nvSpPr>
        <p:spPr>
          <a:xfrm>
            <a:off x="457200" y="3026664"/>
            <a:ext cx="8229600" cy="0"/>
          </a:xfrm>
          <a:prstGeom prst="line">
            <a:avLst/>
          </a:prstGeom>
          <a:noFill/>
          <a:ln w="12700">
            <a:solidFill>
              <a:schemeClr val="accent5"/>
            </a:solidFill>
            <a:prstDash val="solid"/>
          </a:ln>
        </p:spPr>
      </p:sp>
      <p:sp>
        <p:nvSpPr>
          <p:cNvPr id="13" name="Text 11"/>
          <p:cNvSpPr txBox="1"/>
          <p:nvPr/>
        </p:nvSpPr>
        <p:spPr>
          <a:xfrm>
            <a:off x="457200" y="3090672"/>
            <a:ext cx="31089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An AI tutor on request</a:t>
            </a:r>
            <a:endParaRPr lang="en-US" sz="1500" dirty="0"/>
          </a:p>
        </p:txBody>
      </p:sp>
      <p:sp>
        <p:nvSpPr>
          <p:cNvPr id="14" name="Text 12"/>
          <p:cNvSpPr txBox="1"/>
          <p:nvPr/>
        </p:nvSpPr>
        <p:spPr>
          <a:xfrm>
            <a:off x="3657600" y="3090672"/>
            <a:ext cx="5029200" cy="502920"/>
          </a:xfrm>
          <a:prstGeom prst="rect">
            <a:avLst/>
          </a:prstGeom>
          <a:noFill/>
          <a:ln/>
        </p:spPr>
        <p:txBody>
          <a:bodyPr wrap="square" lIns="0" tIns="0" rIns="0" bIns="0" rtlCol="0" anchor="ctr"/>
          <a:lstStyle/>
          <a:p>
            <a:pPr indent="0" marL="0">
              <a:buNone/>
            </a:pPr>
            <a:r>
              <a:rPr lang="en-US" sz="1300" dirty="0">
                <a:solidFill>
                  <a:schemeClr val="tx1"/>
                </a:solidFill>
              </a:rPr>
              <a:t>Connect AI lets Claude or ChatGPT run Socratic rounds on the learner's own patient.</a:t>
            </a:r>
            <a:endParaRPr lang="en-US" sz="1300" dirty="0"/>
          </a:p>
        </p:txBody>
      </p:sp>
      <p:sp>
        <p:nvSpPr>
          <p:cNvPr id="15" name="integration rule"/>
          <p:cNvSpPr/>
          <p:nvPr/>
        </p:nvSpPr>
        <p:spPr>
          <a:xfrm>
            <a:off x="457200" y="3630168"/>
            <a:ext cx="8229600" cy="0"/>
          </a:xfrm>
          <a:prstGeom prst="line">
            <a:avLst/>
          </a:prstGeom>
          <a:noFill/>
          <a:ln w="12700">
            <a:solidFill>
              <a:schemeClr val="accent5"/>
            </a:solidFill>
            <a:prstDash val="solid"/>
          </a:ln>
        </p:spPr>
      </p:sp>
      <p:sp>
        <p:nvSpPr>
          <p:cNvPr id="16" name="Text 14"/>
          <p:cNvSpPr txBox="1"/>
          <p:nvPr/>
        </p:nvSpPr>
        <p:spPr>
          <a:xfrm>
            <a:off x="457200" y="3694176"/>
            <a:ext cx="31089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A daily habit</a:t>
            </a:r>
            <a:endParaRPr lang="en-US" sz="1500" dirty="0"/>
          </a:p>
        </p:txBody>
      </p:sp>
      <p:sp>
        <p:nvSpPr>
          <p:cNvPr id="17" name="Text 15"/>
          <p:cNvSpPr txBox="1"/>
          <p:nvPr/>
        </p:nvSpPr>
        <p:spPr>
          <a:xfrm>
            <a:off x="3657600" y="3694176"/>
            <a:ext cx="5029200" cy="502920"/>
          </a:xfrm>
          <a:prstGeom prst="rect">
            <a:avLst/>
          </a:prstGeom>
          <a:noFill/>
          <a:ln/>
        </p:spPr>
        <p:txBody>
          <a:bodyPr wrap="square" lIns="0" tIns="0" rIns="0" bIns="0" rtlCol="0" anchor="ctr"/>
          <a:lstStyle/>
          <a:p>
            <a:pPr indent="0" marL="0">
              <a:buNone/>
            </a:pPr>
            <a:r>
              <a:rPr lang="en-US" sz="1300" dirty="0">
                <a:solidFill>
                  <a:schemeClr val="tx1"/>
                </a:solidFill>
              </a:rPr>
              <a:t>One Find the culprit case a day. A daily ECG quiz for students held 81% participation over six weeks (Moulin 2025).</a:t>
            </a:r>
            <a:endParaRPr lang="en-US" sz="1300" dirty="0"/>
          </a:p>
        </p:txBody>
      </p:sp>
      <p:sp>
        <p:nvSpPr>
          <p:cNvPr id="18" name="Text 16"/>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000" dirty="0">
                <a:solidFill>
                  <a:schemeClr val="accent4"/>
                </a:solidFill>
              </a:rPr>
              <a:t>Open about its limits: every model constant is tagged literature-backed or assumed, more than 280 automated tests run on each change, and it is for education only. Validation against patient data is the next step.</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tippled heart" descr="CoroSim stippled heart">    </p:cNvPr>
          <p:cNvPicPr>
            <a:picLocks noChangeAspect="1"/>
          </p:cNvPicPr>
          <p:nvPr/>
        </p:nvPicPr>
        <p:blipFill>
          <a:blip r:embed="rId1"/>
          <a:stretch>
            <a:fillRect/>
          </a:stretch>
        </p:blipFill>
        <p:spPr>
          <a:xfrm>
            <a:off x="365760" y="320040"/>
            <a:ext cx="4206240" cy="4399948"/>
          </a:xfrm>
          <a:prstGeom prst="rect">
            <a:avLst/>
          </a:prstGeom>
        </p:spPr>
      </p:pic>
      <p:sp>
        <p:nvSpPr>
          <p:cNvPr id="3" name="Text 0"/>
          <p:cNvSpPr txBox="1"/>
          <p:nvPr/>
        </p:nvSpPr>
        <p:spPr>
          <a:xfrm>
            <a:off x="4846320" y="1417320"/>
            <a:ext cx="4023360" cy="64008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Time is muscle.</a:t>
            </a:r>
            <a:endParaRPr lang="en-US" sz="3000" dirty="0"/>
          </a:p>
        </p:txBody>
      </p:sp>
      <p:sp>
        <p:nvSpPr>
          <p:cNvPr id="4" name="Text 1"/>
          <p:cNvSpPr txBox="1"/>
          <p:nvPr/>
        </p:nvSpPr>
        <p:spPr>
          <a:xfrm>
            <a:off x="4846320" y="2057400"/>
            <a:ext cx="4023360" cy="64008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Practice is free.</a:t>
            </a:r>
            <a:endParaRPr lang="en-US" sz="2600" dirty="0"/>
          </a:p>
        </p:txBody>
      </p:sp>
      <p:sp>
        <p:nvSpPr>
          <p:cNvPr id="5" name="Text 2"/>
          <p:cNvSpPr txBox="1"/>
          <p:nvPr/>
        </p:nvSpPr>
        <p:spPr>
          <a:xfrm>
            <a:off x="4937760" y="3108960"/>
            <a:ext cx="3840480" cy="365760"/>
          </a:xfrm>
          <a:prstGeom prst="rect">
            <a:avLst/>
          </a:prstGeom>
          <a:noFill/>
          <a:ln/>
        </p:spPr>
        <p:txBody>
          <a:bodyPr wrap="square" lIns="0" tIns="0" rIns="0" bIns="0" rtlCol="0" anchor="t"/>
          <a:lstStyle/>
          <a:p>
            <a:pPr indent="0" marL="0">
              <a:buNone/>
            </a:pPr>
            <a:r>
              <a:rPr lang="en-US" sz="1800" dirty="0">
                <a:solidFill>
                  <a:schemeClr val="accent3"/>
                </a:solidFill>
              </a:rPr>
              <a:t>corosim.com</a:t>
            </a:r>
            <a:endParaRPr lang="en-US" sz="1800" dirty="0"/>
          </a:p>
        </p:txBody>
      </p:sp>
      <p:sp>
        <p:nvSpPr>
          <p:cNvPr id="6" name="Text 3"/>
          <p:cNvSpPr txBox="1"/>
          <p:nvPr/>
        </p:nvSpPr>
        <p:spPr>
          <a:xfrm>
            <a:off x="4937760" y="4343400"/>
            <a:ext cx="3840480" cy="274320"/>
          </a:xfrm>
          <a:prstGeom prst="rect">
            <a:avLst/>
          </a:prstGeom>
          <a:noFill/>
          <a:ln/>
        </p:spPr>
        <p:txBody>
          <a:bodyPr wrap="square" lIns="0" tIns="0" rIns="0" bIns="0" rtlCol="0" anchor="t"/>
          <a:lstStyle/>
          <a:p>
            <a:pPr indent="0" marL="0">
              <a:buNone/>
            </a:pPr>
            <a:r>
              <a:rPr lang="en-US" sz="1000" dirty="0">
                <a:solidFill>
                  <a:schemeClr val="accent4"/>
                </a:solidFill>
              </a:rPr>
              <a:t>Educational simulation; not for clinical decisions.</a:t>
            </a:r>
            <a:endParaRPr lang="en-US" sz="1000" dirty="0"/>
          </a:p>
        </p:txBody>
      </p:sp>
      <p:sp>
        <p:nvSpPr>
          <p:cNvPr id="7" name="Text 0"/>
          <p:cNvSpPr/>
          <p:nvPr>
            <p:ph idx="100" type="title" hasCustomPrompt="1"/>
          </p:nvPr>
        </p:nvSpPr>
        <p:spPr>
          <a:xfrm>
            <a:off x="457200" y="1371600"/>
            <a:ext cx="4206240" cy="914400"/>
          </a:xfrm>
          <a:prstGeom prst="rect">
            <a:avLst/>
          </a:prstGeom>
          <a:noFill/>
          <a:ln/>
        </p:spPr>
        <p:txBody>
          <a:bodyPr wrap="square" lIns="0" tIns="0" rIns="0" bIns="0" rtlCol="0" anchor="t"/>
          <a:lstStyle/>
          <a:p>
            <a:pPr algn="l" indent="0" marL="0">
              <a:buNone/>
            </a:pPr>
            <a:endParaRPr lang="en-US" sz="5400" dirty="0"/>
          </a:p>
        </p:txBody>
      </p:sp>
      <p:sp>
        <p:nvSpPr>
          <p:cNvPr id="8" name="Text 0"/>
          <p:cNvSpPr/>
          <p:nvPr>
            <p:ph idx="101" type="body" hasCustomPrompt="1"/>
          </p:nvPr>
        </p:nvSpPr>
        <p:spPr>
          <a:xfrm>
            <a:off x="457200" y="2423160"/>
            <a:ext cx="3931920" cy="10058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8229600" cy="228600"/>
          </a:xfrm>
          <a:prstGeom prst="rect">
            <a:avLst/>
          </a:prstGeom>
          <a:noFill/>
          <a:ln/>
        </p:spPr>
        <p:txBody>
          <a:bodyPr wrap="square" lIns="0" tIns="0" rIns="0" bIns="0" rtlCol="0" anchor="ctr"/>
          <a:lstStyle/>
          <a:p>
            <a:pPr algn="l" indent="0" marL="0">
              <a:buNone/>
            </a:pPr>
            <a:r>
              <a:rPr lang="en-US" sz="1100" dirty="0">
                <a:solidFill>
                  <a:schemeClr val="accent4"/>
                </a:solidFill>
              </a:rPr>
              <a:t>References</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ctr"/>
          <a:lstStyle/>
          <a:p>
            <a:pPr algn="l" indent="0" marL="0">
              <a:buNone/>
            </a:pPr>
            <a:r>
              <a:rPr lang="en-US" sz="2200" b="1" spc="-50" kern="0" dirty="0">
                <a:solidFill>
                  <a:schemeClr val="tx1"/>
                </a:solidFill>
              </a:rPr>
              <a:t>Sources</a:t>
            </a:r>
            <a:endParaRPr lang="en-US" sz="2200" dirty="0"/>
          </a:p>
        </p:txBody>
      </p:sp>
      <p:sp>
        <p:nvSpPr>
          <p:cNvPr id="4" name="Text 2"/>
          <p:cNvSpPr txBox="1"/>
          <p:nvPr/>
        </p:nvSpPr>
        <p:spPr>
          <a:xfrm>
            <a:off x="457200" y="1188720"/>
            <a:ext cx="8229600" cy="35204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000" dirty="0">
                <a:solidFill>
                  <a:schemeClr val="tx1"/>
                </a:solidFill>
              </a:rPr>
              <a:t>Chaumont C, Morgat C, Ollitrault P, et al. How to improve medical students' ECG interpretation skills? Multicenter survey and results of a comparative study evaluating a new educational approach. BMC Med Educ. 2024;24:979. doi:10.1186/s12909-024-05929-7</a:t>
            </a:r>
            <a:endParaRPr lang="en-US" sz="1000" dirty="0"/>
          </a:p>
          <a:p>
            <a:pPr marL="342900" indent="-342900">
              <a:spcAft>
                <a:spcPts val="500"/>
              </a:spcAft>
              <a:buSzPct val="100000"/>
              <a:buFont typeface="+mj-lt"/>
              <a:buAutoNum type="arabicPeriod" startAt="1"/>
            </a:pPr>
            <a:r>
              <a:rPr lang="en-US" sz="1000" dirty="0">
                <a:solidFill>
                  <a:schemeClr val="tx1"/>
                </a:solidFill>
              </a:rPr>
              <a:t>El-Baba M, McLaren J, Argintaru N. The HEARTS ECG workshop: a novel approach to resident and student ECG education. Int J Emerg Med. 2023;16:81. doi:10.1186/s12245-023-00559-0</a:t>
            </a:r>
            <a:endParaRPr lang="en-US" sz="1000" dirty="0"/>
          </a:p>
          <a:p>
            <a:pPr marL="342900" indent="-342900">
              <a:spcAft>
                <a:spcPts val="500"/>
              </a:spcAft>
              <a:buSzPct val="100000"/>
              <a:buFont typeface="+mj-lt"/>
              <a:buAutoNum type="arabicPeriod" startAt="1"/>
            </a:pPr>
            <a:r>
              <a:rPr lang="en-US" sz="1000" dirty="0">
                <a:solidFill>
                  <a:schemeClr val="tx1"/>
                </a:solidFill>
              </a:rPr>
              <a:t>Badenhorst E, Mamede S, Abrahams A, et al. What happens to misunderstandings of biomedical concepts across a medical curriculum? Adv Physiol Educ. 2021;45(3):526-537. doi:10.1152/advan.00203.2020</a:t>
            </a:r>
            <a:endParaRPr lang="en-US" sz="1000" dirty="0"/>
          </a:p>
          <a:p>
            <a:pPr marL="342900" indent="-342900">
              <a:spcAft>
                <a:spcPts val="500"/>
              </a:spcAft>
              <a:buSzPct val="100000"/>
              <a:buFont typeface="+mj-lt"/>
              <a:buAutoNum type="arabicPeriod" startAt="1"/>
            </a:pPr>
            <a:r>
              <a:rPr lang="en-US" sz="1000" dirty="0">
                <a:solidFill>
                  <a:schemeClr val="tx1"/>
                </a:solidFill>
              </a:rPr>
              <a:t>Esomonye TC, Makawi A, Azees R, et al. A burst-learning electrocardiogram curriculum for internal medicine residents. JACC Case Rep. 2026;31:108886. doi:10.1016/j.jaccas.2026.108886</a:t>
            </a:r>
            <a:endParaRPr lang="en-US" sz="1000" dirty="0"/>
          </a:p>
          <a:p>
            <a:pPr marL="342900" indent="-342900">
              <a:spcAft>
                <a:spcPts val="500"/>
              </a:spcAft>
              <a:buSzPct val="100000"/>
              <a:buFont typeface="+mj-lt"/>
              <a:buAutoNum type="arabicPeriod" startAt="1"/>
            </a:pPr>
            <a:r>
              <a:rPr lang="en-US" sz="1000" dirty="0">
                <a:solidFill>
                  <a:schemeClr val="tx1"/>
                </a:solidFill>
              </a:rPr>
              <a:t>Cardoso Pinto AM, Soussi D, Qasim S, et al. The use of animations depicting cardiac electrical activity to improve confidence in understanding of cardiac pathology and ECG traces among final-year medical students. JMIR Med Educ. 2024;10:e46507. doi:10.2196/46507</a:t>
            </a:r>
            <a:endParaRPr lang="en-US" sz="1000" dirty="0"/>
          </a:p>
          <a:p>
            <a:pPr marL="342900" indent="-342900">
              <a:spcAft>
                <a:spcPts val="500"/>
              </a:spcAft>
              <a:buSzPct val="100000"/>
              <a:buFont typeface="+mj-lt"/>
              <a:buAutoNum type="arabicPeriod" startAt="1"/>
            </a:pPr>
            <a:r>
              <a:rPr lang="en-US" sz="1000" dirty="0">
                <a:solidFill>
                  <a:schemeClr val="tx1"/>
                </a:solidFill>
              </a:rPr>
              <a:t>Moulin T, Lellouche N, Gandjbakhch E, Laredo M. Daily quiz-based microlearning program to support ECG interpretation training for medical students: a feasibility study. CJC Open. 2025;8(1):43-50. doi:10.1016/j.cjco.2025.09.009</a:t>
            </a:r>
            <a:endParaRPr lang="en-US" sz="1000" dirty="0"/>
          </a:p>
          <a:p>
            <a:pPr marL="342900" indent="-342900">
              <a:spcAft>
                <a:spcPts val="500"/>
              </a:spcAft>
              <a:buSzPct val="100000"/>
              <a:buFont typeface="+mj-lt"/>
              <a:buAutoNum type="arabicPeriod" startAt="1"/>
            </a:pPr>
            <a:r>
              <a:rPr lang="en-US" sz="1000" dirty="0">
                <a:solidFill>
                  <a:schemeClr val="tx1"/>
                </a:solidFill>
              </a:rPr>
              <a:t>Liang S, Lai R, Xu T. Evaluating the competency and confidence in ECG interpretation among residents. Adv Med Educ Pract. 2025;16:2481-2489. doi:10.2147/AMEP.S550536</a:t>
            </a:r>
            <a:endParaRPr lang="en-US" sz="1000" dirty="0"/>
          </a:p>
          <a:p>
            <a:pPr marL="342900" indent="-342900">
              <a:spcAft>
                <a:spcPts val="500"/>
              </a:spcAft>
              <a:buSzPct val="100000"/>
              <a:buFont typeface="+mj-lt"/>
              <a:buAutoNum type="arabicPeriod" startAt="1"/>
            </a:pPr>
            <a:r>
              <a:rPr lang="en-US" sz="1000" dirty="0">
                <a:solidFill>
                  <a:schemeClr val="tx1"/>
                </a:solidFill>
              </a:rPr>
              <a:t>Image credits: echo loops, I.A.C. van der Bilt, AMC (CardioNetworks ECHOpedia), CC BY-SA 3.0; cath-lab heart mesh, Rodero C, et al. PLoS Comput Biol. 2021;17(4):e1008851, CC BY 4.0.</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oroSim textbook">
  <a:themeElements>
    <a:clrScheme name="CoroSim textbook">
      <a:dk1>
        <a:srgbClr val="22201E"/>
      </a:dk1>
      <a:lt1>
        <a:srgbClr val="FFFFFF"/>
      </a:lt1>
      <a:dk2>
        <a:srgbClr val="000000"/>
      </a:dk2>
      <a:lt2>
        <a:srgbClr val="F5F3F0"/>
      </a:lt2>
      <a:accent1>
        <a:srgbClr val="B5341F"/>
      </a:accent1>
      <a:accent2>
        <a:srgbClr val="E0842A"/>
      </a:accent2>
      <a:accent3>
        <a:srgbClr val="F2C14E"/>
      </a:accent3>
      <a:accent4>
        <a:srgbClr val="6B665F"/>
      </a:accent4>
      <a:accent5>
        <a:srgbClr val="E9C9C4"/>
      </a:accent5>
      <a:accent6>
        <a:srgbClr val="8E1B12"/>
      </a:accent6>
      <a:hlink>
        <a:srgbClr val="B5341F"/>
      </a:hlink>
      <a:folHlink>
        <a:srgbClr val="8E1B12"/>
      </a:folHlink>
    </a:clrScheme>
    <a:fontScheme name="CoroSim textbook">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CoroSim: ACC Cardio Sim Creator Competition</dc:title>
  <dc:subject>PptxGenJS Presentation</dc:subject>
  <dc:creator>CoroSim</dc:creator>
  <cp:lastModifiedBy>CoroSim</cp:lastModifiedBy>
  <cp:revision>1</cp:revision>
  <dcterms:created xsi:type="dcterms:W3CDTF">2026-10-20T16:47:43Z</dcterms:created>
  <dcterms:modified xsi:type="dcterms:W3CDTF">2026-10-20T16:47:43Z</dcterms:modified>
</cp:coreProperties>
</file>